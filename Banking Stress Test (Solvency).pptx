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sldIdLst>
    <p:sldId id="2147482715" r:id="rId2"/>
    <p:sldId id="2147482716" r:id="rId3"/>
    <p:sldId id="2147482717" r:id="rId4"/>
    <p:sldId id="2147482718" r:id="rId5"/>
    <p:sldId id="2147482719" r:id="rId6"/>
    <p:sldId id="2147482720" r:id="rId7"/>
    <p:sldId id="2147482721" r:id="rId8"/>
    <p:sldId id="2147482722" r:id="rId9"/>
    <p:sldId id="2147482723" r:id="rId10"/>
    <p:sldId id="2147482724" r:id="rId11"/>
    <p:sldId id="2147482725" r:id="rId12"/>
    <p:sldId id="2147482726" r:id="rId13"/>
    <p:sldId id="2147482727" r:id="rId14"/>
    <p:sldId id="2147482728" r:id="rId15"/>
    <p:sldId id="2147482729" r:id="rId16"/>
    <p:sldId id="2147482730" r:id="rId17"/>
    <p:sldId id="2147482731" r:id="rId18"/>
    <p:sldId id="2147482732" r:id="rId19"/>
    <p:sldId id="2147482733" r:id="rId20"/>
    <p:sldId id="2147482734" r:id="rId21"/>
    <p:sldId id="2147482735" r:id="rId22"/>
    <p:sldId id="2147482736" r:id="rId23"/>
    <p:sldId id="2147482737" r:id="rId24"/>
    <p:sldId id="2147482738" r:id="rId25"/>
    <p:sldId id="2147482739" r:id="rId26"/>
    <p:sldId id="2147482740" r:id="rId27"/>
    <p:sldId id="2147482741" r:id="rId28"/>
    <p:sldId id="2147482742" r:id="rId29"/>
    <p:sldId id="2147482743" r:id="rId30"/>
    <p:sldId id="2147482744" r:id="rId31"/>
    <p:sldId id="2147482745" r:id="rId32"/>
    <p:sldId id="2147482746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A5F0A9-A2F0-4B43-9722-2042F9DD599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5EE8F-5140-E743-B68C-BA749EB3B7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66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0281931D-3DE5-CEE5-19CF-D3EBE0C99E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3999" y="908286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764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Jend. TNI (Purn)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Luhut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B.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Pandjaitan</a:t>
            </a:r>
            <a:endParaRPr lang="en-US" sz="1600" b="1">
              <a:solidFill>
                <a:schemeClr val="bg1"/>
              </a:solidFill>
              <a:latin typeface="Arial Nova" panose="020B0504020202020204" pitchFamily="34" charset="0"/>
            </a:endParaRPr>
          </a:p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Chair of the National Economic Council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9DB9D557-3373-B3AB-54A9-3224F9529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799" y="828623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636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2" y="164879"/>
            <a:ext cx="8814405" cy="6441610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FD2AA19C-6509-DF83-FCAB-F7F3EDE28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4" y="490543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55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2" y="164879"/>
            <a:ext cx="8814405" cy="6441610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CDC8AB0D-B544-EBB6-24C9-C63FFCAC8D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4" y="469760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998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A9CBE551-98BB-BF1B-5947-B898FDA8C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793" y="224100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066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B47411E4-DE06-5A3B-3C0D-1AEEBCB53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93" y="189900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02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75000"/>
                  </a:schemeClr>
                </a:solidFill>
                <a:latin typeface="Arial Nova" panose="020B0504020202020204" pitchFamily="34" charset="0"/>
              </a:rPr>
              <a:t>TERIMA KASIH</a:t>
            </a:r>
          </a:p>
        </p:txBody>
      </p:sp>
      <p:pic>
        <p:nvPicPr>
          <p:cNvPr id="5" name="Picture 4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30E29769-C478-F59E-8968-9D5400DFF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723" y="908287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303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75000"/>
                  </a:schemeClr>
                </a:solidFill>
                <a:latin typeface="Arial Nova" panose="020B0504020202020204" pitchFamily="34" charset="0"/>
              </a:rPr>
              <a:t>THANK YOU</a:t>
            </a:r>
          </a:p>
        </p:txBody>
      </p:sp>
      <p:pic>
        <p:nvPicPr>
          <p:cNvPr id="5" name="Picture 4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02D7CE29-7999-CB50-102B-995008068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8523" y="775777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280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General (Ret.)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Luhut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B.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Pandjaitan</a:t>
            </a:r>
            <a:endParaRPr lang="en-US" sz="1600" b="1">
              <a:solidFill>
                <a:schemeClr val="bg1"/>
              </a:solidFill>
              <a:latin typeface="Arial Nova" panose="020B0504020202020204" pitchFamily="34" charset="0"/>
            </a:endParaRPr>
          </a:p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Chairman of the National Economic Council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14E31C-57C8-D551-A268-F7DA56978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340" y="919925"/>
            <a:ext cx="827327" cy="827327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82348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ub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2" y="164879"/>
            <a:ext cx="8814405" cy="6441610"/>
          </a:xfrm>
          <a:prstGeom prst="rect">
            <a:avLst/>
          </a:prstGeom>
        </p:spPr>
      </p:pic>
      <p:pic>
        <p:nvPicPr>
          <p:cNvPr id="8" name="Picture 7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0C1BE271-79CB-66D1-5841-930ADB4B1C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4" y="480468"/>
            <a:ext cx="932765" cy="932765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8610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4AC5AEFB-B85E-E2E4-A0E4-13A4A8237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793" y="224100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7847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losing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75000"/>
                  </a:schemeClr>
                </a:solidFill>
                <a:latin typeface="Arial Nova" panose="020B0504020202020204" pitchFamily="34" charset="0"/>
              </a:rPr>
              <a:t>THANK YOU</a:t>
            </a:r>
          </a:p>
        </p:txBody>
      </p:sp>
      <p:pic>
        <p:nvPicPr>
          <p:cNvPr id="7" name="Picture 6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50DCDCFF-84DC-BC15-F045-FEB42C345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3999" y="831254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965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ontent (Blan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rgbClr val="004D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6" y="339868"/>
            <a:ext cx="10440000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rgbClr val="004D25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rgbClr val="004D25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13" name="Picture 2" descr="green-green Color Palette">
            <a:extLst>
              <a:ext uri="{FF2B5EF4-FFF2-40B4-BE49-F238E27FC236}">
                <a16:creationId xmlns:a16="http://schemas.microsoft.com/office/drawing/2014/main" id="{3C463DAF-48BF-4A94-B2C8-C67E288A80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25240" y="4145"/>
            <a:ext cx="1451531" cy="2397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alitra on Twitter | Green color pallete, Green palette, Green colour  palette">
            <a:extLst>
              <a:ext uri="{FF2B5EF4-FFF2-40B4-BE49-F238E27FC236}">
                <a16:creationId xmlns:a16="http://schemas.microsoft.com/office/drawing/2014/main" id="{F7DFD0EB-FDFA-4553-9D6C-A573C5CF3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25240" y="2405182"/>
            <a:ext cx="1451531" cy="2400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D8293D4-9FFF-44B4-A118-CA52867107CE}"/>
              </a:ext>
            </a:extLst>
          </p:cNvPr>
          <p:cNvGrpSpPr/>
          <p:nvPr/>
        </p:nvGrpSpPr>
        <p:grpSpPr>
          <a:xfrm rot="5400000">
            <a:off x="10427562" y="1910941"/>
            <a:ext cx="4330700" cy="508817"/>
            <a:chOff x="-1047750" y="1733550"/>
            <a:chExt cx="4330700" cy="16954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5202A99-D516-47F9-B6F8-8904D0CDC552}"/>
                </a:ext>
              </a:extLst>
            </p:cNvPr>
            <p:cNvSpPr/>
            <p:nvPr/>
          </p:nvSpPr>
          <p:spPr>
            <a:xfrm>
              <a:off x="-1047750" y="1733550"/>
              <a:ext cx="514350" cy="1695450"/>
            </a:xfrm>
            <a:prstGeom prst="rect">
              <a:avLst/>
            </a:prstGeom>
            <a:solidFill>
              <a:srgbClr val="53676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C96E9C4-D1E5-410D-9B86-CF8CF88091C2}"/>
                </a:ext>
              </a:extLst>
            </p:cNvPr>
            <p:cNvSpPr/>
            <p:nvPr/>
          </p:nvSpPr>
          <p:spPr>
            <a:xfrm>
              <a:off x="383382" y="1733550"/>
              <a:ext cx="514350" cy="1695450"/>
            </a:xfrm>
            <a:prstGeom prst="rect">
              <a:avLst/>
            </a:prstGeom>
            <a:solidFill>
              <a:srgbClr val="A28F7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288B7E2-3352-4790-A608-69C7707BCF1A}"/>
                </a:ext>
              </a:extLst>
            </p:cNvPr>
            <p:cNvSpPr/>
            <p:nvPr/>
          </p:nvSpPr>
          <p:spPr>
            <a:xfrm>
              <a:off x="1814514" y="1733550"/>
              <a:ext cx="514350" cy="1695450"/>
            </a:xfrm>
            <a:prstGeom prst="rect">
              <a:avLst/>
            </a:prstGeom>
            <a:solidFill>
              <a:srgbClr val="8786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DD1628A-37C7-453B-BDB8-4A7C1AC4CD4C}"/>
                </a:ext>
              </a:extLst>
            </p:cNvPr>
            <p:cNvSpPr/>
            <p:nvPr/>
          </p:nvSpPr>
          <p:spPr>
            <a:xfrm>
              <a:off x="-570706" y="1733550"/>
              <a:ext cx="514350" cy="1695450"/>
            </a:xfrm>
            <a:prstGeom prst="rect">
              <a:avLst/>
            </a:prstGeom>
            <a:solidFill>
              <a:srgbClr val="069B8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6F6EB5B-76B1-495A-AB22-2BEBAE926796}"/>
                </a:ext>
              </a:extLst>
            </p:cNvPr>
            <p:cNvSpPr/>
            <p:nvPr/>
          </p:nvSpPr>
          <p:spPr>
            <a:xfrm>
              <a:off x="860426" y="1733550"/>
              <a:ext cx="514350" cy="1695450"/>
            </a:xfrm>
            <a:prstGeom prst="rect">
              <a:avLst/>
            </a:prstGeom>
            <a:solidFill>
              <a:srgbClr val="ADA75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054F186-6BF3-4FC9-964A-EF8C1D91C862}"/>
                </a:ext>
              </a:extLst>
            </p:cNvPr>
            <p:cNvSpPr/>
            <p:nvPr/>
          </p:nvSpPr>
          <p:spPr>
            <a:xfrm>
              <a:off x="2291558" y="1733550"/>
              <a:ext cx="514350" cy="1695450"/>
            </a:xfrm>
            <a:prstGeom prst="rect">
              <a:avLst/>
            </a:prstGeom>
            <a:solidFill>
              <a:srgbClr val="6D5A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8E412FC-6188-4284-A98D-2D59FC5AFA7D}"/>
                </a:ext>
              </a:extLst>
            </p:cNvPr>
            <p:cNvSpPr/>
            <p:nvPr/>
          </p:nvSpPr>
          <p:spPr>
            <a:xfrm>
              <a:off x="-93662" y="1733550"/>
              <a:ext cx="514350" cy="1695450"/>
            </a:xfrm>
            <a:prstGeom prst="rect">
              <a:avLst/>
            </a:prstGeom>
            <a:solidFill>
              <a:srgbClr val="004D2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664F913-3169-4F15-B447-A0CFCB57A6CD}"/>
                </a:ext>
              </a:extLst>
            </p:cNvPr>
            <p:cNvSpPr/>
            <p:nvPr/>
          </p:nvSpPr>
          <p:spPr>
            <a:xfrm>
              <a:off x="1337470" y="1733550"/>
              <a:ext cx="514350" cy="1695450"/>
            </a:xfrm>
            <a:prstGeom prst="rect">
              <a:avLst/>
            </a:prstGeom>
            <a:solidFill>
              <a:srgbClr val="E8CF8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AAEC2D0-6995-47E6-AC0F-0BAC543CAAB3}"/>
                </a:ext>
              </a:extLst>
            </p:cNvPr>
            <p:cNvSpPr/>
            <p:nvPr/>
          </p:nvSpPr>
          <p:spPr>
            <a:xfrm>
              <a:off x="2768600" y="1733550"/>
              <a:ext cx="514350" cy="1695450"/>
            </a:xfrm>
            <a:prstGeom prst="rect">
              <a:avLst/>
            </a:prstGeom>
            <a:solidFill>
              <a:srgbClr val="E24B6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</p:grpSp>
      <p:pic>
        <p:nvPicPr>
          <p:cNvPr id="2" name="Google Shape;3109;p3">
            <a:extLst>
              <a:ext uri="{FF2B5EF4-FFF2-40B4-BE49-F238E27FC236}">
                <a16:creationId xmlns:a16="http://schemas.microsoft.com/office/drawing/2014/main" id="{9C4F64E8-2544-80FF-F309-F9B43DA7E8C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75010" y="263704"/>
            <a:ext cx="744467" cy="7444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823884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pic>
        <p:nvPicPr>
          <p:cNvPr id="8" name="Picture 7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0C1BE271-79CB-66D1-5841-930ADB4B1C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617" y="861857"/>
            <a:ext cx="932765" cy="9327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Jend. TNI (Purn)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Luhut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B.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Pandjaitan</a:t>
            </a:r>
            <a:endParaRPr lang="en-US" sz="1600" b="1">
              <a:solidFill>
                <a:schemeClr val="bg1"/>
              </a:solidFill>
              <a:latin typeface="Arial Nova" panose="020B0504020202020204" pitchFamily="34" charset="0"/>
            </a:endParaRPr>
          </a:p>
          <a:p>
            <a:pPr lvl="0" algn="ctr"/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Ketua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Dewan Ekonomi Nasional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9917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Jend. TNI (Purn)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Luhut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B.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Pandjaitan</a:t>
            </a:r>
            <a:endParaRPr lang="en-US" sz="1600" b="1">
              <a:solidFill>
                <a:schemeClr val="bg1"/>
              </a:solidFill>
              <a:latin typeface="Arial Nova" panose="020B0504020202020204" pitchFamily="34" charset="0"/>
            </a:endParaRPr>
          </a:p>
          <a:p>
            <a:pPr lvl="0" algn="ctr"/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Ketua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Dewan Ekonomi Nasional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0281931D-3DE5-CEE5-19CF-D3EBE0C99E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3999" y="908286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786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_DEN_Tim EKonomi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Tim Ekonomi</a:t>
            </a:r>
            <a:b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</a:b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Dewan Ekonomi Nasional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0281931D-3DE5-CEE5-19CF-D3EBE0C99E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3999" y="908286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154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DEN_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2868567" y="4256313"/>
            <a:ext cx="64548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Sekretaris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Eksekutif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/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Anggota</a:t>
            </a:r>
            <a:b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</a:b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Dewan Ekonomi Nasional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0281931D-3DE5-CEE5-19CF-D3EBE0C99E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3999" y="908286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733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Jend. TNI (Purn)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Luhut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B.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Pandjaitan</a:t>
            </a:r>
            <a:endParaRPr lang="en-US" sz="1600" b="1">
              <a:solidFill>
                <a:schemeClr val="bg1"/>
              </a:solidFill>
              <a:latin typeface="Arial Nova" panose="020B0504020202020204" pitchFamily="34" charset="0"/>
            </a:endParaRPr>
          </a:p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Chair of the National Economic Council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9DB9D557-3373-B3AB-54A9-3224F95295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29799" y="828623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65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Economic Assessment Team</a:t>
            </a:r>
            <a:b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</a:b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National Economic Council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9DB9D557-3373-B3AB-54A9-3224F95295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29799" y="828623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030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ub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2" y="164879"/>
            <a:ext cx="8814405" cy="6441610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FD2AA19C-6509-DF83-FCAB-F7F3EDE28B3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1584" y="490543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846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2" y="164879"/>
            <a:ext cx="8814405" cy="6441610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CDC8AB0D-B544-EBB6-24C9-C63FFCAC8DC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1584" y="469760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629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A9CBE551-98BB-BF1B-5947-B898FDA8C0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01793" y="224100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9335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B47411E4-DE06-5A3B-3C0D-1AEEBCB53B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7593" y="189900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5202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losing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 userDrawn="1"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 userDrawn="1"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75000"/>
                  </a:schemeClr>
                </a:solidFill>
                <a:latin typeface="Arial Nova" panose="020B0504020202020204" pitchFamily="34" charset="0"/>
              </a:rPr>
              <a:t>TERIMA KASIH</a:t>
            </a:r>
          </a:p>
        </p:txBody>
      </p:sp>
      <p:pic>
        <p:nvPicPr>
          <p:cNvPr id="5" name="Picture 4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30E29769-C478-F59E-8968-9D5400DFFF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22723" y="908287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807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losing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 userDrawn="1"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 userDrawn="1"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75000"/>
                  </a:schemeClr>
                </a:solidFill>
                <a:latin typeface="Arial Nova" panose="020B0504020202020204" pitchFamily="34" charset="0"/>
              </a:rPr>
              <a:t>THANK YOU</a:t>
            </a:r>
          </a:p>
        </p:txBody>
      </p:sp>
      <p:pic>
        <p:nvPicPr>
          <p:cNvPr id="5" name="Picture 4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02D7CE29-7999-CB50-102B-99500806807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688523" y="775777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591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_Garu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9D7D42D8-047F-A9F8-8F06-04BEA6C2FA0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582389" y="836134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78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_Garu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07707" y="624850"/>
            <a:ext cx="8814405" cy="6441610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DAF5E05D-2BA8-05CF-7B78-67751F7A4F6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1584" y="684071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296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t_Marv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D18EAC92-4BBB-90DF-C2B3-2CA051E528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01793" y="224100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00373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Garu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 userDrawn="1"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 userDrawn="1"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50000"/>
                  </a:schemeClr>
                </a:solidFill>
                <a:latin typeface="Arial Nova" panose="020B0504020202020204" pitchFamily="34" charset="0"/>
              </a:rPr>
              <a:t>TERIMA KASIH</a:t>
            </a:r>
          </a:p>
        </p:txBody>
      </p:sp>
      <p:pic>
        <p:nvPicPr>
          <p:cNvPr id="5" name="Picture 4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828A12D5-3800-1FCD-DDD3-9C6A6B8707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663999" y="831254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998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_DEN_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2868567" y="4256313"/>
            <a:ext cx="64548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Direktorat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Eksekutif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Bidang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Strategi dan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Kebijakan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Ekonomi  </a:t>
            </a:r>
            <a:b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</a:b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Dewan Ekonomi Nasional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0281931D-3DE5-CEE5-19CF-D3EBE0C99E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3999" y="908286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779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54D562-F104-47E4-9811-644E23B2E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36BFE-8D25-0AAE-1D35-79914737B8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F5AD6-F3EF-7F41-FF35-C5B5E0DCD7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D"/>
              <a:t>20 Oktober 2022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9A3C6-23C9-93EE-A339-9E8646133A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4A5AB-40AF-8CF3-582C-EC9451C88C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A242A-DC7A-4F17-BDA9-7A721769C48A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18053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D2DCC-E1A6-8F28-EE4F-94315200B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2600">
                <a:solidFill>
                  <a:srgbClr val="FFFFFF"/>
                </a:solidFill>
              </a:rPr>
              <a:t>Stress Test Solvabilitas Perbankan</a:t>
            </a:r>
            <a:br>
              <a:rPr lang="id-ID" sz="2600">
                <a:solidFill>
                  <a:srgbClr val="FFFFFF"/>
                </a:solidFill>
              </a:rPr>
            </a:br>
            <a:r>
              <a:rPr lang="id-ID" sz="2600">
                <a:solidFill>
                  <a:srgbClr val="FFFFFF"/>
                </a:solidFill>
              </a:rPr>
              <a:t>Kerangka, Asumsi, Model, dan Hasil</a:t>
            </a:r>
            <a:endParaRPr lang="id-ID" sz="26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4B5D71-861B-89D2-BFAC-5CCE6765DA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/>
              <a:t>45 bank listed  |  Data s.d. 2026Q2  |  Oktober 2026</a:t>
            </a:r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16918018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7C3AE-9C2B-F42A-3990-41BC02B5C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Ringkasan eksekutif</a:t>
            </a:r>
            <a:endParaRPr lang="id-ID" sz="2000" dirty="0"/>
          </a:p>
        </p:txBody>
      </p:sp>
      <p:cxnSp>
        <p:nvCxnSpPr>
          <p:cNvPr id="200" name="Line 201"/>
          <p:cNvCxnSpPr/>
          <p:nvPr/>
        </p:nvCxnSpPr>
        <p:spPr>
          <a:xfrm>
            <a:off x="558800" y="12446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1" name="Text 202"/>
          <p:cNvSpPr txBox="1"/>
          <p:nvPr/>
        </p:nvSpPr>
        <p:spPr>
          <a:xfrm>
            <a:off x="558800" y="13462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202" name="Text 203"/>
          <p:cNvSpPr txBox="1"/>
          <p:nvPr/>
        </p:nvSpPr>
        <p:spPr>
          <a:xfrm>
            <a:off x="1371600" y="13716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Industri tetap solid di semua skenario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CAR industri turun dari 22,5% ke 21,0% di Adverse 2, jauh di atas batas 8%; laba 4 kuartal masih menyerap seluruh kerugian.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3" name="Line 204"/>
          <p:cNvCxnSpPr/>
          <p:nvPr/>
        </p:nvCxnSpPr>
        <p:spPr>
          <a:xfrm>
            <a:off x="558800" y="22352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4" name="Text 205"/>
          <p:cNvSpPr txBox="1"/>
          <p:nvPr/>
        </p:nvSpPr>
        <p:spPr>
          <a:xfrm>
            <a:off x="558800" y="23368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205" name="Text 206"/>
          <p:cNvSpPr txBox="1"/>
          <p:nvPr/>
        </p:nvSpPr>
        <p:spPr>
          <a:xfrm>
            <a:off x="1371600" y="23622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Tekanan terbesar datang dari risiko kredit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Credit loss Adverse 2 setara 13,6% modal (80% dari total kerugian); NPL naik dari 2,1% ke 3,1%.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6" name="Line 207"/>
          <p:cNvCxnSpPr/>
          <p:nvPr/>
        </p:nvCxnSpPr>
        <p:spPr>
          <a:xfrm>
            <a:off x="558800" y="32258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7" name="Text 208"/>
          <p:cNvSpPr txBox="1"/>
          <p:nvPr/>
        </p:nvSpPr>
        <p:spPr>
          <a:xfrm>
            <a:off x="558800" y="33274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208" name="Text 209"/>
          <p:cNvSpPr txBox="1"/>
          <p:nvPr/>
        </p:nvSpPr>
        <p:spPr>
          <a:xfrm>
            <a:off x="1371600" y="33528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Dua bank kecil gagal di Adverse 2, keduanya karena kerugian surat berharga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BINA dan BCIC (KBMI 1) turun di bawah 8%; porsi surat berharga 6–7 kali modal, perlu diverifikasi ke laporan keuangan.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9" name="Line 210"/>
          <p:cNvCxnSpPr/>
          <p:nvPr/>
        </p:nvCxnSpPr>
        <p:spPr>
          <a:xfrm>
            <a:off x="558800" y="42164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0" name="Text 211"/>
          <p:cNvSpPr txBox="1"/>
          <p:nvPr/>
        </p:nvSpPr>
        <p:spPr>
          <a:xfrm>
            <a:off x="558800" y="43180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211" name="Text 212"/>
          <p:cNvSpPr txBox="1"/>
          <p:nvPr/>
        </p:nvSpPr>
        <p:spPr>
          <a:xfrm>
            <a:off x="1371600" y="43434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Himbara lebih tahan meski CAR awalnya lebih rendah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CAR Himbara turun 0,8 pp (19,4% ke 18,7%) vs Non-Himbara 2,5 pp (26,8% ke 24,3%); KBMI 2 paling tertekan (CAR 16,2%).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12" name="Line 213"/>
          <p:cNvCxnSpPr/>
          <p:nvPr/>
        </p:nvCxnSpPr>
        <p:spPr>
          <a:xfrm>
            <a:off x="558800" y="52070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3" name="Text 214"/>
          <p:cNvSpPr/>
          <p:nvPr/>
        </p:nvSpPr>
        <p:spPr>
          <a:xfrm>
            <a:off x="558800" y="5384800"/>
            <a:ext cx="11074400" cy="508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52400" tIns="45720" rIns="15240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Catatan:</a:t>
            </a:r>
            <a:r>
              <a:rPr lang="id-ID" sz="1300">
                <a:solidFill>
                  <a:srgbClr val="000000"/>
                </a:solidFill>
                <a:latin typeface="Arial"/>
                <a:cs typeface="Arial"/>
              </a:rPr>
              <a:t> hasil bergantung pada dua asumsi judgment, yaitu overlay provisi (k_stress) dan elastisitas harga properti (e_prop); keduanya ditampilkan di bagian asumsi.</a:t>
            </a:r>
            <a:endParaRPr lang="id-ID" sz="13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12956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88776-FE72-99F1-E859-6338F7E04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Agenda</a:t>
            </a:r>
            <a:endParaRPr lang="id-ID" sz="2000" dirty="0"/>
          </a:p>
        </p:txBody>
      </p:sp>
      <p:cxnSp>
        <p:nvCxnSpPr>
          <p:cNvPr id="200" name="Line 201"/>
          <p:cNvCxnSpPr/>
          <p:nvPr/>
        </p:nvCxnSpPr>
        <p:spPr>
          <a:xfrm>
            <a:off x="558800" y="2159000"/>
            <a:ext cx="2052320" cy="0"/>
          </a:xfrm>
          <a:prstGeom prst="line">
            <a:avLst/>
          </a:prstGeom>
          <a:ln w="31750">
            <a:solidFill>
              <a:srgbClr val="A5644E"/>
            </a:solidFill>
          </a:ln>
        </p:spPr>
      </p:cxnSp>
      <p:sp>
        <p:nvSpPr>
          <p:cNvPr id="201" name="Text 202"/>
          <p:cNvSpPr txBox="1"/>
          <p:nvPr/>
        </p:nvSpPr>
        <p:spPr>
          <a:xfrm>
            <a:off x="558800" y="2311400"/>
            <a:ext cx="205232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3600" b="1">
                <a:latin typeface="Arial"/>
                <a:cs typeface="Arial"/>
              </a:rPr>
              <a:t>01</a:t>
            </a:r>
            <a:endParaRPr lang="id-ID" sz="3600" b="1" dirty="0">
              <a:latin typeface="Arial"/>
              <a:cs typeface="Arial"/>
            </a:endParaRPr>
          </a:p>
        </p:txBody>
      </p:sp>
      <p:sp>
        <p:nvSpPr>
          <p:cNvPr id="202" name="Text 203"/>
          <p:cNvSpPr txBox="1"/>
          <p:nvPr/>
        </p:nvSpPr>
        <p:spPr>
          <a:xfrm>
            <a:off x="558800" y="3175000"/>
            <a:ext cx="205232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600" b="1">
                <a:solidFill>
                  <a:srgbClr val="000000"/>
                </a:solidFill>
                <a:latin typeface="Arial"/>
                <a:cs typeface="Arial"/>
              </a:rPr>
              <a:t>Kerangka stress test</a:t>
            </a:r>
            <a:endParaRPr lang="id-ID" sz="16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03" name="Text 204"/>
          <p:cNvSpPr txBox="1"/>
          <p:nvPr/>
        </p:nvSpPr>
        <p:spPr>
          <a:xfrm>
            <a:off x="558800" y="3962400"/>
            <a:ext cx="205232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1400" b="0">
                <a:solidFill>
                  <a:srgbClr val="262626"/>
                </a:solidFill>
                <a:latin typeface="Arial"/>
                <a:cs typeface="Arial"/>
              </a:rPr>
              <a:t>Alur dari skenario makro ke laba, modal, dan CAR</a:t>
            </a:r>
            <a:endParaRPr lang="id-ID" sz="1400" b="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4" name="Line 205"/>
          <p:cNvCxnSpPr/>
          <p:nvPr/>
        </p:nvCxnSpPr>
        <p:spPr>
          <a:xfrm>
            <a:off x="2814320" y="2159000"/>
            <a:ext cx="2052320" cy="0"/>
          </a:xfrm>
          <a:prstGeom prst="line">
            <a:avLst/>
          </a:prstGeom>
          <a:ln w="31750">
            <a:solidFill>
              <a:srgbClr val="A5644E"/>
            </a:solidFill>
          </a:ln>
        </p:spPr>
      </p:cxnSp>
      <p:sp>
        <p:nvSpPr>
          <p:cNvPr id="205" name="Text 206"/>
          <p:cNvSpPr txBox="1"/>
          <p:nvPr/>
        </p:nvSpPr>
        <p:spPr>
          <a:xfrm>
            <a:off x="2814320" y="2311400"/>
            <a:ext cx="205232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3600" b="1">
                <a:latin typeface="Arial"/>
                <a:cs typeface="Arial"/>
              </a:rPr>
              <a:t>02</a:t>
            </a:r>
            <a:endParaRPr lang="id-ID" sz="3600" b="1" dirty="0">
              <a:latin typeface="Arial"/>
              <a:cs typeface="Arial"/>
            </a:endParaRPr>
          </a:p>
        </p:txBody>
      </p:sp>
      <p:sp>
        <p:nvSpPr>
          <p:cNvPr id="206" name="Text 207"/>
          <p:cNvSpPr txBox="1"/>
          <p:nvPr/>
        </p:nvSpPr>
        <p:spPr>
          <a:xfrm>
            <a:off x="2814320" y="3175000"/>
            <a:ext cx="205232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600" b="1">
                <a:solidFill>
                  <a:srgbClr val="000000"/>
                </a:solidFill>
                <a:latin typeface="Arial"/>
                <a:cs typeface="Arial"/>
              </a:rPr>
              <a:t>Asumsi</a:t>
            </a:r>
            <a:endParaRPr lang="id-ID" sz="16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07" name="Text 208"/>
          <p:cNvSpPr txBox="1"/>
          <p:nvPr/>
        </p:nvSpPr>
        <p:spPr>
          <a:xfrm>
            <a:off x="2814320" y="3962400"/>
            <a:ext cx="205232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id-ID" sz="1400" b="0">
                <a:solidFill>
                  <a:srgbClr val="262626"/>
                </a:solidFill>
                <a:latin typeface="Arial"/>
                <a:cs typeface="Arial"/>
              </a:rPr>
              <a:t>Skenario makro, sumber data, dan parameter</a:t>
            </a:r>
            <a:endParaRPr lang="id-ID" sz="1400" b="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8" name="Line 209"/>
          <p:cNvCxnSpPr/>
          <p:nvPr/>
        </p:nvCxnSpPr>
        <p:spPr>
          <a:xfrm>
            <a:off x="5069840" y="2159000"/>
            <a:ext cx="2052320" cy="0"/>
          </a:xfrm>
          <a:prstGeom prst="line">
            <a:avLst/>
          </a:prstGeom>
          <a:ln w="31750">
            <a:solidFill>
              <a:srgbClr val="A5644E"/>
            </a:solidFill>
          </a:ln>
        </p:spPr>
      </p:cxnSp>
      <p:sp>
        <p:nvSpPr>
          <p:cNvPr id="209" name="Text 210"/>
          <p:cNvSpPr txBox="1"/>
          <p:nvPr/>
        </p:nvSpPr>
        <p:spPr>
          <a:xfrm>
            <a:off x="5069840" y="2311400"/>
            <a:ext cx="205232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3600" b="1">
                <a:latin typeface="Arial"/>
                <a:cs typeface="Arial"/>
              </a:rPr>
              <a:t>03</a:t>
            </a:r>
            <a:endParaRPr lang="id-ID" sz="3600" b="1" dirty="0">
              <a:latin typeface="Arial"/>
              <a:cs typeface="Arial"/>
            </a:endParaRPr>
          </a:p>
        </p:txBody>
      </p:sp>
      <p:sp>
        <p:nvSpPr>
          <p:cNvPr id="210" name="Text 211"/>
          <p:cNvSpPr txBox="1"/>
          <p:nvPr/>
        </p:nvSpPr>
        <p:spPr>
          <a:xfrm>
            <a:off x="5069840" y="3175000"/>
            <a:ext cx="205232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600" b="1">
                <a:solidFill>
                  <a:srgbClr val="000000"/>
                </a:solidFill>
                <a:latin typeface="Arial"/>
                <a:cs typeface="Arial"/>
              </a:rPr>
              <a:t>Satellite model</a:t>
            </a:r>
            <a:endParaRPr lang="id-ID" sz="16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11" name="Text 212"/>
          <p:cNvSpPr txBox="1"/>
          <p:nvPr/>
        </p:nvSpPr>
        <p:spPr>
          <a:xfrm>
            <a:off x="5069840" y="3962400"/>
            <a:ext cx="205232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it-IT" sz="1400" b="0">
                <a:solidFill>
                  <a:srgbClr val="262626"/>
                </a:solidFill>
                <a:latin typeface="Arial"/>
                <a:cs typeface="Arial"/>
              </a:rPr>
              <a:t>Model NPL dan provisi beserta prediktornya</a:t>
            </a:r>
            <a:endParaRPr lang="id-ID" sz="1400" b="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12" name="Line 213"/>
          <p:cNvCxnSpPr/>
          <p:nvPr/>
        </p:nvCxnSpPr>
        <p:spPr>
          <a:xfrm>
            <a:off x="7325360" y="2159000"/>
            <a:ext cx="2052320" cy="0"/>
          </a:xfrm>
          <a:prstGeom prst="line">
            <a:avLst/>
          </a:prstGeom>
          <a:ln w="31750">
            <a:solidFill>
              <a:srgbClr val="A5644E"/>
            </a:solidFill>
          </a:ln>
        </p:spPr>
      </p:cxnSp>
      <p:sp>
        <p:nvSpPr>
          <p:cNvPr id="213" name="Text 214"/>
          <p:cNvSpPr txBox="1"/>
          <p:nvPr/>
        </p:nvSpPr>
        <p:spPr>
          <a:xfrm>
            <a:off x="7325360" y="2311400"/>
            <a:ext cx="205232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3600" b="1">
                <a:latin typeface="Arial"/>
                <a:cs typeface="Arial"/>
              </a:rPr>
              <a:t>04</a:t>
            </a:r>
            <a:endParaRPr lang="id-ID" sz="3600" b="1" dirty="0">
              <a:latin typeface="Arial"/>
              <a:cs typeface="Arial"/>
            </a:endParaRPr>
          </a:p>
        </p:txBody>
      </p:sp>
      <p:sp>
        <p:nvSpPr>
          <p:cNvPr id="214" name="Text 215"/>
          <p:cNvSpPr txBox="1"/>
          <p:nvPr/>
        </p:nvSpPr>
        <p:spPr>
          <a:xfrm>
            <a:off x="7325360" y="3175000"/>
            <a:ext cx="205232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600" b="1">
                <a:solidFill>
                  <a:srgbClr val="000000"/>
                </a:solidFill>
                <a:latin typeface="Arial"/>
                <a:cs typeface="Arial"/>
              </a:rPr>
              <a:t>Estimasi akuntansi</a:t>
            </a:r>
            <a:endParaRPr lang="id-ID" sz="16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15" name="Text 216"/>
          <p:cNvSpPr txBox="1"/>
          <p:nvPr/>
        </p:nvSpPr>
        <p:spPr>
          <a:xfrm>
            <a:off x="7325360" y="3962400"/>
            <a:ext cx="205232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1400" b="0">
                <a:solidFill>
                  <a:srgbClr val="262626"/>
                </a:solidFill>
                <a:latin typeface="Arial"/>
                <a:cs typeface="Arial"/>
              </a:rPr>
              <a:t>Neraca, bunga, surat berharga, pajak, dan modal</a:t>
            </a:r>
            <a:endParaRPr lang="id-ID" sz="1400" b="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3" name="Line 213">
            <a:extLst>
              <a:ext uri="{FF2B5EF4-FFF2-40B4-BE49-F238E27FC236}">
                <a16:creationId xmlns:a16="http://schemas.microsoft.com/office/drawing/2014/main" id="{E9860D17-2AED-D543-CB52-5B9C39E339B3}"/>
              </a:ext>
            </a:extLst>
          </p:cNvPr>
          <p:cNvCxnSpPr/>
          <p:nvPr/>
        </p:nvCxnSpPr>
        <p:spPr>
          <a:xfrm>
            <a:off x="9580880" y="2159000"/>
            <a:ext cx="2052320" cy="0"/>
          </a:xfrm>
          <a:prstGeom prst="line">
            <a:avLst/>
          </a:prstGeom>
          <a:ln w="31750">
            <a:solidFill>
              <a:srgbClr val="A5644E"/>
            </a:solidFill>
          </a:ln>
        </p:spPr>
      </p:cxnSp>
      <p:sp>
        <p:nvSpPr>
          <p:cNvPr id="4" name="Text 214">
            <a:extLst>
              <a:ext uri="{FF2B5EF4-FFF2-40B4-BE49-F238E27FC236}">
                <a16:creationId xmlns:a16="http://schemas.microsoft.com/office/drawing/2014/main" id="{5270787A-B621-0D55-53F6-B60BA541E983}"/>
              </a:ext>
            </a:extLst>
          </p:cNvPr>
          <p:cNvSpPr txBox="1"/>
          <p:nvPr/>
        </p:nvSpPr>
        <p:spPr>
          <a:xfrm>
            <a:off x="9580880" y="2311400"/>
            <a:ext cx="205232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3600" b="1">
                <a:latin typeface="Arial"/>
                <a:cs typeface="Arial"/>
              </a:rPr>
              <a:t>05</a:t>
            </a:r>
            <a:endParaRPr lang="id-ID" sz="3600" b="1" dirty="0">
              <a:latin typeface="Arial"/>
              <a:cs typeface="Arial"/>
            </a:endParaRPr>
          </a:p>
        </p:txBody>
      </p:sp>
      <p:sp>
        <p:nvSpPr>
          <p:cNvPr id="5" name="Text 215">
            <a:extLst>
              <a:ext uri="{FF2B5EF4-FFF2-40B4-BE49-F238E27FC236}">
                <a16:creationId xmlns:a16="http://schemas.microsoft.com/office/drawing/2014/main" id="{53516591-5C86-68FF-546C-4F56125C1F1E}"/>
              </a:ext>
            </a:extLst>
          </p:cNvPr>
          <p:cNvSpPr txBox="1"/>
          <p:nvPr/>
        </p:nvSpPr>
        <p:spPr>
          <a:xfrm>
            <a:off x="9580880" y="3175000"/>
            <a:ext cx="205232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600" b="1">
                <a:solidFill>
                  <a:srgbClr val="000000"/>
                </a:solidFill>
                <a:latin typeface="Arial"/>
                <a:cs typeface="Arial"/>
              </a:rPr>
              <a:t>Hasil stress test</a:t>
            </a:r>
            <a:endParaRPr lang="id-ID" sz="16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6" name="Text 216">
            <a:extLst>
              <a:ext uri="{FF2B5EF4-FFF2-40B4-BE49-F238E27FC236}">
                <a16:creationId xmlns:a16="http://schemas.microsoft.com/office/drawing/2014/main" id="{A3C7C15B-D276-A9E3-7D1F-1C27F3823BAA}"/>
              </a:ext>
            </a:extLst>
          </p:cNvPr>
          <p:cNvSpPr txBox="1"/>
          <p:nvPr/>
        </p:nvSpPr>
        <p:spPr>
          <a:xfrm>
            <a:off x="9580880" y="3962400"/>
            <a:ext cx="205232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sv-SE" sz="1400" b="0">
                <a:solidFill>
                  <a:srgbClr val="262626"/>
                </a:solidFill>
                <a:latin typeface="Arial"/>
                <a:cs typeface="Arial"/>
              </a:rPr>
              <a:t>Industri, KBMI, Himbara, dan bank individual</a:t>
            </a:r>
            <a:endParaRPr lang="id-ID" sz="1400" b="0" dirty="0">
              <a:solidFill>
                <a:srgbClr val="262626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49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C95C560-CBEC-71B2-446B-8ABC40A2A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3327400"/>
            <a:ext cx="5080000" cy="1143000"/>
          </a:xfrm>
        </p:spPr>
        <p:txBody>
          <a:bodyPr/>
          <a:lstStyle/>
          <a:p>
            <a:r>
              <a:rPr lang="id-ID" sz="2600" b="1"/>
              <a:t>Kerangka stress test</a:t>
            </a:r>
            <a:endParaRPr lang="id-ID" sz="2600" b="1" dirty="0"/>
          </a:p>
        </p:txBody>
      </p:sp>
      <p:sp>
        <p:nvSpPr>
          <p:cNvPr id="300" name="Section number"/>
          <p:cNvSpPr txBox="1"/>
          <p:nvPr/>
        </p:nvSpPr>
        <p:spPr>
          <a:xfrm>
            <a:off x="571500" y="2286000"/>
            <a:ext cx="2540000" cy="965200"/>
          </a:xfrm>
          <a:prstGeom prst="rect">
            <a:avLst/>
          </a:prstGeom>
          <a:noFill/>
        </p:spPr>
        <p:txBody>
          <a:bodyPr wrap="square" lIns="91440" tIns="0" rIns="0" bIns="0" anchor="b">
            <a:noAutofit/>
          </a:bodyPr>
          <a:lstStyle/>
          <a:p>
            <a:r>
              <a:rPr lang="id-ID" sz="6000" b="1">
                <a:solidFill>
                  <a:srgbClr val="C3986D"/>
                </a:solidFill>
                <a:latin typeface="Arial"/>
                <a:cs typeface="Arial"/>
              </a:rPr>
              <a:t>01</a:t>
            </a:r>
            <a:endParaRPr lang="id-ID" sz="6000" b="1" dirty="0">
              <a:solidFill>
                <a:srgbClr val="C3986D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38472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FC35-DD55-254D-ED11-37C5E6970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Tiga kanal risiko bertemu di laba, lalu CAR bergerak dari sisi modal dan RWA</a:t>
            </a:r>
            <a:endParaRPr lang="id-ID" sz="2000" dirty="0"/>
          </a:p>
        </p:txBody>
      </p:sp>
      <p:sp>
        <p:nvSpPr>
          <p:cNvPr id="200" name="Text 201"/>
          <p:cNvSpPr txBox="1"/>
          <p:nvPr/>
        </p:nvSpPr>
        <p:spPr>
          <a:xfrm>
            <a:off x="558800" y="1270000"/>
            <a:ext cx="1905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 b="1" dirty="0">
                <a:solidFill>
                  <a:srgbClr val="A5644E"/>
                </a:solidFill>
                <a:latin typeface="Arial"/>
                <a:cs typeface="Arial"/>
              </a:rPr>
              <a:t>INPUT</a:t>
            </a:r>
          </a:p>
        </p:txBody>
      </p:sp>
      <p:sp>
        <p:nvSpPr>
          <p:cNvPr id="201" name="Text 202"/>
          <p:cNvSpPr txBox="1"/>
          <p:nvPr/>
        </p:nvSpPr>
        <p:spPr>
          <a:xfrm>
            <a:off x="2895600" y="12700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 b="1" dirty="0">
                <a:solidFill>
                  <a:srgbClr val="A5644E"/>
                </a:solidFill>
                <a:latin typeface="Arial"/>
                <a:cs typeface="Arial"/>
              </a:rPr>
              <a:t>SATELLITE MODEL &amp; RULE</a:t>
            </a:r>
          </a:p>
        </p:txBody>
      </p:sp>
      <p:sp>
        <p:nvSpPr>
          <p:cNvPr id="202" name="Text 203"/>
          <p:cNvSpPr txBox="1"/>
          <p:nvPr/>
        </p:nvSpPr>
        <p:spPr>
          <a:xfrm>
            <a:off x="5613400" y="12700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 b="1" dirty="0">
                <a:solidFill>
                  <a:srgbClr val="A5644E"/>
                </a:solidFill>
                <a:latin typeface="Arial"/>
                <a:cs typeface="Arial"/>
              </a:rPr>
              <a:t>LABA</a:t>
            </a:r>
          </a:p>
        </p:txBody>
      </p:sp>
      <p:sp>
        <p:nvSpPr>
          <p:cNvPr id="203" name="Text 204"/>
          <p:cNvSpPr txBox="1"/>
          <p:nvPr/>
        </p:nvSpPr>
        <p:spPr>
          <a:xfrm>
            <a:off x="7823200" y="12700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 b="1" dirty="0">
                <a:solidFill>
                  <a:srgbClr val="A5644E"/>
                </a:solidFill>
                <a:latin typeface="Arial"/>
                <a:cs typeface="Arial"/>
              </a:rPr>
              <a:t>MODAL &amp; ATMR</a:t>
            </a:r>
          </a:p>
        </p:txBody>
      </p:sp>
      <p:sp>
        <p:nvSpPr>
          <p:cNvPr id="204" name="Text 205"/>
          <p:cNvSpPr txBox="1"/>
          <p:nvPr/>
        </p:nvSpPr>
        <p:spPr>
          <a:xfrm>
            <a:off x="10033000" y="12700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 b="1" dirty="0">
                <a:solidFill>
                  <a:srgbClr val="A5644E"/>
                </a:solidFill>
                <a:latin typeface="Arial"/>
                <a:cs typeface="Arial"/>
              </a:rPr>
              <a:t>RASIO</a:t>
            </a:r>
          </a:p>
        </p:txBody>
      </p:sp>
      <p:cxnSp>
        <p:nvCxnSpPr>
          <p:cNvPr id="205" name="Line 206"/>
          <p:cNvCxnSpPr/>
          <p:nvPr/>
        </p:nvCxnSpPr>
        <p:spPr>
          <a:xfrm>
            <a:off x="558800" y="15240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6" name="Text 207"/>
          <p:cNvSpPr/>
          <p:nvPr/>
        </p:nvSpPr>
        <p:spPr>
          <a:xfrm>
            <a:off x="558800" y="1905000"/>
            <a:ext cx="1905000" cy="1397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Skenario makro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GDP, BI rate, CPI, kurs, properti, yield SBN; 3 skenario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Solvency ST.xlsx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07" name="Text 208"/>
          <p:cNvSpPr/>
          <p:nvPr/>
        </p:nvSpPr>
        <p:spPr>
          <a:xfrm>
            <a:off x="558800" y="3683000"/>
            <a:ext cx="1905000" cy="1397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1">
                <a:solidFill>
                  <a:srgbClr val="000000"/>
                </a:solidFill>
                <a:latin typeface="Arial"/>
                <a:cs typeface="Arial"/>
              </a:rPr>
              <a:t>Posisi awal bank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50">
                <a:solidFill>
                  <a:srgbClr val="262626"/>
                </a:solidFill>
                <a:latin typeface="Arial"/>
                <a:cs typeface="Arial"/>
              </a:rPr>
              <a:t>Kredit, aset, deposito, modal, RWA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>
                <a:solidFill>
                  <a:srgbClr val="595959"/>
                </a:solidFill>
                <a:latin typeface="Arial"/>
                <a:cs typeface="Arial"/>
              </a:rPr>
              <a:t>45 bank, 2026Q2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08" name="Text 209"/>
          <p:cNvSpPr/>
          <p:nvPr/>
        </p:nvSpPr>
        <p:spPr>
          <a:xfrm>
            <a:off x="2895600" y="1625600"/>
            <a:ext cx="2286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Kanal kredit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NPL → provisi + overlay stres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Satellite model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09" name="Text 210"/>
          <p:cNvSpPr/>
          <p:nvPr/>
        </p:nvSpPr>
        <p:spPr>
          <a:xfrm>
            <a:off x="2895600" y="2870200"/>
            <a:ext cx="2286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Neraca &amp; bunga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Tumbuh dengan GDP nominal; bunga ikut BI rate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Rule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10" name="Text 211"/>
          <p:cNvSpPr/>
          <p:nvPr/>
        </p:nvSpPr>
        <p:spPr>
          <a:xfrm>
            <a:off x="2895600" y="4114800"/>
            <a:ext cx="2286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Surat berharga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SBN × (−durasi × </a:t>
            </a:r>
            <a:r>
              <a:rPr lang="el-GR" sz="1150">
                <a:solidFill>
                  <a:srgbClr val="262626"/>
                </a:solidFill>
                <a:latin typeface="Arial"/>
                <a:cs typeface="Arial"/>
              </a:rPr>
              <a:t>Δ</a:t>
            </a: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yield)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Rule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11" name="Text 212"/>
          <p:cNvSpPr/>
          <p:nvPr/>
        </p:nvSpPr>
        <p:spPr>
          <a:xfrm>
            <a:off x="5613400" y="2870200"/>
            <a:ext cx="1778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Laba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EBT → pajak 22% → EAT; dividen 50%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Identitas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12" name="Text 213"/>
          <p:cNvSpPr/>
          <p:nvPr/>
        </p:nvSpPr>
        <p:spPr>
          <a:xfrm>
            <a:off x="7823200" y="2235200"/>
            <a:ext cx="1778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Modal &amp; Tier 1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Modal lalu + laba ditahan − rugi OCI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Identitas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13" name="Text 214"/>
          <p:cNvSpPr/>
          <p:nvPr/>
        </p:nvSpPr>
        <p:spPr>
          <a:xfrm>
            <a:off x="7823200" y="3822700"/>
            <a:ext cx="1778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RWA / ATMR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Tumbuh dengan GDP nominal skenario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Rule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14" name="Text 215"/>
          <p:cNvSpPr/>
          <p:nvPr/>
        </p:nvSpPr>
        <p:spPr>
          <a:xfrm>
            <a:off x="10033000" y="2870200"/>
            <a:ext cx="1600200" cy="1041400"/>
          </a:xfrm>
          <a:prstGeom prst="rect">
            <a:avLst/>
          </a:prstGeom>
          <a:solidFill>
            <a:srgbClr val="A5644E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fr-FR" sz="1300" b="1">
                <a:solidFill>
                  <a:srgbClr val="FFFFFF"/>
                </a:solidFill>
                <a:latin typeface="Arial"/>
                <a:cs typeface="Arial"/>
              </a:rPr>
              <a:t>CAR &amp; Tier 1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fr-FR" sz="1150">
                <a:solidFill>
                  <a:srgbClr val="FFFFFF"/>
                </a:solidFill>
                <a:latin typeface="Arial"/>
                <a:cs typeface="Arial"/>
              </a:rPr>
              <a:t>Modal ÷ RWA × 100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fr-FR" sz="1000">
                <a:solidFill>
                  <a:srgbClr val="F3E9E3"/>
                </a:solidFill>
                <a:latin typeface="Arial"/>
                <a:cs typeface="Arial"/>
              </a:rPr>
              <a:t>Gagal jika &lt; 8%</a:t>
            </a:r>
            <a:endParaRPr lang="id-ID" sz="1000" dirty="0">
              <a:solidFill>
                <a:srgbClr val="F3E9E3"/>
              </a:solidFill>
              <a:latin typeface="Arial"/>
              <a:cs typeface="Arial"/>
            </a:endParaRPr>
          </a:p>
        </p:txBody>
      </p:sp>
      <p:cxnSp>
        <p:nvCxnSpPr>
          <p:cNvPr id="215" name="Line 216"/>
          <p:cNvCxnSpPr/>
          <p:nvPr/>
        </p:nvCxnSpPr>
        <p:spPr>
          <a:xfrm>
            <a:off x="2463800" y="26035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16" name="Line 217"/>
          <p:cNvCxnSpPr/>
          <p:nvPr/>
        </p:nvCxnSpPr>
        <p:spPr>
          <a:xfrm>
            <a:off x="2463800" y="43815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17" name="Line 218"/>
          <p:cNvCxnSpPr/>
          <p:nvPr/>
        </p:nvCxnSpPr>
        <p:spPr>
          <a:xfrm>
            <a:off x="2679700" y="2146300"/>
            <a:ext cx="0" cy="248920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18" name="Line 219"/>
          <p:cNvCxnSpPr/>
          <p:nvPr/>
        </p:nvCxnSpPr>
        <p:spPr>
          <a:xfrm>
            <a:off x="2679700" y="21463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19" name="Line 220"/>
          <p:cNvCxnSpPr/>
          <p:nvPr/>
        </p:nvCxnSpPr>
        <p:spPr>
          <a:xfrm>
            <a:off x="2679700" y="33909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20" name="Line 221"/>
          <p:cNvCxnSpPr/>
          <p:nvPr/>
        </p:nvCxnSpPr>
        <p:spPr>
          <a:xfrm>
            <a:off x="2679700" y="46355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21" name="Line 222"/>
          <p:cNvCxnSpPr/>
          <p:nvPr/>
        </p:nvCxnSpPr>
        <p:spPr>
          <a:xfrm>
            <a:off x="5181600" y="21463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2" name="Line 223"/>
          <p:cNvCxnSpPr/>
          <p:nvPr/>
        </p:nvCxnSpPr>
        <p:spPr>
          <a:xfrm>
            <a:off x="5181600" y="33909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3" name="Line 224"/>
          <p:cNvCxnSpPr/>
          <p:nvPr/>
        </p:nvCxnSpPr>
        <p:spPr>
          <a:xfrm>
            <a:off x="5181600" y="46355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4" name="Line 225"/>
          <p:cNvCxnSpPr/>
          <p:nvPr/>
        </p:nvCxnSpPr>
        <p:spPr>
          <a:xfrm>
            <a:off x="5397500" y="2146300"/>
            <a:ext cx="0" cy="248920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5" name="Line 226"/>
          <p:cNvCxnSpPr/>
          <p:nvPr/>
        </p:nvCxnSpPr>
        <p:spPr>
          <a:xfrm>
            <a:off x="5397500" y="33909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26" name="Line 227"/>
          <p:cNvCxnSpPr/>
          <p:nvPr/>
        </p:nvCxnSpPr>
        <p:spPr>
          <a:xfrm>
            <a:off x="7391400" y="33909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7" name="Line 228"/>
          <p:cNvCxnSpPr/>
          <p:nvPr/>
        </p:nvCxnSpPr>
        <p:spPr>
          <a:xfrm>
            <a:off x="7607300" y="2755900"/>
            <a:ext cx="0" cy="63500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8" name="Line 229"/>
          <p:cNvCxnSpPr/>
          <p:nvPr/>
        </p:nvCxnSpPr>
        <p:spPr>
          <a:xfrm>
            <a:off x="7607300" y="27559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29" name="Line 230"/>
          <p:cNvCxnSpPr/>
          <p:nvPr/>
        </p:nvCxnSpPr>
        <p:spPr>
          <a:xfrm>
            <a:off x="9601200" y="27559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30" name="Line 231"/>
          <p:cNvCxnSpPr/>
          <p:nvPr/>
        </p:nvCxnSpPr>
        <p:spPr>
          <a:xfrm>
            <a:off x="9601200" y="43434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31" name="Line 232"/>
          <p:cNvCxnSpPr/>
          <p:nvPr/>
        </p:nvCxnSpPr>
        <p:spPr>
          <a:xfrm>
            <a:off x="9817100" y="2755900"/>
            <a:ext cx="0" cy="158750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32" name="Line 233"/>
          <p:cNvCxnSpPr/>
          <p:nvPr/>
        </p:nvCxnSpPr>
        <p:spPr>
          <a:xfrm>
            <a:off x="9817100" y="33909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33" name="Line 234"/>
          <p:cNvCxnSpPr/>
          <p:nvPr/>
        </p:nvCxnSpPr>
        <p:spPr>
          <a:xfrm>
            <a:off x="558800" y="5435600"/>
            <a:ext cx="11074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234" name="Text 235"/>
          <p:cNvSpPr txBox="1"/>
          <p:nvPr/>
        </p:nvSpPr>
        <p:spPr>
          <a:xfrm>
            <a:off x="558800" y="5511800"/>
            <a:ext cx="11074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Horizon 4 kuartal (2026Q3–2027Q2); bank dinyatakan gagal bila CAR &lt; 8% di kuartal mana pun. Belum dimodelkan: risiko likuiditas, PD-LGD-EAD, contagion antarbank, dan respons manajemen.</a:t>
            </a:r>
            <a:endParaRPr lang="id-ID" sz="1150" dirty="0">
              <a:solidFill>
                <a:srgbClr val="262626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5902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C95C560-CBEC-71B2-446B-8ABC40A2A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3327400"/>
            <a:ext cx="5080000" cy="1143000"/>
          </a:xfrm>
        </p:spPr>
        <p:txBody>
          <a:bodyPr/>
          <a:lstStyle/>
          <a:p>
            <a:r>
              <a:rPr lang="id-ID" sz="2600" b="1"/>
              <a:t>Asumsi</a:t>
            </a:r>
            <a:endParaRPr lang="id-ID" sz="2600" b="1" dirty="0"/>
          </a:p>
        </p:txBody>
      </p:sp>
      <p:sp>
        <p:nvSpPr>
          <p:cNvPr id="300" name="Section number"/>
          <p:cNvSpPr txBox="1"/>
          <p:nvPr/>
        </p:nvSpPr>
        <p:spPr>
          <a:xfrm>
            <a:off x="571500" y="2286000"/>
            <a:ext cx="2540000" cy="965200"/>
          </a:xfrm>
          <a:prstGeom prst="rect">
            <a:avLst/>
          </a:prstGeom>
          <a:noFill/>
        </p:spPr>
        <p:txBody>
          <a:bodyPr wrap="square" lIns="91440" tIns="0" rIns="0" bIns="0" anchor="b">
            <a:noAutofit/>
          </a:bodyPr>
          <a:lstStyle/>
          <a:p>
            <a:r>
              <a:rPr lang="id-ID" sz="6000" b="1">
                <a:solidFill>
                  <a:srgbClr val="C3986D"/>
                </a:solidFill>
                <a:latin typeface="Arial"/>
                <a:cs typeface="Arial"/>
              </a:rPr>
              <a:t>02</a:t>
            </a:r>
            <a:endParaRPr lang="id-ID" sz="6000" b="1" dirty="0">
              <a:solidFill>
                <a:srgbClr val="C3986D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909340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000"/>
              <a:t>Skenario makro: baseline ditambah shock berbasis standar deviasi historis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435879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21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36509997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Variabel (posisi 2027Q2)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Baseline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Cara disusun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riil (% yoy)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5,2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3,0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0,7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Baseline proyeksi; shock −0,25</a:t>
                      </a:r>
                      <a:r>
                        <a:rPr lang="el-GR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σ / −0,5σ </a:t>
                      </a: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 (%)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5,25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6,25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7,25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Judgment: +50 bp / +150 bp (pola 2013, 2018, 2022)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CPI (% yoy)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3,0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5,0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6,7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l-GR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Shock +0,25σ / +0,5σ 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Kurs (Rp/USD)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17.500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19.199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20.521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Shock depresiasi 0,25σ / 0,5σ 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Harga properti (% qoq)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−1,12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−2,50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Judgment; Adverse 1 = 50% shock Adverse 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UST 10Y (%)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4,96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6,11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7,26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l-GR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Shock +0,25σ / +0,5σ 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SBN 10Y (%)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6,85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8,26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9,45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0,43×ΔUST + 0,13×ΔBI rate + 0,08×Δln kurs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8438853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410210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Sumber: data historis BI, BPS, dan Bloomberg (Asset Market Updater, 1 Oktober 2026). Shock bersifat kumulatif per kuartal;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σ = 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standar deviasi historis. Adverse 1 dan Adverse 2 adalah satu jenis guncangan (global) dengan tingkat keparahan berbeda.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029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Adverse 2 adalah guncangan suku bunga global; Adverse 1 versi ringannya</a:t>
            </a:r>
            <a:endParaRPr lang="id-ID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A3C465-F4FD-3021-2753-CEC8EC524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168400"/>
            <a:ext cx="7493000" cy="4495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929FD4-8BF4-7002-9DDD-203E55F6FDB8}"/>
              </a:ext>
            </a:extLst>
          </p:cNvPr>
          <p:cNvSpPr txBox="1"/>
          <p:nvPr/>
        </p:nvSpPr>
        <p:spPr>
          <a:xfrm>
            <a:off x="8255000" y="1270000"/>
            <a:ext cx="3378200" cy="232371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Char char="•"/>
            </a:pPr>
            <a:r>
              <a:rPr lang="en-ID" sz="1300">
                <a:solidFill>
                  <a:srgbClr val="262626"/>
                </a:solidFill>
                <a:latin typeface="Arial" panose="020B0604020202020204" pitchFamily="34" charset="0"/>
              </a:rPr>
              <a:t>Yield AS naik 2,8 pp, modal keluar, rupiah melemah 15%</a:t>
            </a:r>
          </a:p>
          <a:p>
            <a:pPr marL="342900" indent="-342900">
              <a:spcAft>
                <a:spcPts val="600"/>
              </a:spcAft>
              <a:buFont typeface="+mj-lt"/>
              <a:buChar char="•"/>
            </a:pPr>
            <a:r>
              <a:rPr lang="en-ID" sz="1300">
                <a:solidFill>
                  <a:srgbClr val="262626"/>
                </a:solidFill>
                <a:latin typeface="Arial" panose="020B0604020202020204" pitchFamily="34" charset="0"/>
              </a:rPr>
              <a:t>Inflasi impor naik ke 6,7%; BI menaikkan suku bunga 150 bp</a:t>
            </a:r>
          </a:p>
          <a:p>
            <a:pPr marL="342900" indent="-342900">
              <a:spcAft>
                <a:spcPts val="600"/>
              </a:spcAft>
              <a:buFont typeface="+mj-lt"/>
              <a:buChar char="•"/>
            </a:pPr>
            <a:r>
              <a:rPr lang="en-ID" sz="1300">
                <a:solidFill>
                  <a:srgbClr val="262626"/>
                </a:solidFill>
                <a:latin typeface="Arial" panose="020B0604020202020204" pitchFamily="34" charset="0"/>
              </a:rPr>
              <a:t>Pertumbuhan turun ke 0,7% dan harga properti terkoreksi sekitar 6,5% dalam 4 kuartal</a:t>
            </a:r>
          </a:p>
          <a:p>
            <a:pPr marL="342900" indent="-342900">
              <a:spcAft>
                <a:spcPts val="600"/>
              </a:spcAft>
              <a:buFont typeface="+mj-lt"/>
              <a:buChar char="•"/>
            </a:pPr>
            <a:r>
              <a:rPr lang="en-ID" sz="1300">
                <a:solidFill>
                  <a:srgbClr val="262626"/>
                </a:solidFill>
                <a:latin typeface="Arial" panose="020B0604020202020204" pitchFamily="34" charset="0"/>
              </a:rPr>
              <a:t>Adverse 1 bergerak ke arah yang sama, dengan besaran sekitar separuhnya</a:t>
            </a:r>
          </a:p>
        </p:txBody>
      </p:sp>
    </p:spTree>
    <p:extLst>
      <p:ext uri="{BB962C8B-B14F-4D97-AF65-F5344CB8AC3E}">
        <p14:creationId xmlns:p14="http://schemas.microsoft.com/office/powerpoint/2010/main" val="1453604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2000"/>
              <a:t>Parameter lain: sebagian dari data, dua di antaranya judgment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511320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3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Parameter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Nilai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Sumber / dasar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Data bank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45 bank listed, 2014–2026Q2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Bloomberg BQL (snapshot)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Horizon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 kuartal (2026Q3–2027Q2)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Kerangka stress test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Batas gagal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&lt; 8% di kuartal mana pun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Ketentuan minimum CAR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Pajak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22% dari laba positif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Tarif PPh badan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Dividen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50% dari laba positif; rugi penuh ke modal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Asumsi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Porsi SRBI (tidak di-mark-to-market)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36,2% dari surat berharga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dan DJPPR, data kepemilikan Sep–Okt 2026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Durasi portofolio SBN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 tahun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Asumsi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504438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Overlay provisi (k_stress)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Judgment; estimasi dari data ≈ 0,02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050161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Elastisitas harga properti (e_prop)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−0,429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Judgment; dari model NPL Prospera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63723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773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C95C560-CBEC-71B2-446B-8ABC40A2A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3327400"/>
            <a:ext cx="5080000" cy="1143000"/>
          </a:xfrm>
        </p:spPr>
        <p:txBody>
          <a:bodyPr/>
          <a:lstStyle/>
          <a:p>
            <a:r>
              <a:rPr lang="id-ID" sz="2600" b="1"/>
              <a:t>Satellite model</a:t>
            </a:r>
            <a:endParaRPr lang="id-ID" sz="2600" b="1" dirty="0"/>
          </a:p>
        </p:txBody>
      </p:sp>
      <p:sp>
        <p:nvSpPr>
          <p:cNvPr id="300" name="Section number"/>
          <p:cNvSpPr txBox="1"/>
          <p:nvPr/>
        </p:nvSpPr>
        <p:spPr>
          <a:xfrm>
            <a:off x="571500" y="2286000"/>
            <a:ext cx="2540000" cy="965200"/>
          </a:xfrm>
          <a:prstGeom prst="rect">
            <a:avLst/>
          </a:prstGeom>
          <a:noFill/>
        </p:spPr>
        <p:txBody>
          <a:bodyPr wrap="square" lIns="91440" tIns="0" rIns="0" bIns="0" anchor="b">
            <a:noAutofit/>
          </a:bodyPr>
          <a:lstStyle/>
          <a:p>
            <a:r>
              <a:rPr lang="id-ID" sz="6000" b="1">
                <a:solidFill>
                  <a:srgbClr val="C3986D"/>
                </a:solidFill>
                <a:latin typeface="Arial"/>
                <a:cs typeface="Arial"/>
              </a:rPr>
              <a:t>03</a:t>
            </a:r>
            <a:endParaRPr lang="id-ID" sz="6000" b="1" dirty="0">
              <a:solidFill>
                <a:srgbClr val="C3986D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88078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7C3AE-9C2B-F42A-3990-41BC02B5C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Satellite model menerjemahkan skenario makro menjadi risiko kredit bank</a:t>
            </a:r>
            <a:endParaRPr lang="id-ID" sz="2000" dirty="0"/>
          </a:p>
        </p:txBody>
      </p:sp>
      <p:cxnSp>
        <p:nvCxnSpPr>
          <p:cNvPr id="200" name="Line 201"/>
          <p:cNvCxnSpPr/>
          <p:nvPr/>
        </p:nvCxnSpPr>
        <p:spPr>
          <a:xfrm>
            <a:off x="558800" y="12446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1" name="Text 202"/>
          <p:cNvSpPr txBox="1"/>
          <p:nvPr/>
        </p:nvSpPr>
        <p:spPr>
          <a:xfrm>
            <a:off x="558800" y="13462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202" name="Text 203"/>
          <p:cNvSpPr txBox="1"/>
          <p:nvPr/>
        </p:nvSpPr>
        <p:spPr>
          <a:xfrm>
            <a:off x="1371600" y="13716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Apa itu satellite model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Persamaan yang menghubungkan variabel makro (GDP, BI rate, harga properti) dengan variabel risiko bank (NPL dan provisi), yang kemudian masuk ke laba dan modal.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3" name="Line 204"/>
          <p:cNvCxnSpPr/>
          <p:nvPr/>
        </p:nvCxnSpPr>
        <p:spPr>
          <a:xfrm>
            <a:off x="558800" y="22352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4" name="Text 205"/>
          <p:cNvSpPr txBox="1"/>
          <p:nvPr/>
        </p:nvSpPr>
        <p:spPr>
          <a:xfrm>
            <a:off x="558800" y="23368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205" name="Text 206"/>
          <p:cNvSpPr txBox="1"/>
          <p:nvPr/>
        </p:nvSpPr>
        <p:spPr>
          <a:xfrm>
            <a:off x="1371600" y="23622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Model 1: NPL (regresi panel, 45 bank)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NPL tiap bank dijelaskan oleh NPL kuartal lalu, pertumbuhan GDP, dan BI rate; ditambah komponen harga properti dari model Prospera.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6" name="Line 207"/>
          <p:cNvCxnSpPr/>
          <p:nvPr/>
        </p:nvCxnSpPr>
        <p:spPr>
          <a:xfrm>
            <a:off x="558800" y="32258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7" name="Text 208"/>
          <p:cNvSpPr txBox="1"/>
          <p:nvPr/>
        </p:nvSpPr>
        <p:spPr>
          <a:xfrm>
            <a:off x="558800" y="33274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208" name="Text 209"/>
          <p:cNvSpPr txBox="1"/>
          <p:nvPr/>
        </p:nvSpPr>
        <p:spPr>
          <a:xfrm>
            <a:off x="1371600" y="33528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Model 2: respons provisi (regresi panel, 45 bank)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Mengukur seberapa besar provisi naik ketika NPL naik; ditambah overlay stres yang dikaitkan dengan penurunan GDP.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9" name="Line 210"/>
          <p:cNvCxnSpPr/>
          <p:nvPr/>
        </p:nvCxnSpPr>
        <p:spPr>
          <a:xfrm>
            <a:off x="558800" y="42164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0" name="Text 211"/>
          <p:cNvSpPr txBox="1"/>
          <p:nvPr/>
        </p:nvSpPr>
        <p:spPr>
          <a:xfrm>
            <a:off x="558800" y="43180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211" name="Text 212"/>
          <p:cNvSpPr txBox="1"/>
          <p:nvPr/>
        </p:nvSpPr>
        <p:spPr>
          <a:xfrm>
            <a:off x="1371600" y="43434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Komponen lain tidak memakai regresi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Neraca, bunga, surat berharga, pajak, dan modal dihitung dengan rule dan identitas akuntansi (dibahas di bagian 04).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12" name="Line 213"/>
          <p:cNvCxnSpPr/>
          <p:nvPr/>
        </p:nvCxnSpPr>
        <p:spPr>
          <a:xfrm>
            <a:off x="558800" y="52070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3" name="Text 214"/>
          <p:cNvSpPr/>
          <p:nvPr/>
        </p:nvSpPr>
        <p:spPr>
          <a:xfrm>
            <a:off x="558800" y="5384800"/>
            <a:ext cx="11074400" cy="508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52400" tIns="45720" rIns="15240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Cara membaca regresi:</a:t>
            </a:r>
            <a:r>
              <a:rPr lang="id-ID" sz="1300">
                <a:solidFill>
                  <a:srgbClr val="000000"/>
                </a:solidFill>
                <a:latin typeface="Arial"/>
                <a:cs typeface="Arial"/>
              </a:rPr>
              <a:t> koefisien = perubahan variabel dependen (pp) bila prediktor naik 1 unit; p-value &lt; 0,05 = signifikan; R² within = porsi naik-turun NPL tiap bank dari waktu ke waktu yang dijelaskan model.</a:t>
            </a:r>
            <a:endParaRPr lang="id-ID" sz="13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29313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Model NPL: spesifikasi dan definisi variabel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649694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21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78778712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Variabel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Definisi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Satuan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Waktu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Sumber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(dependen)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Kredit bermasalah ÷ total kredit, per bank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Bloomberg (laporan keuangan bank)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kuartal lalu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bank yang sama satu kuartal sebelumnya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t−1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Bloomberg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Pertumbuhan GDP riil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Pertumbuhan PDB riil, year-on-year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t−1 s.d. t−4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BPS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Suku bunga kebijakan Bank Indonesia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t−1 s.d. t−4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Bank Indonesia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Harga properti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Indeks harga properti residensial, perubahan 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t−1 s.d. t−4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BI; elastisitas dari model Prospera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Fixed effect bank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Konstanta khusus tiap bank = tingkat NPL normalnya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–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–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Diestimasi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385826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Persamaan: NPL(i,t) =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α(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i) +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ρ·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NPL(i,t−1) +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Σ β(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k)·GDP(t−k) +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Σ γ(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k)·BI rate(t−k) + komponen properti + error, dengan k = 1 s.d. 4. Komponen properti = −0,429 ÷ 4 ×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Σ Δ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Harga properti(t−k), dihitung di luar regresi: NPL dikurangi komponen ini sebelum diestimasi. i = bank, t = kuartal.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68691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Model NPL: hasil regresi lengkap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874588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139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3984881459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366054653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Variabel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Koef.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SE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IK 95%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t−1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0,673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0,049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13,78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[0,575; 0,772]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t−1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0,896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[−0,033; 0,037]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t−2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−0,073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0,046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−1,59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0,119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[−0,166; 0,020]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t−3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1,07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0,292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[−0,017; 0,054]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t−4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0,020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0,67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0,507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[−0,027; 0,054]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 t−1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0,121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0,121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1,00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0,322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[−0,123; 0,366]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 t−2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−0,132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0,184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−0,72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0,476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[−0,503; 0,239]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651897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 t−3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0,153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0,917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[−0,293; 0,325]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276338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 t−4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0,070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0,866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[−0,129; 0,153]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087553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Konstanta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1,120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0,203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5,53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[0,712; 1,529]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8168723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513080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Metode: regresi panel fixed effects; standar error clustered per bank. Yang signifikan hanya persistensi NPL. Koefisien GDP dan BI rate tidak signifikan, baik satu per satu maupun bersama-sama: arah GDP (total −0,04) sesuai teori, tetapi besarnya tidak presisi. SE = standar error; IK = interval kepercayaan.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graphicFrame>
        <p:nvGraphicFramePr>
          <p:cNvPr id="3" name="Table 201">
            <a:extLst>
              <a:ext uri="{FF2B5EF4-FFF2-40B4-BE49-F238E27FC236}">
                <a16:creationId xmlns:a16="http://schemas.microsoft.com/office/drawing/2014/main" id="{251BB905-3612-A3D3-FD07-78141A99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666256"/>
              </p:ext>
            </p:extLst>
          </p:nvPr>
        </p:nvGraphicFramePr>
        <p:xfrm>
          <a:off x="70104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4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Statistik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Nilai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Observasi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1.579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Jumlah bank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45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Periode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2016Q3–2026Q2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Obs. per bank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17–40 (rata-rata 35)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 within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 between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0,996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 overall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0,71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60109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Uji F (semua koef.)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55,1 (p &lt; 0,001)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440251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Uji gabungan GDP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 = 0,61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104721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Uji gabungan BI rate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 = 0,89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2838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904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7C3AE-9C2B-F42A-3990-41BC02B5C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Cara membaca hasil model NPL</a:t>
            </a:r>
            <a:endParaRPr lang="id-ID" sz="2000" dirty="0"/>
          </a:p>
        </p:txBody>
      </p:sp>
      <p:cxnSp>
        <p:nvCxnSpPr>
          <p:cNvPr id="200" name="Line 201"/>
          <p:cNvCxnSpPr/>
          <p:nvPr/>
        </p:nvCxnSpPr>
        <p:spPr>
          <a:xfrm>
            <a:off x="558800" y="12446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1" name="Text 202"/>
          <p:cNvSpPr txBox="1"/>
          <p:nvPr/>
        </p:nvSpPr>
        <p:spPr>
          <a:xfrm>
            <a:off x="558800" y="13462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202" name="Text 203"/>
          <p:cNvSpPr txBox="1"/>
          <p:nvPr/>
        </p:nvSpPr>
        <p:spPr>
          <a:xfrm>
            <a:off x="1371600" y="13716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Persistensi 0,67: NPL berubah bertahap, tidak melompat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67% posisi NPL kuartal lalu terbawa ke kuartal ini; separuh guncangan hilang dalam ±1,75 kuartal, dan NPL tiap bank kembali ke tingkat normalnya (fixed effect).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3" name="Line 204"/>
          <p:cNvCxnSpPr/>
          <p:nvPr/>
        </p:nvCxnSpPr>
        <p:spPr>
          <a:xfrm>
            <a:off x="558800" y="22352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4" name="Text 205"/>
          <p:cNvSpPr txBox="1"/>
          <p:nvPr/>
        </p:nvSpPr>
        <p:spPr>
          <a:xfrm>
            <a:off x="558800" y="23368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205" name="Text 206"/>
          <p:cNvSpPr txBox="1"/>
          <p:nvPr/>
        </p:nvSpPr>
        <p:spPr>
          <a:xfrm>
            <a:off x="1371600" y="23622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GDP: arah sesuai teori, efeknya kecil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Total koefisien −0,04 per kuartal; efek jangka panjang = −0,04 ÷ (1 − 0,67) ≈ −0,12. Artinya GDP turun 1 pp → NPL akhirnya naik ±0,12 pp.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6" name="Line 207"/>
          <p:cNvCxnSpPr/>
          <p:nvPr/>
        </p:nvCxnSpPr>
        <p:spPr>
          <a:xfrm>
            <a:off x="558800" y="32258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7" name="Text 208"/>
          <p:cNvSpPr txBox="1"/>
          <p:nvPr/>
        </p:nvSpPr>
        <p:spPr>
          <a:xfrm>
            <a:off x="558800" y="33274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208" name="Text 209"/>
          <p:cNvSpPr txBox="1"/>
          <p:nvPr/>
        </p:nvSpPr>
        <p:spPr>
          <a:xfrm>
            <a:off x="1371600" y="33528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BI rate: praktis tidak berpengaruh ke NPL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Total +0,02 (jangka panjang +0,05 per 1 pp), tidak signifikan. Dampak suku bunga ke bank lebih banyak lewat pendapatan bunga dan harga surat berharga.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9" name="Line 210"/>
          <p:cNvCxnSpPr/>
          <p:nvPr/>
        </p:nvCxnSpPr>
        <p:spPr>
          <a:xfrm>
            <a:off x="558800" y="42164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0" name="Text 211"/>
          <p:cNvSpPr txBox="1"/>
          <p:nvPr/>
        </p:nvSpPr>
        <p:spPr>
          <a:xfrm>
            <a:off x="558800" y="43180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211" name="Text 212"/>
          <p:cNvSpPr txBox="1"/>
          <p:nvPr/>
        </p:nvSpPr>
        <p:spPr>
          <a:xfrm>
            <a:off x="1371600" y="43434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Mengapa efek makro terlihat kecil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Periode estimasi didominasi pertumbuhan stabil ±5%, dan restrukturisasi kredit era COVID (POJK 11/2020) menahan NPL saat GDP jatuh, sehingga sensitivitasnya tampak rendah.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12" name="Line 213"/>
          <p:cNvCxnSpPr/>
          <p:nvPr/>
        </p:nvCxnSpPr>
        <p:spPr>
          <a:xfrm>
            <a:off x="558800" y="52070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3" name="Text 214"/>
          <p:cNvSpPr/>
          <p:nvPr/>
        </p:nvSpPr>
        <p:spPr>
          <a:xfrm>
            <a:off x="558800" y="5384800"/>
            <a:ext cx="11074400" cy="508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52400" tIns="45720" rIns="15240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sv-SE" sz="1300" b="1">
                <a:solidFill>
                  <a:srgbClr val="000000"/>
                </a:solidFill>
                <a:latin typeface="Arial"/>
                <a:cs typeface="Arial"/>
              </a:rPr>
              <a:t>Implikasi:</a:t>
            </a:r>
            <a:r>
              <a:rPr lang="sv-SE" sz="1300">
                <a:solidFill>
                  <a:srgbClr val="000000"/>
                </a:solidFill>
                <a:latin typeface="Arial"/>
                <a:cs typeface="Arial"/>
              </a:rPr>
              <a:t> model NPL saja hampir tidak membedakan skenario. Karena itu ditambahkan komponen harga properti (judgment) di NPL dan overlay stres di provisi.</a:t>
            </a:r>
            <a:endParaRPr lang="id-ID" sz="13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4073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2000"/>
              <a:t>Komponen harga properti diambil dari Prospera karena tidak bisa diestimasi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055873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6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Aspek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Keterangan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Masalah data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Indeks harga properti tidak pernah turun dalam sampel (pertumbuhan +0,04% s.d. +1,39% per kuartal), padahal skenario Adverse 2 −2,5% 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Hasil estimasi sendiri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Koefisien bertanda salah (total +0,18): harga properti turun justru membuat NPL turun. Tidak dipakai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Pendekatan yang dipakai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Elastisitas total −0,429 dari model NPL Prospera (data 2014–2024Q2), dibagi rata ke lag 1–4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Cara masuk ke model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Komponen statis di atas inti model NPL, sehingga tidak dilipatgandakan oleh persistensi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Contoh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Harga properti turun 2,5% per kuartal selama 4 kuartal → NPL lebih tinggi ±1,1 pp dibanding harga tidak berubah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Status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Judgment; ditampilkan sebagai asumsi (e_prop = −0,429) dan bisa dimatikan untuk melihat hasil model murni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1535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Kenaikan NPL di skenario adverse terutama berasal dari komponen harga properti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714741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49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Selisih NPL vs Baseline (pp)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2026Q4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2027Q1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2027Q2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1: GDP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1: BI rate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1: harga properti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0,04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0,25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1: total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0,04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0,19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2: GDP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0,06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2: BI rate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0,14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2: harga properti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0,51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431250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2: total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0,82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24537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444500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Efek makro baru terasa satu kuartal kemudian karena model memakai lag (2026Q3 = 0). Total = selisih NPL industri terhadap baseline di akhir horizon: Adverse 1 2,67% vs 2,26%, Adverse 2 3,08% vs 2,26%. Sekitar 60% kenaikan berasal dari komponen harga properti.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96017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Model NPL mengikuti pola historis, tetapi cenderung terlalu tinggi</a:t>
            </a:r>
            <a:endParaRPr lang="id-ID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50FDCC-5799-E877-A71A-4C39DBA4C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270000"/>
            <a:ext cx="5384800" cy="32308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9C700E-29D6-16B6-A340-69B04FE9D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270000"/>
            <a:ext cx="5384800" cy="32308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896F1F-E84A-96EA-310C-DF37BD273B6D}"/>
              </a:ext>
            </a:extLst>
          </p:cNvPr>
          <p:cNvSpPr txBox="1"/>
          <p:nvPr/>
        </p:nvSpPr>
        <p:spPr>
          <a:xfrm>
            <a:off x="558800" y="4572000"/>
            <a:ext cx="53848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Kiri: fitted vs aktual (in-sample, tertimbang kredit)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189CEA-3AB5-9714-EB15-3DBBD899CAE3}"/>
              </a:ext>
            </a:extLst>
          </p:cNvPr>
          <p:cNvSpPr txBox="1"/>
          <p:nvPr/>
        </p:nvSpPr>
        <p:spPr>
          <a:xfrm>
            <a:off x="6248400" y="4572000"/>
            <a:ext cx="53848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Kanan: estimasi s.d. 2024Q2, forecast 8 kuartal dengan makro aktual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A463DF-DB26-11BC-4034-D14CE802FF41}"/>
              </a:ext>
            </a:extLst>
          </p:cNvPr>
          <p:cNvSpPr txBox="1"/>
          <p:nvPr/>
        </p:nvSpPr>
        <p:spPr>
          <a:xfrm>
            <a:off x="558800" y="5080000"/>
            <a:ext cx="110744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200">
                <a:solidFill>
                  <a:srgbClr val="262626"/>
                </a:solidFill>
                <a:latin typeface="Arial" panose="020B0604020202020204" pitchFamily="34" charset="0"/>
              </a:rPr>
              <a:t>Back-test: rata-rata selisih 0,30 pp (maks. 0,39 pp). Model memprediksi NPL ±2,45%, aktual ±2,1%, karena tiap bank ditarik ke rata-rata jangka panjangnya. Sebagian kenaikan NPL di proyeksi (±0,15 pp di baseline) berasal dari efek ini.</a:t>
            </a:r>
          </a:p>
        </p:txBody>
      </p:sp>
    </p:spTree>
    <p:extLst>
      <p:ext uri="{BB962C8B-B14F-4D97-AF65-F5344CB8AC3E}">
        <p14:creationId xmlns:p14="http://schemas.microsoft.com/office/powerpoint/2010/main" val="33875091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Model provisi: provisi naik ±0,31% kredit untuk setiap kenaikan NPL 1 pp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019053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177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5768493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482322324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Variabel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Koef.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SE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IK 95%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Kenaikan NPL (t)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0,188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0,111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1,69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0,098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[−0,036; 0,412]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Kenaikan NPL (t−1)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0,118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0,126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0,94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0,354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[−0,135; 0,371]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Total (t + t−1)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0,306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0,148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2,07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0,044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[0,008; 0,604]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Konstanta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0,195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0,034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5,73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[0,127; 0,264]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410210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Persamaan: Provisi(i,t) =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α(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i) + 0,19·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Δ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NPL⁺(i,t) + 0,12·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Δ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NPL⁺(i,t−1).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Δ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NPL⁺ = kenaikan NPL (penurunan dihitung nol); lonjakan ≥ 5 pp (kesalahan data) dikeluarkan. Respons total signifikan pada 5%. R² sangat rendah karena provisi bank naik-turun tajam antarkuartal, sehingga model ini hanya dipakai untuk respons; level provisi memakai rata-rata 8 kuartal terakhir tiap bank.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graphicFrame>
        <p:nvGraphicFramePr>
          <p:cNvPr id="3" name="Table 201">
            <a:extLst>
              <a:ext uri="{FF2B5EF4-FFF2-40B4-BE49-F238E27FC236}">
                <a16:creationId xmlns:a16="http://schemas.microsoft.com/office/drawing/2014/main" id="{95607713-C853-9B6A-FE3F-406D1D46E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732952"/>
              </p:ext>
            </p:extLst>
          </p:nvPr>
        </p:nvGraphicFramePr>
        <p:xfrm>
          <a:off x="70104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Statistik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Nilai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Dependen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Provisi ÷ kredit (%/kuartal)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Observasi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1.381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Jumlah bank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45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Periode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2016Q4–2026Q2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 within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 overall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Standar error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Clustered per bank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3741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89110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/>
              <a:t>Provisi proyeksi = biaya kredit normal + respons NPL + overlay stres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119808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31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Komponen (% kredit per kuartal, industri)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Rumus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Baseline 2027Q2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 2027Q2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1. Biaya kredit normal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Rata-rata provisi/kredit 8 kuartal terakhir tiap bank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0,19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0,19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2. Respons kenaikan NPL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l-GR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0,19 × Δ</a:t>
                      </a: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NPL⁺(t) + 0,12 × </a:t>
                      </a:r>
                      <a:r>
                        <a:rPr lang="el-GR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Δ</a:t>
                      </a: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NPL⁺(t−1)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3. Overlay stres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0,05 × (GDP baseline − GDP skenario) × NPL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0,70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Total provisi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 + 2 + 3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1,00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322580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Contoh overlay Adverse 2, 2027Q2: gap GDP 5,2% − 0,66% = 4,54 pp; NPL industri 3,08% → 0,05 × 4,54 × 3,08 ≈ 0,70% kredit pada kuartal itu. Di baseline gap GDP = 0, sehingga overlay = 0. Provisi tidak dibiarkan negatif.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337047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Overlay stres: dasar kalibrasi dan seberapa besar pengaruhnya ke hasil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162464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5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Aspek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Keterangan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Mengapa perlu overlay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Model provisi hanya bereaksi terhadap kenaikan NPL yang kecil; tanpa overlay, credit loss Adverse 2 hampir sama dengan baseline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Nilai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 = 0,05 per pp gap GDP per % NPL, 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Kalibrasi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Dipilih supaya credit loss Adverse 2 mendekati puncak provisi 4 kuartal era COVID (±10,5–11,5% modal)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Bukti dari data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Regresi provisi industri terhadap gap GDP × NPL memberi k ≈ 0,02 (episode COVID: 0,013–0,02)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Mengapa tetap 0,05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Restrukturisasi COVID menahan pencadangan saat itu, sehingga estimasi data kemungkinan terlalu rendah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Kontribusi ke hasil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59% credit loss Adverse 2 (7,9 dari 13,6% modal) dan 40% credit loss Adverse 1 (3,4 dari 8,5%)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Sensitivitas credit loss Adverse 2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 = 0 → ±5,6% modal; k = 0,02 → ±8,8% modal; k = 0,05 → 13,6% modal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66398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5382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Ringkasan satellite model dan komponen judgment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4621214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28157679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28836362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Komponen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Dependen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Prediktor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Metode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Peran di hasil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Model NPL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(%)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t−1; GDP dan BI rate lag 1–4; fixed effect bank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Panel FE, SE clustered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0,48 (within)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Jalur NPL; input provisi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Komponen properti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(%)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l-GR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Δ </a:t>
                      </a: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harga properti lag 1–4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 (Prospera)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–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nb-NO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+0,25 / +0,51 pp NPL (Adv 1 / Adv 2)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Respons provisi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Provisi/kredit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nl-NL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Kenaikan NPL t dan t−1; fixed effect bank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Panel FE, SE clustered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 (within)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fi-FI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Tambahan provisi saat NPL naik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Overlay stres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Provisi/kredit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Gap GDP × NPL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 (kalibrasi)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–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59% credit loss Adverse 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337058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Dua persamaan diestimasi dari data 45 bank; dua komponen judgment ditambahkan karena data historis tidak cukup memberi sensitivitas terhadap skenario berat. Keduanya bisa diubah di do-file atau di sheet Parameters.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9979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C95C560-CBEC-71B2-446B-8ABC40A2A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3327400"/>
            <a:ext cx="5080000" cy="1143000"/>
          </a:xfrm>
        </p:spPr>
        <p:txBody>
          <a:bodyPr/>
          <a:lstStyle/>
          <a:p>
            <a:r>
              <a:rPr lang="id-ID" sz="2600" b="1"/>
              <a:t>Estimasi akuntansi</a:t>
            </a:r>
            <a:endParaRPr lang="id-ID" sz="2600" b="1" dirty="0"/>
          </a:p>
        </p:txBody>
      </p:sp>
      <p:sp>
        <p:nvSpPr>
          <p:cNvPr id="300" name="Section number"/>
          <p:cNvSpPr txBox="1"/>
          <p:nvPr/>
        </p:nvSpPr>
        <p:spPr>
          <a:xfrm>
            <a:off x="571500" y="2286000"/>
            <a:ext cx="2540000" cy="965200"/>
          </a:xfrm>
          <a:prstGeom prst="rect">
            <a:avLst/>
          </a:prstGeom>
          <a:noFill/>
        </p:spPr>
        <p:txBody>
          <a:bodyPr wrap="square" lIns="91440" tIns="0" rIns="0" bIns="0" anchor="b">
            <a:noAutofit/>
          </a:bodyPr>
          <a:lstStyle/>
          <a:p>
            <a:r>
              <a:rPr lang="id-ID" sz="6000" b="1">
                <a:solidFill>
                  <a:srgbClr val="C3986D"/>
                </a:solidFill>
                <a:latin typeface="Arial"/>
                <a:cs typeface="Arial"/>
              </a:rPr>
              <a:t>04</a:t>
            </a:r>
            <a:endParaRPr lang="id-ID" sz="6000" b="1" dirty="0">
              <a:solidFill>
                <a:srgbClr val="C3986D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461845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sz="2000"/>
              <a:t>Komponen lain dihitung dengan rule dan identitas akuntansi, bukan regresi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581043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1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Komponen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Cara dihitung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Jenis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Aset, kredit, deposito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Tumbuh dengan GDP nominal skenario; rasio kredit dan deposito terhadap aset tetap (posisi 2026Q2)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Rule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RWA / ATMR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Tumbuh dengan GDP nominal skenario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Rule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Bunga kredit dan dana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Rate 4 kuartal terakhir + perubahan BI rate ÷ 4 per kuartal (transmisi penuh)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Rule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Pendapatan dan biaya nonbunga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fi-FI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Rasio 4 kuartal terakhir × aset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Rule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Kerugian surat berharga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(FVTPL + FVOCI) × porsi SBN × (−5 × </a:t>
                      </a:r>
                      <a:r>
                        <a:rPr lang="el-GR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Δ</a:t>
                      </a: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yield SBN); FVTPL ke laba, FVOCI ke modal (OCI)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Rule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EBT = bunga bersih + nonbunga − biaya − provisi − rugi FVTPL; pajak 22%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Identitas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Modal dan CAR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Modal = modal lalu + 50% laba (rugi penuh) − rugi OCI; CAR = modal ÷ RWA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Identitas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4861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6013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C95C560-CBEC-71B2-446B-8ABC40A2A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3327400"/>
            <a:ext cx="5080000" cy="1143000"/>
          </a:xfrm>
        </p:spPr>
        <p:txBody>
          <a:bodyPr/>
          <a:lstStyle/>
          <a:p>
            <a:r>
              <a:rPr lang="id-ID" sz="2600" b="1"/>
              <a:t>Hasil stress test</a:t>
            </a:r>
            <a:endParaRPr lang="id-ID" sz="2600" b="1" dirty="0"/>
          </a:p>
        </p:txBody>
      </p:sp>
      <p:sp>
        <p:nvSpPr>
          <p:cNvPr id="300" name="Section number"/>
          <p:cNvSpPr txBox="1"/>
          <p:nvPr/>
        </p:nvSpPr>
        <p:spPr>
          <a:xfrm>
            <a:off x="571500" y="2286000"/>
            <a:ext cx="2540000" cy="965200"/>
          </a:xfrm>
          <a:prstGeom prst="rect">
            <a:avLst/>
          </a:prstGeom>
          <a:noFill/>
        </p:spPr>
        <p:txBody>
          <a:bodyPr wrap="square" lIns="91440" tIns="0" rIns="0" bIns="0" anchor="b">
            <a:noAutofit/>
          </a:bodyPr>
          <a:lstStyle/>
          <a:p>
            <a:r>
              <a:rPr lang="id-ID" sz="6000" b="1">
                <a:solidFill>
                  <a:srgbClr val="C3986D"/>
                </a:solidFill>
                <a:latin typeface="Arial"/>
                <a:cs typeface="Arial"/>
              </a:rPr>
              <a:t>05</a:t>
            </a:r>
            <a:endParaRPr lang="id-ID" sz="6000" b="1" dirty="0">
              <a:solidFill>
                <a:srgbClr val="C3986D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81763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2000"/>
              <a:t>CAR industri tetap jauh di atas 8% di semua skenario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0706516"/>
              </p:ext>
            </p:extLst>
          </p:nvPr>
        </p:nvGraphicFramePr>
        <p:xfrm>
          <a:off x="558800" y="1270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49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Indikator (akhir 2027Q2)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Baseline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(%; awal 22,51)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22,47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21,80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21,03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Tier 1 (%)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21,36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20,70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19,92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(%; awal 2,10)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2,26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2,67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3,08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Credit loss (% modal)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4,7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8,5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13,6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Market loss (% modal)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−0,5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1,6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3,4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 bersih 4 kuartal (% modal)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15,7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11,8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6,7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Bank dengan CAR &lt; 8%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8659210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410210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Kerugian dan laba kumulatif 4 kuartal, dalam % modal awal; 45 bank. Market loss negatif di baseline = keuntungan revaluasi karena yield SBN turun.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49604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2000"/>
              <a:t>CAR turun bertahap; NPL naik paling tajam di Adverse 2 saat koreksi properti berjalan</a:t>
            </a:r>
            <a:endParaRPr lang="id-ID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C33ED0-D105-12BB-8514-6C8046355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270000"/>
            <a:ext cx="5384800" cy="32308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84C6DA-62B9-BF01-B41F-BEDA5DA04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270000"/>
            <a:ext cx="5384800" cy="32308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997218-D49E-B0B0-DB0A-D1CB2C73562A}"/>
              </a:ext>
            </a:extLst>
          </p:cNvPr>
          <p:cNvSpPr txBox="1"/>
          <p:nvPr/>
        </p:nvSpPr>
        <p:spPr>
          <a:xfrm>
            <a:off x="558800" y="5080000"/>
            <a:ext cx="110744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CAR industri (kiri) dan NPL industri (kanan), tertimbang; garis putus-putus = data aktual terakhir (2026Q2).</a:t>
            </a:r>
          </a:p>
        </p:txBody>
      </p:sp>
    </p:spTree>
    <p:extLst>
      <p:ext uri="{BB962C8B-B14F-4D97-AF65-F5344CB8AC3E}">
        <p14:creationId xmlns:p14="http://schemas.microsoft.com/office/powerpoint/2010/main" val="31780583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Kerugian didominasi risiko kredit; laba industri tetap positif di semua skenario</a:t>
            </a:r>
            <a:endParaRPr lang="id-ID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7391F1-5D31-E41C-E905-081BECC4E0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270000"/>
            <a:ext cx="5384800" cy="32308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C51AAB-E9A3-6173-A724-C54580D95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270000"/>
            <a:ext cx="5384800" cy="32308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4BF313-3D7F-B65B-0181-0D1766445774}"/>
              </a:ext>
            </a:extLst>
          </p:cNvPr>
          <p:cNvSpPr txBox="1"/>
          <p:nvPr/>
        </p:nvSpPr>
        <p:spPr>
          <a:xfrm>
            <a:off x="558800" y="5080000"/>
            <a:ext cx="110744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Kiri: komposisi kerugian per kuartal (% kredit). Kanan: laba bersih terhadap aset, disetahunkan. ROA turun dari ±2,6% ke ±1,1% di Adverse 2.</a:t>
            </a:r>
          </a:p>
        </p:txBody>
      </p:sp>
    </p:spTree>
    <p:extLst>
      <p:ext uri="{BB962C8B-B14F-4D97-AF65-F5344CB8AC3E}">
        <p14:creationId xmlns:p14="http://schemas.microsoft.com/office/powerpoint/2010/main" val="4086689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KBMI 2 paling tertekan: merugi dan CAR turun ke 16,2% di Adverse 2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486389"/>
              </p:ext>
            </p:extLst>
          </p:nvPr>
        </p:nvGraphicFramePr>
        <p:xfrm>
          <a:off x="6731000" y="1397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Kelompok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awal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Adv 2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 (% modal)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KBMI 1 (23)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34,2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27,2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−4,0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KBMI 2 (8)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21,0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16,2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−9,4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KBMI 3 (10)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25,2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22,7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1,1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KBMI 4 (4)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21,0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20,6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11,9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4D2A6E9F-06C3-09A7-A1A2-DB1C3784C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270000"/>
            <a:ext cx="5969000" cy="3581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9571B1-7CD4-3E97-3ED6-6A9DEC1579D4}"/>
              </a:ext>
            </a:extLst>
          </p:cNvPr>
          <p:cNvSpPr txBox="1"/>
          <p:nvPr/>
        </p:nvSpPr>
        <p:spPr>
          <a:xfrm>
            <a:off x="6731000" y="3200400"/>
            <a:ext cx="49022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Laba = laba bersih kumulatif 4 kuartal di Adverse 2. KBMI 4 tetap mencetak laba besar sehingga CAR hampir tidak turun.</a:t>
            </a:r>
          </a:p>
        </p:txBody>
      </p:sp>
    </p:spTree>
    <p:extLst>
      <p:ext uri="{BB962C8B-B14F-4D97-AF65-F5344CB8AC3E}">
        <p14:creationId xmlns:p14="http://schemas.microsoft.com/office/powerpoint/2010/main" val="34914302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Himbara lebih tahan: laba besar menyerap credit loss yang lebih tinggi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543839"/>
              </p:ext>
            </p:extLst>
          </p:nvPr>
        </p:nvGraphicFramePr>
        <p:xfrm>
          <a:off x="6731000" y="1397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Himbara (5)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Non-Himbara (40)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awal (%)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19,4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26,8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akhir (%)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18,7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24,3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akhir (%)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3,1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3,1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Credit loss (% modal)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16,3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10,9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Market loss (% modal)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2,6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4,1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 (% modal)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9,3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4,2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Bank CAR &lt; 8%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4121505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3DF34F8-A30D-B999-7A99-24A53E65E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270000"/>
            <a:ext cx="5969000" cy="3581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38E3E3-91B9-5244-068F-B976C4F4E4AD}"/>
              </a:ext>
            </a:extLst>
          </p:cNvPr>
          <p:cNvSpPr txBox="1"/>
          <p:nvPr/>
        </p:nvSpPr>
        <p:spPr>
          <a:xfrm>
            <a:off x="6731000" y="4229100"/>
            <a:ext cx="49022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Himbara: BRI, Mandiri, BNI, BTN, dan BSI (BSI dimasukkan sebagai bank milik negara melalui induknya).</a:t>
            </a:r>
          </a:p>
        </p:txBody>
      </p:sp>
    </p:spTree>
    <p:extLst>
      <p:ext uri="{BB962C8B-B14F-4D97-AF65-F5344CB8AC3E}">
        <p14:creationId xmlns:p14="http://schemas.microsoft.com/office/powerpoint/2010/main" val="5801882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Dua bank gagal di Adverse 2, keduanya karena kerugian surat berharga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550132"/>
              </p:ext>
            </p:extLst>
          </p:nvPr>
        </p:nvGraphicFramePr>
        <p:xfrm>
          <a:off x="6731000" y="1397000"/>
          <a:ext cx="11074400" cy="3733800"/>
        </p:xfrm>
        <a:graphic>
          <a:graphicData uri="http://schemas.openxmlformats.org/drawingml/2006/table">
            <a:tbl>
              <a:tblPr firstRow="1"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95997326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Bank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awal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Min. Adv 1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Min. Adv 2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Penyebab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BINA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15,3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8,7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3,8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MTM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BCIC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14,5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9,5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MTM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BBKP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17,0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11,5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8,3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Kredit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MAYA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11,1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9,5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8,4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awal tipis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BF0D25CB-D858-5BCE-1899-F18F3BC15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270000"/>
            <a:ext cx="5969000" cy="3581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65B91F-BC67-F106-3CD7-3477E1FE7374}"/>
              </a:ext>
            </a:extLst>
          </p:cNvPr>
          <p:cNvSpPr txBox="1"/>
          <p:nvPr/>
        </p:nvSpPr>
        <p:spPr>
          <a:xfrm>
            <a:off x="6731000" y="3200400"/>
            <a:ext cx="4902200" cy="60016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BINA dan BCIC melaporkan surat berharga FV 6–7 kali modal (rata-rata industri 0,7 kali); angka ini perlu diverifikasi ke laporan keuangan sebelum disimpulkan.</a:t>
            </a:r>
          </a:p>
        </p:txBody>
      </p:sp>
    </p:spTree>
    <p:extLst>
      <p:ext uri="{BB962C8B-B14F-4D97-AF65-F5344CB8AC3E}">
        <p14:creationId xmlns:p14="http://schemas.microsoft.com/office/powerpoint/2010/main" val="33598738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7C3AE-9C2B-F42A-3990-41BC02B5C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Kesimpulan dan tindak lanjut</a:t>
            </a:r>
            <a:endParaRPr lang="id-ID" sz="2000" dirty="0"/>
          </a:p>
        </p:txBody>
      </p:sp>
      <p:cxnSp>
        <p:nvCxnSpPr>
          <p:cNvPr id="200" name="Line 201"/>
          <p:cNvCxnSpPr/>
          <p:nvPr/>
        </p:nvCxnSpPr>
        <p:spPr>
          <a:xfrm>
            <a:off x="558800" y="12446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1" name="Text 202"/>
          <p:cNvSpPr txBox="1"/>
          <p:nvPr/>
        </p:nvSpPr>
        <p:spPr>
          <a:xfrm>
            <a:off x="558800" y="13462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202" name="Text 203"/>
          <p:cNvSpPr txBox="1"/>
          <p:nvPr/>
        </p:nvSpPr>
        <p:spPr>
          <a:xfrm>
            <a:off x="1371600" y="13716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Sistem perbankan tahan terhadap skenario berat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CAR industri tetap di atas 21% dan tidak ada bank besar yang mendekati batas minimum.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3" name="Line 204"/>
          <p:cNvCxnSpPr/>
          <p:nvPr/>
        </p:nvCxnSpPr>
        <p:spPr>
          <a:xfrm>
            <a:off x="558800" y="22352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4" name="Text 205"/>
          <p:cNvSpPr txBox="1"/>
          <p:nvPr/>
        </p:nvSpPr>
        <p:spPr>
          <a:xfrm>
            <a:off x="558800" y="23368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205" name="Text 206"/>
          <p:cNvSpPr txBox="1"/>
          <p:nvPr/>
        </p:nvSpPr>
        <p:spPr>
          <a:xfrm>
            <a:off x="1371600" y="23622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Risiko kredit adalah kanal utama, risiko pasar terkonsentrasi di bank kecil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Credit loss 80% dari total kerugian; kerugian MTM menekan bank dengan porsi surat berharga besar.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6" name="Line 207"/>
          <p:cNvCxnSpPr/>
          <p:nvPr/>
        </p:nvCxnSpPr>
        <p:spPr>
          <a:xfrm>
            <a:off x="558800" y="32258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7" name="Text 208"/>
          <p:cNvSpPr txBox="1"/>
          <p:nvPr/>
        </p:nvSpPr>
        <p:spPr>
          <a:xfrm>
            <a:off x="558800" y="33274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208" name="Text 209"/>
          <p:cNvSpPr txBox="1"/>
          <p:nvPr/>
        </p:nvSpPr>
        <p:spPr>
          <a:xfrm>
            <a:off x="1371600" y="33528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Hasil sensitif terhadap dua asumsi judgment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Overlay provisi (0,05 vs estimasi data 0,02) dan elastisitas harga properti; dampaknya terutama pada angka NPL dan credit loss.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9" name="Line 210"/>
          <p:cNvCxnSpPr/>
          <p:nvPr/>
        </p:nvCxnSpPr>
        <p:spPr>
          <a:xfrm>
            <a:off x="558800" y="42164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0" name="Text 211"/>
          <p:cNvSpPr txBox="1"/>
          <p:nvPr/>
        </p:nvSpPr>
        <p:spPr>
          <a:xfrm>
            <a:off x="558800" y="43180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211" name="Text 212"/>
          <p:cNvSpPr txBox="1"/>
          <p:nvPr/>
        </p:nvSpPr>
        <p:spPr>
          <a:xfrm>
            <a:off x="1371600" y="43434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Tindak lanjut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Verifikasi data surat berharga BINA dan BCIC, perbaiki bias model NPL, dan perpanjang horizon ke 6–8 kuartal.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12" name="Line 213"/>
          <p:cNvCxnSpPr/>
          <p:nvPr/>
        </p:nvCxnSpPr>
        <p:spPr>
          <a:xfrm>
            <a:off x="558800" y="52070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3" name="Text 214"/>
          <p:cNvSpPr/>
          <p:nvPr/>
        </p:nvSpPr>
        <p:spPr>
          <a:xfrm>
            <a:off x="558800" y="5384800"/>
            <a:ext cx="11074400" cy="508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52400" tIns="45720" rIns="15240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Pesan utama:</a:t>
            </a:r>
            <a:r>
              <a:rPr lang="id-ID" sz="1300">
                <a:solidFill>
                  <a:srgbClr val="000000"/>
                </a:solidFill>
                <a:latin typeface="Arial"/>
                <a:cs typeface="Arial"/>
              </a:rPr>
              <a:t> tidak ada risiko solvabilitas sistemik; perhatian difokuskan pada bank kecil dengan eksposur surat berharga besar dan pada kelompok KBMI 2.</a:t>
            </a:r>
            <a:endParaRPr lang="id-ID" sz="13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747165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4768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theme/theme1.xml><?xml version="1.0" encoding="utf-8"?>
<a:theme xmlns:a="http://schemas.openxmlformats.org/drawingml/2006/main" name="4_D2 Marves_Neww">
  <a:themeElements>
    <a:clrScheme name="Yellow Orange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2 Marves_Neww" id="{CF5C51F7-01E3-1843-B95E-A88F43F3C614}" vid="{1FC0152F-43D8-474F-AC19-D2321C15A74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822936-2FBA-4AED-B054-163529BB535A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b62713f8-fbef-4e9c-97c0-f4706022a32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1264</TotalTime>
  <Words>3475</Words>
  <Application>Microsoft Office PowerPoint</Application>
  <PresentationFormat>Widescreen</PresentationFormat>
  <Paragraphs>637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Arial Nova</vt:lpstr>
      <vt:lpstr>Calibri</vt:lpstr>
      <vt:lpstr>Calibri Light</vt:lpstr>
      <vt:lpstr>4_D2 Marves_Neww</vt:lpstr>
      <vt:lpstr>Stress Test Solvabilitas Perbankan Kerangka, Asumsi, Model, dan Hasil</vt:lpstr>
      <vt:lpstr>Ringkasan eksekutif</vt:lpstr>
      <vt:lpstr>Agenda</vt:lpstr>
      <vt:lpstr>PowerPoint Presentation</vt:lpstr>
      <vt:lpstr>Tiga kanal risiko bertemu di laba, lalu CAR bergerak dari sisi modal dan RWA</vt:lpstr>
      <vt:lpstr>PowerPoint Presentation</vt:lpstr>
      <vt:lpstr>Skenario makro: baseline ditambah shock berbasis standar deviasi historis</vt:lpstr>
      <vt:lpstr>Adverse 2 adalah guncangan suku bunga global; Adverse 1 versi ringannya</vt:lpstr>
      <vt:lpstr>Parameter lain: sebagian dari data, dua di antaranya judgment</vt:lpstr>
      <vt:lpstr>PowerPoint Presentation</vt:lpstr>
      <vt:lpstr>Satellite model menerjemahkan skenario makro menjadi risiko kredit bank</vt:lpstr>
      <vt:lpstr>Model NPL: spesifikasi dan definisi variabel</vt:lpstr>
      <vt:lpstr>Model NPL: hasil regresi lengkap</vt:lpstr>
      <vt:lpstr>Cara membaca hasil model NPL</vt:lpstr>
      <vt:lpstr>Komponen harga properti diambil dari Prospera karena tidak bisa diestimasi</vt:lpstr>
      <vt:lpstr>Kenaikan NPL di skenario adverse terutama berasal dari komponen harga properti</vt:lpstr>
      <vt:lpstr>Model NPL mengikuti pola historis, tetapi cenderung terlalu tinggi</vt:lpstr>
      <vt:lpstr>Model provisi: provisi naik ±0,31% kredit untuk setiap kenaikan NPL 1 pp</vt:lpstr>
      <vt:lpstr>Provisi proyeksi = biaya kredit normal + respons NPL + overlay stres</vt:lpstr>
      <vt:lpstr>Overlay stres: dasar kalibrasi dan seberapa besar pengaruhnya ke hasil</vt:lpstr>
      <vt:lpstr>Ringkasan satellite model dan komponen judgment</vt:lpstr>
      <vt:lpstr>PowerPoint Presentation</vt:lpstr>
      <vt:lpstr>Komponen lain dihitung dengan rule dan identitas akuntansi, bukan regresi</vt:lpstr>
      <vt:lpstr>PowerPoint Presentation</vt:lpstr>
      <vt:lpstr>CAR industri tetap jauh di atas 8% di semua skenario</vt:lpstr>
      <vt:lpstr>CAR turun bertahap; NPL naik paling tajam di Adverse 2 saat koreksi properti berjalan</vt:lpstr>
      <vt:lpstr>Kerugian didominasi risiko kredit; laba industri tetap positif di semua skenario</vt:lpstr>
      <vt:lpstr>KBMI 2 paling tertekan: merugi dan CAR turun ke 16,2% di Adverse 2</vt:lpstr>
      <vt:lpstr>Himbara lebih tahan: laba besar menyerap credit loss yang lebih tinggi</vt:lpstr>
      <vt:lpstr>Dua bank gagal di Adverse 2, keduanya karena kerugian surat berharga</vt:lpstr>
      <vt:lpstr>Kesimpulan dan tindak lanjut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Kurniawati Yuli Ashari</dc:creator>
  <cp:lastModifiedBy>Muhamad Haikal</cp:lastModifiedBy>
  <cp:revision>12</cp:revision>
  <dcterms:created xsi:type="dcterms:W3CDTF">2026-10-01T00:21:08Z</dcterms:created>
  <dcterms:modified xsi:type="dcterms:W3CDTF">2026-10-13T08:22:20Z</dcterms:modified>
</cp:coreProperties>
</file>