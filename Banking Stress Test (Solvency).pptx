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2"/>
  </p:notesMasterIdLst>
  <p:sldIdLst>
    <p:sldId id="2147482763" r:id="rId2"/>
    <p:sldId id="2147482764" r:id="rId3"/>
    <p:sldId id="2147482765" r:id="rId4"/>
    <p:sldId id="2147482766" r:id="rId5"/>
    <p:sldId id="2147482767" r:id="rId6"/>
    <p:sldId id="2147482768" r:id="rId7"/>
    <p:sldId id="2147482769" r:id="rId8"/>
    <p:sldId id="2147482770" r:id="rId9"/>
    <p:sldId id="2147482771" r:id="rId10"/>
    <p:sldId id="2147482772" r:id="rId11"/>
    <p:sldId id="2147482773" r:id="rId12"/>
    <p:sldId id="2147482774" r:id="rId13"/>
    <p:sldId id="2147482775" r:id="rId14"/>
    <p:sldId id="2147482776" r:id="rId15"/>
    <p:sldId id="2147482799" r:id="rId16"/>
    <p:sldId id="2147482778" r:id="rId17"/>
    <p:sldId id="2147482779" r:id="rId18"/>
    <p:sldId id="2147482780" r:id="rId19"/>
    <p:sldId id="2147482781" r:id="rId20"/>
    <p:sldId id="2147482782" r:id="rId21"/>
    <p:sldId id="2147482783" r:id="rId22"/>
    <p:sldId id="2147482784" r:id="rId23"/>
    <p:sldId id="2147482785" r:id="rId24"/>
    <p:sldId id="2147482786" r:id="rId25"/>
    <p:sldId id="2147482787" r:id="rId26"/>
    <p:sldId id="2147482788" r:id="rId27"/>
    <p:sldId id="2147482789" r:id="rId28"/>
    <p:sldId id="2147482790" r:id="rId29"/>
    <p:sldId id="2147482791" r:id="rId30"/>
    <p:sldId id="2147482792" r:id="rId31"/>
    <p:sldId id="2147482793" r:id="rId32"/>
    <p:sldId id="2147482794" r:id="rId33"/>
    <p:sldId id="2147482795" r:id="rId34"/>
    <p:sldId id="2147482801" r:id="rId35"/>
    <p:sldId id="2147482802" r:id="rId36"/>
    <p:sldId id="2147482796" r:id="rId37"/>
    <p:sldId id="2147482762" r:id="rId38"/>
    <p:sldId id="2147482750" r:id="rId39"/>
    <p:sldId id="2147482751" r:id="rId40"/>
    <p:sldId id="2147482752" r:id="rId41"/>
    <p:sldId id="2147482753" r:id="rId42"/>
    <p:sldId id="2147482754" r:id="rId43"/>
    <p:sldId id="2147482755" r:id="rId44"/>
    <p:sldId id="2147482756" r:id="rId45"/>
    <p:sldId id="2147482757" r:id="rId46"/>
    <p:sldId id="2147482758" r:id="rId47"/>
    <p:sldId id="2147482800" r:id="rId48"/>
    <p:sldId id="2147482759" r:id="rId49"/>
    <p:sldId id="2147482760" r:id="rId50"/>
    <p:sldId id="2147482761"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8674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2912" autoAdjust="0"/>
  </p:normalViewPr>
  <p:slideViewPr>
    <p:cSldViewPr snapToGrid="0">
      <p:cViewPr varScale="1">
        <p:scale>
          <a:sx n="69" d="100"/>
          <a:sy n="69" d="100"/>
        </p:scale>
        <p:origin x="60" y="3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FA5F0A9-A2F0-4B43-9722-2042F9DD5994}" type="datetimeFigureOut">
              <a:rPr lang="en-US" smtClean="0"/>
              <a:t>10/14/2026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35EE8F-5140-E743-B68C-BA749EB3B7FF}" type="slidenum">
              <a:rPr lang="en-US" smtClean="0"/>
              <a:t>‹#›</a:t>
            </a:fld>
            <a:endParaRPr lang="en-US"/>
          </a:p>
        </p:txBody>
      </p:sp>
    </p:spTree>
    <p:extLst>
      <p:ext uri="{BB962C8B-B14F-4D97-AF65-F5344CB8AC3E}">
        <p14:creationId xmlns:p14="http://schemas.microsoft.com/office/powerpoint/2010/main" val="9056685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Selamat pagi Bapak dan Ibu. Hari ini saya akan memaparkan hasil stress test solvabilitas perbankan.</a:t>
            </a:r>
          </a:p>
          <a:p>
            <a:r>
              <a:rPr lang="id-ID" dirty="0"/>
              <a:t>Cakupannya 46 bank yang tercatat di bursa, dengan data sampai kuartal II 2026. Pertanyaan yang ingin kita jawab sederhana: kalau ekonomi terkena guncangan berat selama empat kuartal ke depan, apakah modal bank masih cukup untuk menyerap kerugiannya?</a:t>
            </a:r>
          </a:p>
          <a:p>
            <a:r>
              <a:rPr lang="id-ID" dirty="0"/>
              <a:t>Saya akan mulai dari kerangka dan asumsi, lalu model yang dipakai, dan terakhir hasilnya.</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Ada empat pesan utama dari stress test ini.</a:t>
            </a:r>
          </a:p>
          <a:p>
            <a:r>
              <a:rPr lang="id-ID" dirty="0"/>
              <a:t>Pertama, industri tetap solid di semua skenario. Di skenario terberat, Adverse 2, CAR industri turun dari 22,5% ke 21,1%. Itu masih jauh di atas batas minimum 8%, dan laba empat kuartal masih cukup untuk menyerap seluruh kerugian.</a:t>
            </a:r>
          </a:p>
          <a:p>
            <a:r>
              <a:rPr lang="id-ID" dirty="0"/>
              <a:t>Kedua, tekanan terbesar datang dari risiko kredit. Credit loss di Adverse 2 setara 10,3% modal, atau sekitar tiga perempat dari total kerugian. NPL naik dari 2,1% ke 3,1%. Tekanan kedua adalah margin bunga: biaya dana naik lebih cepat dari bunga kredit, sehingga bunga bersih turun sekitar 3,5% modal.</a:t>
            </a:r>
          </a:p>
          <a:p>
            <a:r>
              <a:rPr lang="id-ID" dirty="0"/>
              <a:t>Ketiga, ada dua bank kecil yang gagal di Adverse 2, yaitu BINA dan BCIC, keduanya KBMI 1. Penyebabnya kerugian surat berharga, karena porsi surat berharga mereka 6 sampai 7 kali modal. Angka ini masih perlu kita verifikasi ke laporan keuangan.</a:t>
            </a:r>
          </a:p>
          <a:p>
            <a:r>
              <a:rPr lang="id-ID" dirty="0"/>
              <a:t>Keempat, Himbara lebih tahan walaupun CAR awalnya lebih rendah. CAR Himbara hanya turun 0,7 poin, sementara non-Himbara turun 2,4 poin. Kelompok yang paling tertekan adalah KBMI 2, dengan CAR 16,6%.</a:t>
            </a:r>
          </a:p>
          <a:p>
            <a:r>
              <a:rPr lang="id-ID" dirty="0"/>
              <a:t>Satu catatan penting: hasil ini bergantung pada tiga asumsi judgment, yaitu overlay provisi, elastisitas harga properti, dan transmisi BI rate ke biaya dana. Ketiganya akan saya jelaskan di bagian asumsi.</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Paparan ini terbagi menjadi lima bagian.</a:t>
            </a:r>
          </a:p>
          <a:p>
            <a:r>
              <a:rPr lang="id-ID" dirty="0"/>
              <a:t>Pertama, kerangka stress test: bagaimana skenario makro mengalir sampai ke laba, modal, dan CAR.</a:t>
            </a:r>
          </a:p>
          <a:p>
            <a:r>
              <a:rPr lang="id-ID" dirty="0"/>
              <a:t>Kedua, asumsi: skenario makro, sumber data, dan parameter yang kami pakai.</a:t>
            </a:r>
          </a:p>
          <a:p>
            <a:r>
              <a:rPr lang="id-ID" dirty="0"/>
              <a:t>Ketiga, satellite model, yaitu model NPL dan provisi beserta prediktornya.</a:t>
            </a:r>
          </a:p>
          <a:p>
            <a:r>
              <a:rPr lang="id-ID" dirty="0"/>
              <a:t>Keempat, estimasi akuntansi untuk neraca, bunga, surat berharga, pajak, dan modal.</a:t>
            </a:r>
          </a:p>
          <a:p>
            <a:r>
              <a:rPr lang="id-ID" dirty="0"/>
              <a:t>Dan terakhir, hasil stress test untuk industri, per KBMI, Himbara, dan bank individual.</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Kita mulai dari bagian pertama, kerangka stress test. Di bagian ini saya jelaskan alur besarnya dulu, lalu langkah perhitungan satu per satu.</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menunjukkan alur besar stress test dari kiri ke kanan.</a:t>
            </a:r>
          </a:p>
          <a:p>
            <a:r>
              <a:rPr lang="id-ID" dirty="0"/>
              <a:t>Inputnya dua: skenario makro, yaitu GDP, BI rate, inflasi, kurs, harga properti, dan yield SBN untuk tiga skenario; serta posisi awal 46 bank per kuartal II 2026, yaitu kredit, aset, deposito, modal, dan RWA.</a:t>
            </a:r>
          </a:p>
          <a:p>
            <a:r>
              <a:rPr lang="id-ID" dirty="0"/>
              <a:t>Dari situ ada tiga kanal risiko. Kanal kredit: NPL naik, lalu provisi naik, ditambah overlay stres. Kanal bunga: neraca tumbuh mengikuti GDP nominal, dan suku bunga ikut BI rate secara parsial. Kanal pasar: surat berharga direvaluasi ketika yield SBN naik.</a:t>
            </a:r>
          </a:p>
          <a:p>
            <a:r>
              <a:rPr lang="id-ID" dirty="0"/>
              <a:t>Ketiga kanal ini bertemu di laba. Laba sebelum pajak dipotong pajak 22%, lalu setengahnya dibagi sebagai dividen. Sisanya menambah modal, sementara rugi OCI langsung mengurangi modal. Di sisi penyebut, RWA tumbuh mengikuti GDP nominal.</a:t>
            </a:r>
          </a:p>
          <a:p>
            <a:r>
              <a:rPr lang="id-ID" dirty="0"/>
              <a:t>Hasil akhirnya CAR dan rasio Tier 1. Horizon kita empat kuartal, dari 2026Q3 sampai 2027Q2, dan bank dianggap gagal bila CAR-nya di bawah 8% di kuartal mana pun.</a:t>
            </a:r>
          </a:p>
          <a:p>
            <a:r>
              <a:rPr lang="id-ID" dirty="0"/>
              <a:t>Perlu saya sampaikan juga batasannya: risiko likuiditas, model PD-LGD-EAD, contagion antarbank, dan respons manajemen belum dimodelkan.</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Secara teknis, perhitungannya terdiri dari sepuluh langkah, ditambah langkah nol untuk posisi awal.</a:t>
            </a:r>
          </a:p>
          <a:p>
            <a:r>
              <a:rPr lang="id-ID" dirty="0"/>
              <a:t>Langkah nol hanya sekali: kita ambil rasio awal tiap bank dari data 2026Q2. Lalu langkah satu sampai sepuluh diulang setiap kuartal: menerjemahkan skenario, menumbuhkan neraca dan RWA, menghitung NPL dan provisi, revaluasi surat berharga, bunga dan nonbunga, lalu laba, modal, dan terakhir CAR serta status gagal.</a:t>
            </a:r>
          </a:p>
          <a:p>
            <a:r>
              <a:rPr lang="id-ID" dirty="0"/>
              <a:t>Siklus ini dijalankan empat kali, dari 2026Q3 sampai 2027Q2, untuk 46 bank dan tiga skenario. Hasil akhir satu kuartal menjadi titik awal kuartal berikutnya, jadi efeknya terakumulasi.</a:t>
            </a:r>
          </a:p>
          <a:p>
            <a:r>
              <a:rPr lang="id-ID" dirty="0"/>
              <a:t>Kolom paling kanan menunjukkan langkah mana yang memakai hasil setiap langkah, dan nomor langkah ini sama dengan yang ada di flowchart sebelumnya.</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nol adalah posisi awal. Semua angka diambil dari laporan keuangan bank lewat Bloomberg, posisi 2026Q2.</a:t>
            </a:r>
          </a:p>
          <a:p>
            <a:r>
              <a:rPr lang="id-ID" dirty="0"/>
              <a:t>Saldo seperti aset, kredit, deposito, modal, Tier 1, dan RWA memakai nilai aktual. Untuk rasio aliran, seperti suku bunga kredit, biaya dana, dan rasio pendapatan serta biaya nonbunga, kami pakai rata-rata empat kuartal terakhir supaya tidak terpengaruh satu kuartal yang tidak biasa. Biaya kredit dasar memakai rata-rata delapan kuartal.</a:t>
            </a:r>
          </a:p>
          <a:p>
            <a:r>
              <a:rPr lang="id-ID" dirty="0"/>
              <a:t>Ada beberapa pembersihan data. Surat berharga yang tercatat lebih besar dari total aset diganti median KBMI-nya. Deposito MCOR di 2020Q4 yang salah skala diganti rata-rata kuartal di sekitarnya. Bank dengan kode BANK dikeluarkan. Dan bila porsi FVTPL tidak tersedia, kami asumsikan 50%.</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satu dan dua menerjemahkan skenario makro ke neraca bank.</a:t>
            </a:r>
          </a:p>
          <a:p>
            <a:r>
              <a:rPr lang="id-ID" dirty="0"/>
              <a:t>Pertumbuhan nominal per kuartal dihitung dari GDP riil ditambah inflasi, lalu dikonversi ke basis kuartalan. Aset dan RWA tumbuh dengan laju ini. Kredit, deposito, dan surat berharga mengikuti aset dengan porsi yang tetap seperti posisi 2026Q2.</a:t>
            </a:r>
          </a:p>
          <a:p>
            <a:r>
              <a:rPr lang="id-ID" dirty="0"/>
              <a:t>Perubahan harga obligasi dihitung dari kenaikan yield SBN 10 tahun dikali durasi 5 tahun. Porsi SRBI, sekitar 36%, dikeluarkan karena dimiliki sampai jatuh tempo sehingga tidak di-mark-to-market.</a:t>
            </a:r>
          </a:p>
          <a:p>
            <a:r>
              <a:rPr lang="id-ID" dirty="0"/>
              <a:t>Satu konsekuensi yang perlu dicatat: karena RWA tumbuh dengan GDP nominal, inflasi yang lebih tinggi di skenario adverse justru ikut memperbesar RWA. Kami juga belum memodelkan migrasi bobot risiko.</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tiga dan empat adalah kanal kredit, yaitu NPL dan provisi.</a:t>
            </a:r>
          </a:p>
          <a:p>
            <a:r>
              <a:rPr lang="id-ID" dirty="0"/>
              <a:t>NPL terdiri dari dua bagian. Bagian inti diestimasi dengan regresi panel: ada fixed effect tiap bank yang mencerminkan tingkat NPL normalnya, NPL kuartal lalu dengan koefisien 0,67, serta GDP dan BI rate dengan lag satu sampai empat kuartal. Bagian kedua adalah komponen harga properti dengan elastisitas minus 0,429, yang merupakan judgment dari model Prospera.</a:t>
            </a:r>
          </a:p>
          <a:p>
            <a:r>
              <a:rPr lang="id-ID" dirty="0"/>
              <a:t>Provisi juga punya tiga bagian. Biaya kredit dasar, yaitu rata-rata delapan kuartal terakhir tiap bank. Lalu respons terhadap kenaikan NPL, dan hanya kenaikan yang menambah provisi. Terakhir overlay stres, yang aktif saat GDP skenario di bawah baseline, dan nilainya nol di baseline.</a:t>
            </a:r>
          </a:p>
          <a:p>
            <a:r>
              <a:rPr lang="id-ID" dirty="0"/>
              <a:t>Rasio provisi ini dikali kredit untuk mendapatkan provisi dalam rupiah, yang kemudian masuk ke laba di langkah delapan.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lima sampai tujuh mencakup surat berharga, bunga, dan nonbunga.</a:t>
            </a:r>
          </a:p>
          <a:p>
            <a:r>
              <a:rPr lang="id-ID" dirty="0"/>
              <a:t>Untuk surat berharga, rugi mark-to-market dihitung dari perubahan harga obligasi dikali eksposur. Rugi ini dipisah sesuai klasifikasi akuntansinya: bagian FVTPL masuk ke laba, sedangkan bagian FVOCI langsung mengurangi modal lewat OCI.</a:t>
            </a:r>
          </a:p>
          <a:p>
            <a:r>
              <a:rPr lang="id-ID" dirty="0"/>
              <a:t>Untuk bunga, suku bunga kredit dan biaya dana bergerak dari posisi kuartal sebelumnya ditambah beta dikali perubahan BI rate. Perubahan BI rate dibagi empat karena kita menghitung per kuartal, sementara BI rate adalah suku bunga tahunan. Beta kredit 0,145, artinya hanya sekitar 15% kenaikan BI rate yang diteruskan ke bunga kredit. Beta dana 0,694, jadi sekitar 69% diteruskan ke biaya dana. Dasar angka ini saya jelaskan di bagian empat.</a:t>
            </a:r>
          </a:p>
          <a:p>
            <a:r>
              <a:rPr lang="id-ID" dirty="0"/>
              <a:t>Pendapatan dan biaya nonbunga sederhana saja: rasio awal terhadap aset, dikali aset tiap kuartal.</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Langkah delapan sampai sepuluh adalah identitas akuntansi, jadi tidak ada estimasi di sini.</a:t>
            </a:r>
          </a:p>
          <a:p>
            <a:r>
              <a:rPr lang="id-ID" dirty="0"/>
              <a:t>Laba sebelum pajak adalah bunga bersih ditambah pendapatan nonbunga, dikurangi biaya operasional, provisi, dan rugi FVTPL. Pajak 22% hanya dikenakan pada laba positif; kalau bank rugi, tidak ada kredit pajak.</a:t>
            </a:r>
          </a:p>
          <a:p>
            <a:r>
              <a:rPr lang="id-ID" dirty="0"/>
              <a:t>Dari laba bersih, 50% dibagikan sebagai dividen bila laba positif. Kalau bank rugi, seluruh kerugian langsung mengurangi modal.</a:t>
            </a:r>
          </a:p>
          <a:p>
            <a:r>
              <a:rPr lang="id-ID" dirty="0"/>
              <a:t>Modal akhir kuartal adalah modal kuartal lalu ditambah laba ditahan, dikurangi rugi FVOCI. Rumus yang sama dipakai untuk Tier 1.</a:t>
            </a:r>
          </a:p>
          <a:p>
            <a:r>
              <a:rPr lang="id-ID" dirty="0"/>
              <a:t>CAR adalah modal dibagi RWA. Bank dinyatakan gagal bila CAR-nya di bawah 8% di salah satu kuartal selama horizon, dinilai per bank dan per skenario.</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bagaimana hasil per bank digabung menjadi angka industri.</a:t>
            </a:r>
          </a:p>
          <a:p>
            <a:r>
              <a:rPr lang="id-ID" dirty="0"/>
              <a:t>Prinsipnya, semua indikator industri dihitung dari jumlah nominal, bukan rata-rata rasio. Misalnya CAR industri adalah total modal dibagi total RWA. Konsekuensinya, bank besar berbobot lebih besar, sehingga angka industri mencerminkan di mana sebagian besar aset sistem berada.</a:t>
            </a:r>
          </a:p>
          <a:p>
            <a:r>
              <a:rPr lang="id-ID" dirty="0"/>
              <a:t>Credit loss, market loss, dan laba dinyatakan sebagai persen dari modal awal 2026Q2, dijumlahkan selama empat kuartal. ROA disetahunkan dengan mengalikan laba kuartalan dengan empat.</a:t>
            </a:r>
          </a:p>
          <a:p>
            <a:r>
              <a:rPr lang="id-ID" dirty="0"/>
              <a:t>Untuk kelompok seperti KBMI dan Himbara, rumusnya sama, hanya dibatasi pada bank di kelompok tersebut. Dan hanya bank dengan proyeksi lengkap di ketiga skenario yang masuk agregat, yaitu 46 bank.</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Berikutnya bagian kedua, asumsi. Di sini saya jelaskan skenario makro yang kami pakai, cerita di balik skenario Adverse 2, dan parameter lainnya, termasuk mana yang berasal dari data dan mana yang judgment.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Ini tiga skenario makro yang kami pakai, dengan posisi di akhir horizon, 2027Q2.</a:t>
            </a:r>
          </a:p>
          <a:p>
            <a:r>
              <a:rPr lang="id-ID" dirty="0"/>
              <a:t>Baseline adalah proyeksi dasar: GDP 5,2%, BI rate 5,25%, inflasi 3%, rupiah 17.500 per dolar.</a:t>
            </a:r>
          </a:p>
          <a:p>
            <a:r>
              <a:rPr lang="id-ID" dirty="0"/>
              <a:t>Skenario adverse disusun dengan menambahkan shock berbasis standar deviasi historis, yang terakumulasi per kuartal. Adverse 1 memakai shock seperempat sigma, Adverse 2 setengah sigma. Hasilnya, di Adverse 2 GDP turun ke 0,7%, inflasi naik ke 6,7%, rupiah melemah ke sekitar 20.500, dan yield UST naik ke 7,26%.</a:t>
            </a:r>
          </a:p>
          <a:p>
            <a:r>
              <a:rPr lang="id-ID" dirty="0"/>
              <a:t>Dua variabel memakai judgment. BI rate naik 50 basis poin di Adverse 1 dan 150 basis poin di Adverse 2, mengikuti pola respons BI di 2013, 2018, dan 2022. Harga properti turun 2,5% per kuartal di Adverse 2, dan Adverse 1 setengahnya.</a:t>
            </a:r>
          </a:p>
          <a:p>
            <a:r>
              <a:rPr lang="id-ID" dirty="0"/>
              <a:t>Yield SBN 10 tahun diturunkan dari persamaan UST, BI rate, dan kurs, sehingga di Adverse 2 naik ke 9,45%.</a:t>
            </a:r>
          </a:p>
          <a:p>
            <a:r>
              <a:rPr lang="id-ID" dirty="0"/>
              <a:t>Perlu dicatat, Adverse 1 dan Adverse 2 adalah jenis guncangan yang sama, yaitu guncangan global, hanya dengan tingkat keparahan yang berbeda.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menceritakan bagaimana Adverse 2 terjadi, dalam tiga tahap, dan tiap tahap bisa dilihat di salah satu grafik.</a:t>
            </a:r>
          </a:p>
          <a:p>
            <a:r>
              <a:rPr lang="id-ID" dirty="0"/>
              <a:t>Pertama, pemicunya di pasar keuangan global. Yield obligasi AS naik 2,8 poin, modal asing keluar, dan rupiah melemah sekitar 15%. Akibatnya yield SBN 10 tahun naik ke 9,45%, seperti di grafik kanan bawah.</a:t>
            </a:r>
          </a:p>
          <a:p>
            <a:r>
              <a:rPr lang="id-ID" dirty="0"/>
              <a:t>Kedua, respons kebijakan. Rupiah yang lemah mendorong inflasi impor ke 6,7%, dan BI menaikkan BI rate 150 basis poin ke 7,25%, di grafik kanan atas.</a:t>
            </a:r>
          </a:p>
          <a:p>
            <a:r>
              <a:rPr lang="id-ID" dirty="0"/>
              <a:t>Ketiga, dampaknya ke ekonomi riil. Suku bunga tinggi menekan permintaan, sehingga GDP turun ke 0,7% di grafik kiri atas, dan harga properti terkoreksi sekitar 6,5% dalam empat kuartal di grafik kiri bawah.</a:t>
            </a:r>
          </a:p>
          <a:p>
            <a:r>
              <a:rPr lang="id-ID" dirty="0"/>
              <a:t>Adverse 1 mengikuti alur yang sama dengan besaran kira-kira separuhnya: GDP 3%, BI rate 6,25%, dan yield SBN 8,26%.</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skenario, ada beberapa parameter lain. Sebagian besar berasal dari data atau ketentuan, sisanya judgment yang kami dokumentasikan.</a:t>
            </a:r>
          </a:p>
          <a:p>
            <a:r>
              <a:rPr lang="id-ID" dirty="0"/>
              <a:t>Yang berasal dari data dan ketentuan: data 46 bank dari Bloomberg sejak 2014, horizon empat kuartal, batas gagal CAR 8%, pajak 22%, dan porsi SRBI 36,2% dari data kepemilikan BI dan DJPPR. Durasi portofolio SBN 5 tahun dan dividen 50% adalah asumsi standar.</a:t>
            </a:r>
          </a:p>
          <a:p>
            <a:r>
              <a:rPr lang="id-ID" dirty="0"/>
              <a:t>Ada tiga parameter yang paling memengaruhi hasil, dan ini yang saya minta perhatian Bapak Ibu.</a:t>
            </a:r>
          </a:p>
          <a:p>
            <a:r>
              <a:rPr lang="id-ID" dirty="0"/>
              <a:t>Pertama, transmisi BI rate ke biaya dana, 0,694. Ini memakai transmisi deposito satu bulan dan diterapkan ke seluruh dana, jadi sengaja batas atas.</a:t>
            </a:r>
          </a:p>
          <a:p>
            <a:r>
              <a:rPr lang="id-ID" dirty="0"/>
              <a:t>Kedua, overlay provisi, 0,03. Angka ini dikalibrasi ke puncak provisi 2021Q1; kalau murni dari estimasi data, nilainya sekitar 0,02.</a:t>
            </a:r>
          </a:p>
          <a:p>
            <a:r>
              <a:rPr lang="id-ID" dirty="0"/>
              <a:t>Ketiga, elastisitas harga properti, minus 0,429, yang kami ambil dari model NPL Prospera.</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ketiga membahas satellite model dan transmisi: bagaimana variabel makro diteruskan ke NPL, provisi, dan nilai surat berharga.</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adalah peta transmisi: setiap variabel makro masuk ke bank lewat jalur apa, dan apa dampaknya di skenario adverse.</a:t>
            </a:r>
          </a:p>
          <a:p>
            <a:r>
              <a:rPr lang="id-ID" dirty="0"/>
              <a:t>GDP riil yang melambat menurunkan pendapatan debitur, dengan jeda satu sampai empat kuartal, sehingga NPL dan provisi naik.</a:t>
            </a:r>
          </a:p>
          <a:p>
            <a:r>
              <a:rPr lang="id-ID" dirty="0"/>
              <a:t>Harga properti yang turun menekan nilai agunan dan debitur KPR serta konstruksi. Ini penyumbang terbesar kenaikan NPL, sekitar 60%.</a:t>
            </a:r>
          </a:p>
          <a:p>
            <a:r>
              <a:rPr lang="id-ID" dirty="0"/>
              <a:t>BI rate yang naik membuat biaya dana naik cepat, sekitar 69% dari kenaikan BI rate, sementara bunga kredit hanya naik sekitar 15%. Akibatnya margin tertekan; di Adverse 2 bunga bersih turun 3,5% modal.</a:t>
            </a:r>
          </a:p>
          <a:p>
            <a:r>
              <a:rPr lang="id-ID" dirty="0"/>
              <a:t>UST, kurs, dan BI rate bersama-sama mendorong yield SBN naik 2,3 poin di Adverse 2, yang menghasilkan rugi mark-to-market 3,4% modal.</a:t>
            </a:r>
          </a:p>
          <a:p>
            <a:r>
              <a:rPr lang="id-ID" dirty="0"/>
              <a:t>GDP nominal menentukan pertumbuhan neraca dan RWA. Karena inflasi naik, RWA tetap tumbuh sekitar 8% walaupun ekonomi riil melambat.</a:t>
            </a:r>
          </a:p>
          <a:p>
            <a:r>
              <a:rPr lang="id-ID" dirty="0"/>
              <a:t>Satu catatan: inflasi tidak langsung memengaruhi NPL di model kita; pengaruhnya lewat GDP nominal.</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kanal kredit lebih rinci, dimulai dari bagaimana NPL bergerak.</a:t>
            </a:r>
          </a:p>
          <a:p>
            <a:r>
              <a:rPr lang="id-ID" dirty="0"/>
              <a:t>Pertama, NPL bergerak bertahap. Sekitar dua pertiga NPL kuartal lalu terbawa ke kuartal ini, jadi NPL tidak melompat, dan tiap bank perlahan kembali ke tingkat normalnya.</a:t>
            </a:r>
          </a:p>
          <a:p>
            <a:r>
              <a:rPr lang="id-ID" dirty="0"/>
              <a:t>Kedua, kalau GDP melambat, NPL naik dengan jeda satu sampai empat kuartal, karena debitur butuh waktu sebelum benar-benar gagal bayar. Dalam jangka panjang, GDP turun 1 poin menaikkan NPL sekitar 0,12 poin.</a:t>
            </a:r>
          </a:p>
          <a:p>
            <a:r>
              <a:rPr lang="id-ID" dirty="0"/>
              <a:t>Ketiga, BI rate. Kenaikan BI rate memang menambah beban bunga debitur, tapi di data Indonesia pengaruhnya ke NPL hampir tidak terlihat. Dampak suku bunga jauh lebih besar lewat margin bunga dan harga obligasi.</a:t>
            </a:r>
          </a:p>
          <a:p>
            <a:r>
              <a:rPr lang="id-ID" dirty="0"/>
              <a:t>Keempat, harga properti. Penurunan harga properti 1% per kuartal selama setahun menaikkan NPL sekitar 0,43 poin. Elastisitas ini judgment dari model Prospera.</a:t>
            </a:r>
          </a:p>
          <a:p>
            <a:r>
              <a:rPr lang="id-ID" dirty="0"/>
              <a:t>Rincian regresi dan uji statistiknya ada di Lampiran A kalau Bapak Ibu ingin melihat.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Tabel ini memecah kenaikan NPL di skenario adverse, dibandingkan baseline, menurut sumbernya.</a:t>
            </a:r>
          </a:p>
          <a:p>
            <a:r>
              <a:rPr lang="id-ID" dirty="0"/>
              <a:t>Di akhir horizon, NPL industri di Adverse 2 lebih tinggi 0,81 poin dari baseline, yaitu 3,06% dibanding 2,25%. Dari 0,81 itu, 0,51 berasal dari komponen harga properti, GDP menyumbang 0,16, dan BI rate 0,13. Polanya sama di Adverse 1: total 0,40, dan properti 0,25.</a:t>
            </a:r>
          </a:p>
          <a:p>
            <a:r>
              <a:rPr lang="id-ID" dirty="0"/>
              <a:t>Jadi sekitar 60% kenaikan NPL datang dari harga properti. Ini juga yang membuat elastisitas properti menjadi salah satu asumsi paling sensitif.</a:t>
            </a:r>
          </a:p>
          <a:p>
            <a:r>
              <a:rPr lang="id-ID" dirty="0"/>
              <a:t>Perlu dicatat juga, efek makro baru terasa satu kuartal kemudian karena model memakai lag, sehingga di kuartal pertama, 2026Q3, selisihnya masih nol, dan kenaikannya makin besar menjelang akhir horizon.</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Dari NPL kita lanjut ke biaya kredit atau provisi. Di Adverse 2, biaya kredit naik dari 0,21% ke 0,72% kredit per kuartal di akhir horizon, sekitar 3,4 kali baseline.</a:t>
            </a:r>
          </a:p>
          <a:p>
            <a:r>
              <a:rPr lang="id-ID" dirty="0"/>
              <a:t>Komponen pertama, biaya kredit dasar 0,19%, sengaja kami tahan tetap. Ini tingkat provisi normal tiap bank, jadi jangkarnya.</a:t>
            </a:r>
          </a:p>
          <a:p>
            <a:r>
              <a:rPr lang="id-ID" dirty="0"/>
              <a:t>Komponen kedua, respons terhadap kenaikan NPL, menambah 0,11 poin.</a:t>
            </a:r>
          </a:p>
          <a:p>
            <a:r>
              <a:rPr lang="id-ID" dirty="0"/>
              <a:t>Komponen ketiga, dan yang terbesar, adalah overlay stres, 0,42 poin. Overlay ini adalah tambahan cadangan yang dibentuk bank ketika ekonomi berada di bawah baseline, bahkan sebelum NPL benar-benar naik. Ini sejalan dengan prinsip ECL yang forward-looking di PSAK 71.</a:t>
            </a:r>
          </a:p>
          <a:p>
            <a:r>
              <a:rPr lang="id-ID" dirty="0"/>
              <a:t>Koefisien overlay 0,03 dikalibrasi supaya credit loss di Adverse 2 setara dengan puncak provisi empat kuartal yang pernah terjadi di data, yaitu sekitar 2021Q1. Kalau biaya kredit dasar juga ikut dinaikkan, guncangan yang sama akan terhitung dua kali, jadi itu yang kami hindari.</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Kanal ketiga adalah kanal pasar, yaitu dampak kenaikan yield SBN terhadap nilai surat berharga yang dipegang bank.</a:t>
            </a:r>
          </a:p>
          <a:p>
            <a:r>
              <a:rPr lang="id-ID" dirty="0"/>
              <a:t>Di Adverse 2, yield SBN 10 tahun naik dari 7,16% ke 9,45%, atau 2,3 poin, didorong oleh yield AS, BI rate, dan pelemahan rupiah. Dengan durasi 5 tahun, harga obligasi turun sekitar 11,5%.</a:t>
            </a:r>
          </a:p>
          <a:p>
            <a:r>
              <a:rPr lang="id-ID" dirty="0"/>
              <a:t>Eksposur yang direvaluasi hanya surat berharga FVTPL dan FVOCI, dan hanya porsi SBN-nya. SRBI, sekitar 36%, dimiliki sampai jatuh tempo sehingga tidak direvaluasi. Jadi sekitar 64% portofolio nilai wajar yang terkena.</a:t>
            </a:r>
          </a:p>
          <a:p>
            <a:r>
              <a:rPr lang="id-ID" dirty="0"/>
              <a:t>Dari sisi akuntansi, rugi FVTPL masuk ke laba, sebesar 1,6% modal, dan ikut mengurangi pajak. Rugi FVOCI langsung mengurangi modal lewat OCI, sebesar 1,7% modal. Totalnya 3,4% modal industri, dan kerugian ini terkonsentrasi di bank dengan porsi surat berharga besar seperti BINA dan BCIC.</a:t>
            </a:r>
          </a:p>
          <a:p>
            <a:r>
              <a:rPr lang="id-ID" dirty="0"/>
              <a:t>Sebagai pembanding, di baseline yield SBN justru turun, jadi bank mencatat keuntungan revaluasi sekitar 0,5% modal. Risiko kurs langsung lewat posisi devisa neto belum kami modelkan.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Bagian keempat adalah estimasi akuntansi: komponen-komponen yang dihitung dengan rule dan identitas akuntansi, terutama transmisi BI rate ke bunga, dan bagaimana semuanya bermuara di jembatan CAR.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Selain NPL dan provisi, komponen lain tidak memakai regresi, tapi rule dan identitas akuntansi. Tujuannya supaya hasilnya transparan dan mudah ditelusuri.</a:t>
            </a:r>
          </a:p>
          <a:p>
            <a:r>
              <a:rPr lang="id-ID" dirty="0"/>
              <a:t>Aset, kredit, deposito, dan RWA tumbuh mengikuti GDP nominal, dengan rasio kredit dan deposito terhadap aset tetap seperti posisi 2026Q2.</a:t>
            </a:r>
          </a:p>
          <a:p>
            <a:r>
              <a:rPr lang="id-ID" dirty="0"/>
              <a:t>Bunga kredit dan dana bergerak dari rata-rata empat kuartal terakhir ditambah beta dikali perubahan BI rate. Pendapatan dan biaya nonbunga memakai rasio terhadap aset. Kerugian surat berharga dihitung dari eksposur porsi SBN dikali minus durasi dikali perubahan yield.</a:t>
            </a:r>
          </a:p>
          <a:p>
            <a:r>
              <a:rPr lang="id-ID" dirty="0"/>
              <a:t>Laba, modal, dan CAR murni identitas akuntansi, seperti yang sudah saya jelaskan di langkah delapan sampai sepuluh.</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Slide ini menjelaskan dasar angka transmisi BI rate, yang menjadi sumber tekanan kedua setelah risiko kredit.</a:t>
            </a:r>
          </a:p>
          <a:p>
            <a:r>
              <a:rPr lang="id-ID" dirty="0"/>
              <a:t>Beta di sini adalah perubahan suku bunga produk dibagi kenaikan BI rate, dirata-rata dari tiga episode kenaikan: 2018–19, 2022–24, dan 2026.</a:t>
            </a:r>
          </a:p>
          <a:p>
            <a:r>
              <a:rPr lang="id-ID" dirty="0"/>
              <a:t>Di sisi dana, deposito satu bulan merespons 0,694, sementara tabungan hampir tidak bergerak. Di sisi kredit, transmisinya jauh lebih lambat: modal kerja 0,144, investasi 0,194, konsumsi 0,091. Ditimbang dengan komposisi kredit, beta kredit 0,145.</a:t>
            </a:r>
          </a:p>
          <a:p>
            <a:r>
              <a:rPr lang="id-ID" dirty="0"/>
              <a:t>Untuk beta dana, kami sengaja memakai transmisi deposito untuk seluruh dana, jadi ini batas atas tekanan margin. Kalau giro dianggap bergerak setengah dari deposito, beta dana sekitar 0,37.</a:t>
            </a:r>
          </a:p>
          <a:p>
            <a:r>
              <a:rPr lang="id-ID" dirty="0"/>
              <a:t>Dampaknya di tabel kanan: di Adverse 2, pendapatan bunga hanya bertambah 0,86% modal, sementara beban bunga bertambah 4,36%. Jadi bunga bersih turun 3,5% modal. Di Adverse 1 turunnya 1,56%.</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Jembatan CAR ini merangkum semua komponen dan menunjukkan apa yang membuat hasil antarskenario berbeda. Semua dinyatakan dalam poin CAR terhadap RWA awal.</a:t>
            </a:r>
          </a:p>
          <a:p>
            <a:r>
              <a:rPr lang="id-ID" dirty="0"/>
              <a:t>Semua skenario mulai dari CAR 22,53%. Laba operasional sebelum provisi menambah 5,7 poin di baseline, tapi hanya 4,9 poin di Adverse 2, karena biaya dana naik lebih cepat dari bunga kredit.</a:t>
            </a:r>
          </a:p>
          <a:p>
            <a:r>
              <a:rPr lang="id-ID" dirty="0"/>
              <a:t>Provisi mengurangi 1,1 poin di baseline dan 2,3 poin di Adverse 2. Surat berharga FVTPL dan FVOCI masing-masing mengurangi sekitar 0,4 poin di Adverse 2, padahal di baseline justru sedikit positif.</a:t>
            </a:r>
          </a:p>
          <a:p>
            <a:r>
              <a:rPr lang="id-ID" dirty="0"/>
              <a:t>Pajak dan dividen ikut turun ketika laba turun, sehingga meredam sebagian kerugian. Efek pertumbuhan RWA sekitar 8% mengurangi CAR 1,7 sampai 1,9 poin di semua skenario.</a:t>
            </a:r>
          </a:p>
          <a:p>
            <a:r>
              <a:rPr lang="id-ID" dirty="0"/>
              <a:t>Hasil akhirnya, CAR 2027Q2 adalah 22,5% di baseline, 21,9% di Adverse 1, dan 21,1% di Adverse 2. Jadi yang membedakan skenario adalah tiga hal: provisi, margin bunga, dan surat berharga.</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Sekarang bagian terakhir dan yang paling penting, hasil stress test. Saya mulai dari level industri, lalu turun ke kelompok KBMI, Himbara, dan bank individual.</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Hasil utama di level industri: CAR tetap jauh di atas 8% di semua skenario.</a:t>
            </a:r>
          </a:p>
          <a:p>
            <a:r>
              <a:rPr lang="id-ID" dirty="0"/>
              <a:t>Dari posisi awal 22,53%, CAR di akhir horizon 22,53% di baseline, 21,87% di Adverse 1, dan 21,14% di Adverse 2. Tier 1 bergerak sejajar, dari 21,4% ke 20,0% di Adverse 2.</a:t>
            </a:r>
          </a:p>
          <a:p>
            <a:r>
              <a:rPr lang="id-ID" dirty="0"/>
              <a:t>NPL naik dari 2,10% ke 3,06% di Adverse 2. Credit loss naik dari 4,7% modal di baseline ke 10,3% di Adverse 2, dan market loss 3,4% modal. Di baseline market loss-nya negatif, artinya untung revaluasi karena yield turun.</a:t>
            </a:r>
          </a:p>
          <a:p>
            <a:r>
              <a:rPr lang="id-ID" dirty="0"/>
              <a:t>Yang penting, laba bersih empat kuartal tetap positif, 7,2% modal bahkan di Adverse 2, jadi secara agregat laba masih menyerap seluruh kerugian.</a:t>
            </a:r>
          </a:p>
          <a:p>
            <a:r>
              <a:rPr lang="id-ID" dirty="0"/>
              <a:t>Tidak ada bank yang gagal di baseline maupun Adverse 1. Di Adverse 2 ada dua bank, yang akan saya bahas sebentar lagi.</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Grafik ini menunjukkan jalur per kuartalnya. Garis putus-putus adalah data aktual terakhir, 2026Q2.</a:t>
            </a:r>
          </a:p>
          <a:p>
            <a:r>
              <a:rPr lang="id-ID" dirty="0"/>
              <a:t>Di kiri, CAR industri turun bertahap, tidak tiba-tiba. Di baseline relatif datar, sementara di Adverse 1 dan Adverse 2 turun pelan sampai sekitar 21,9% dan 21,1% di akhir horizon.</a:t>
            </a:r>
          </a:p>
          <a:p>
            <a:r>
              <a:rPr lang="id-ID" dirty="0"/>
              <a:t>Di kanan, NPL industri. Kenaikan paling tajam terjadi di Adverse 2, terutama di paruh kedua horizon, saat koreksi harga properti mulai terasa lewat lag. Di akhir horizon NPL mencapai sekitar 3,1%.</a:t>
            </a:r>
          </a:p>
          <a:p>
            <a:r>
              <a:rPr lang="id-ID" dirty="0"/>
              <a:t>Pesan dari slide ini: tekanan terhadap modal datang secara bertahap, dan masih terus berjalan di akhir horizon. Ini salah satu alasan kami mengusulkan horizon diperpanjang.</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kiri adalah komposisi kerugian per kuartal, sebagai persen kredit. Terlihat jelas bahwa kerugian didominasi risiko kredit, yaitu provisi. Kerugian surat berharga ada, tapi porsinya jauh lebih kecil.</a:t>
            </a:r>
          </a:p>
          <a:p>
            <a:r>
              <a:rPr lang="id-ID" dirty="0"/>
              <a:t>Di kanan adalah ROA disetahunkan. Di baseline ROA bertahan sekitar 2,1%. Di Adverse 1 turun ke 1,3%, dan di Adverse 2 turun ke 0,2% pada 2027Q2.</a:t>
            </a:r>
          </a:p>
          <a:p>
            <a:r>
              <a:rPr lang="id-ID" dirty="0"/>
              <a:t>Jadi walaupun laba tergerus cukup dalam di Adverse 2, laba industri tetap positif di semua skenario. Artinya, secara agregat bank masih bisa menyerap kerugian dari laba berjalan tanpa harus memakan modal.</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Kalau dipecah per KBMI, gambarnya lebih bervariasi.</a:t>
            </a:r>
          </a:p>
          <a:p>
            <a:r>
              <a:rPr lang="id-ID" dirty="0"/>
              <a:t>KBMI 2, yang terdiri dari delapan bank, adalah kelompok yang paling tertekan. Kelompok ini merugi 7% modal selama empat kuartal di Adverse 2, dan CAR-nya turun dari 21,0% ke 16,6%.</a:t>
            </a:r>
          </a:p>
          <a:p>
            <a:r>
              <a:rPr lang="id-ID" dirty="0"/>
              <a:t>KBMI 1 juga merugi, 3,6% modal, tapi karena CAR awalnya sangat tinggi, 33,7%, CAR akhirnya masih 27,1%.</a:t>
            </a:r>
          </a:p>
          <a:p>
            <a:r>
              <a:rPr lang="id-ID" dirty="0"/>
              <a:t>KBMI 3 masih mencatat laba tipis, 1,8% modal, dengan CAR turun dari 25,2% ke 22,8%.</a:t>
            </a:r>
          </a:p>
          <a:p>
            <a:r>
              <a:rPr lang="id-ID" dirty="0"/>
              <a:t>Sebaliknya, KBMI 4, yaitu empat bank terbesar, tetap mencetak laba besar, 12,1% modal, sehingga CAR-nya hampir tidak turun, dari 21,0% ke 20,6%.</a:t>
            </a:r>
          </a:p>
          <a:p>
            <a:r>
              <a:rPr lang="id-ID" dirty="0"/>
              <a:t>Jadi tekanan lebih terasa di bank menengah dan kecil, bukan di bank besar yang mendominasi sistem.</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Perbandingan Himbara dan non-Himbara di Adverse 2. Himbara di sini adalah BRI, Mandiri, BNI, BTN, dan BSI, yang kami masukkan lewat induknya.</a:t>
            </a:r>
          </a:p>
          <a:p>
            <a:r>
              <a:rPr lang="id-ID" dirty="0"/>
              <a:t>Menariknya, CAR awal Himbara lebih rendah, 19,4% dibanding 26,8% di non-Himbara. Credit loss Himbara juga lebih tinggi, 12,3% modal dibanding 8,3%.</a:t>
            </a:r>
          </a:p>
          <a:p>
            <a:r>
              <a:rPr lang="id-ID" dirty="0"/>
              <a:t>Tapi CAR Himbara hanya turun 0,7 poin, ke 18,8%, sementara non-Himbara turun 2,4 poin, ke 24,4%.</a:t>
            </a:r>
          </a:p>
          <a:p>
            <a:r>
              <a:rPr lang="id-ID" dirty="0"/>
              <a:t>Kuncinya ada di laba. Himbara mencetak laba 9,9% modal, dua kali lipat non-Himbara yang 4,6%, sehingga laba itu cukup menyerap credit loss yang lebih besar. Market loss Himbara juga lebih kecil, 2,6% dibanding 4,2%.</a:t>
            </a:r>
          </a:p>
          <a:p>
            <a:r>
              <a:rPr lang="id-ID" dirty="0"/>
              <a:t>NPL akhir kedua kelompok sama, 3,1%. Dan kedua bank yang gagal berada di kelompok non-Himbara.</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Di level bank individual, ada dua bank yang CAR-nya jatuh di bawah 8% di Adverse 2, yaitu BINA dan BCIC.</a:t>
            </a:r>
          </a:p>
          <a:p>
            <a:r>
              <a:rPr lang="id-ID" dirty="0"/>
              <a:t>BINA mulai dari CAR 15,3% dan turun ke titik terendah 4,3%. BCIC dari 14,5% ke 4,5%. Di Adverse 1 keduanya masih di atas 8%, sekitar 9 sampai 10%.</a:t>
            </a:r>
          </a:p>
          <a:p>
            <a:r>
              <a:rPr lang="id-ID" dirty="0"/>
              <a:t>Penyebab keduanya sama, yaitu kerugian mark-to-market surat berharga. Kedua bank ini melaporkan surat berharga nilai wajar 6 sampai 7 kali modalnya, padahal rata-rata industri hanya 0,7 kali. Jadi kenaikan yield SBN langsung memukul modal mereka.</a:t>
            </a:r>
          </a:p>
          <a:p>
            <a:r>
              <a:rPr lang="id-ID" dirty="0"/>
              <a:t>Namun angka eksposur ini tidak lazim, sehingga perlu kami verifikasi ke laporan keuangan sebelum disimpulkan. Bisa jadi ada masalah klasifikasi atau skala data.</a:t>
            </a:r>
          </a:p>
          <a:p>
            <a:r>
              <a:rPr lang="id-ID" dirty="0"/>
              <a:t>Dua bank lain perlu dipantau. MAYA turun ke 8,8%, terutama karena CAR awalnya sudah tipis, 11,1%. BBKP turun ke 9,7%, dengan penyebab utama risiko kredit.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id-ID" dirty="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Untuk menutup, ada empat kesimpulan dan tindak lanjut.</a:t>
            </a:r>
          </a:p>
          <a:p>
            <a:r>
              <a:rPr lang="id-ID" dirty="0"/>
              <a:t>Pertama, sistem perbankan tahan terhadap skenario berat. CAR industri tetap di atas 21%, dan tidak ada bank besar yang mendekati batas minimum.</a:t>
            </a:r>
          </a:p>
          <a:p>
            <a:r>
              <a:rPr lang="id-ID" dirty="0"/>
              <a:t>Kedua, risiko kredit adalah kanal utama, sekitar 75% dari total kerugian. Margin bunga tertekan ketika BI rate naik, dan kerugian mark-to-market terkonsentrasi di bank dengan porsi surat berharga besar.</a:t>
            </a:r>
          </a:p>
          <a:p>
            <a:r>
              <a:rPr lang="id-ID" dirty="0"/>
              <a:t>Ketiga, hasil ini sensitif terhadap tiga asumsi judgment: overlay provisi yang kami pakai 0,03 sementara estimasi data sekitar 0,02, elastisitas harga properti, dan transmisi biaya dana 0,694 yang merupakan batas atas. Ketiganya memengaruhi NPL, credit loss, dan bunga bersih.</a:t>
            </a:r>
          </a:p>
          <a:p>
            <a:r>
              <a:rPr lang="id-ID" dirty="0"/>
              <a:t>Keempat, tindak lanjut yang kami usulkan: verifikasi data surat berharga BINA dan BCIC, memperbaiki bias model NPL, dan memperpanjang horizon ke 6 sampai 8 kuartal.</a:t>
            </a:r>
          </a:p>
          <a:p>
            <a:r>
              <a:rPr lang="id-ID" dirty="0"/>
              <a:t>Jadi pesan utamanya: tidak ada risiko solvabilitas sistemik. Perhatian perlu difokuskan pada bank kecil dengan eksposur surat berharga besar, dan pada kelompok KBMI 2.</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id-ID" dirty="0"/>
              <a:t>Terima kasih. Saya buka untuk diskusi dan pertanyaan, terutama soal tiga asumsi judgment dan tindak lanjut verifikasi data BINA dan BCIC.</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38</a:t>
            </a:fld>
            <a:endParaRPr lang="en-US"/>
          </a:p>
        </p:txBody>
      </p:sp>
    </p:spTree>
    <p:extLst>
      <p:ext uri="{BB962C8B-B14F-4D97-AF65-F5344CB8AC3E}">
        <p14:creationId xmlns:p14="http://schemas.microsoft.com/office/powerpoint/2010/main" val="40280552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39</a:t>
            </a:fld>
            <a:endParaRPr lang="en-US"/>
          </a:p>
        </p:txBody>
      </p:sp>
    </p:spTree>
    <p:extLst>
      <p:ext uri="{BB962C8B-B14F-4D97-AF65-F5344CB8AC3E}">
        <p14:creationId xmlns:p14="http://schemas.microsoft.com/office/powerpoint/2010/main" val="362796290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40</a:t>
            </a:fld>
            <a:endParaRPr lang="en-US"/>
          </a:p>
        </p:txBody>
      </p:sp>
    </p:spTree>
    <p:extLst>
      <p:ext uri="{BB962C8B-B14F-4D97-AF65-F5344CB8AC3E}">
        <p14:creationId xmlns:p14="http://schemas.microsoft.com/office/powerpoint/2010/main" val="49145767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41</a:t>
            </a:fld>
            <a:endParaRPr lang="en-US"/>
          </a:p>
        </p:txBody>
      </p:sp>
    </p:spTree>
    <p:extLst>
      <p:ext uri="{BB962C8B-B14F-4D97-AF65-F5344CB8AC3E}">
        <p14:creationId xmlns:p14="http://schemas.microsoft.com/office/powerpoint/2010/main" val="3367071387"/>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42</a:t>
            </a:fld>
            <a:endParaRPr lang="en-US"/>
          </a:p>
        </p:txBody>
      </p:sp>
    </p:spTree>
    <p:extLst>
      <p:ext uri="{BB962C8B-B14F-4D97-AF65-F5344CB8AC3E}">
        <p14:creationId xmlns:p14="http://schemas.microsoft.com/office/powerpoint/2010/main" val="2582732212"/>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43</a:t>
            </a:fld>
            <a:endParaRPr lang="en-US"/>
          </a:p>
        </p:txBody>
      </p:sp>
    </p:spTree>
    <p:extLst>
      <p:ext uri="{BB962C8B-B14F-4D97-AF65-F5344CB8AC3E}">
        <p14:creationId xmlns:p14="http://schemas.microsoft.com/office/powerpoint/2010/main" val="175232993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44</a:t>
            </a:fld>
            <a:endParaRPr lang="en-US"/>
          </a:p>
        </p:txBody>
      </p:sp>
    </p:spTree>
    <p:extLst>
      <p:ext uri="{BB962C8B-B14F-4D97-AF65-F5344CB8AC3E}">
        <p14:creationId xmlns:p14="http://schemas.microsoft.com/office/powerpoint/2010/main" val="189459404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45</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46</a:t>
            </a:fld>
            <a:endParaRPr lang="en-US"/>
          </a:p>
        </p:txBody>
      </p:sp>
    </p:spTree>
    <p:extLst>
      <p:ext uri="{BB962C8B-B14F-4D97-AF65-F5344CB8AC3E}">
        <p14:creationId xmlns:p14="http://schemas.microsoft.com/office/powerpoint/2010/main" val="2965020712"/>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47</a:t>
            </a:fld>
            <a:endParaRPr lang="en-US"/>
          </a:p>
        </p:txBody>
      </p:sp>
    </p:spTree>
    <p:extLst>
      <p:ext uri="{BB962C8B-B14F-4D97-AF65-F5344CB8AC3E}">
        <p14:creationId xmlns:p14="http://schemas.microsoft.com/office/powerpoint/2010/main" val="256219420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48</a:t>
            </a:fld>
            <a:endParaRPr lang="en-US"/>
          </a:p>
        </p:txBody>
      </p:sp>
    </p:spTree>
    <p:extLst>
      <p:ext uri="{BB962C8B-B14F-4D97-AF65-F5344CB8AC3E}">
        <p14:creationId xmlns:p14="http://schemas.microsoft.com/office/powerpoint/2010/main" val="400779395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49</a:t>
            </a:fld>
            <a:endParaRPr lang="en-US"/>
          </a:p>
        </p:txBody>
      </p:sp>
    </p:spTree>
    <p:extLst>
      <p:ext uri="{BB962C8B-B14F-4D97-AF65-F5344CB8AC3E}">
        <p14:creationId xmlns:p14="http://schemas.microsoft.com/office/powerpoint/2010/main" val="381701567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D"/>
          </a:p>
        </p:txBody>
      </p:sp>
      <p:sp>
        <p:nvSpPr>
          <p:cNvPr id="4" name="Slide Number Placeholder 3"/>
          <p:cNvSpPr>
            <a:spLocks noGrp="1"/>
          </p:cNvSpPr>
          <p:nvPr>
            <p:ph type="sldNum" sz="quarter" idx="5"/>
          </p:nvPr>
        </p:nvSpPr>
        <p:spPr/>
        <p:txBody>
          <a:bodyPr/>
          <a:lstStyle/>
          <a:p>
            <a:fld id="{5135EE8F-5140-E743-B68C-BA749EB3B7FF}" type="slidenum">
              <a:rPr lang="en-US" smtClean="0"/>
              <a:t>50</a:t>
            </a:fld>
            <a:endParaRPr lang="en-US"/>
          </a:p>
        </p:txBody>
      </p:sp>
    </p:spTree>
    <p:extLst>
      <p:ext uri="{BB962C8B-B14F-4D97-AF65-F5344CB8AC3E}">
        <p14:creationId xmlns:p14="http://schemas.microsoft.com/office/powerpoint/2010/main" val="10702958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5.pn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Master" Target="../slideMasters/slideMaster1.xml"/><Relationship Id="rId4" Type="http://schemas.openxmlformats.org/officeDocument/2006/relationships/image" Target="../media/image9.png"/></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e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9887647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85363668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10975558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80099835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18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6170663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1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17865020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427630313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19402808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1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General (Ret.)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Chairman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a:extLst>
              <a:ext uri="{FF2B5EF4-FFF2-40B4-BE49-F238E27FC236}">
                <a16:creationId xmlns:a16="http://schemas.microsoft.com/office/drawing/2014/main" id="{5314E31C-57C8-D551-A268-F7DA569780DE}"/>
              </a:ext>
            </a:extLst>
          </p:cNvPr>
          <p:cNvPicPr>
            <a:picLocks noChangeAspect="1"/>
          </p:cNvPicPr>
          <p:nvPr/>
        </p:nvPicPr>
        <p:blipFill>
          <a:blip r:embed="rId4"/>
          <a:stretch>
            <a:fillRect/>
          </a:stretch>
        </p:blipFill>
        <p:spPr>
          <a:xfrm>
            <a:off x="5688340" y="919925"/>
            <a:ext cx="827327" cy="827327"/>
          </a:xfrm>
          <a:prstGeom prst="ellipse">
            <a:avLst/>
          </a:prstGeom>
        </p:spPr>
      </p:pic>
    </p:spTree>
    <p:extLst>
      <p:ext uri="{BB962C8B-B14F-4D97-AF65-F5344CB8AC3E}">
        <p14:creationId xmlns:p14="http://schemas.microsoft.com/office/powerpoint/2010/main" val="8234844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1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71584" y="480468"/>
            <a:ext cx="932765" cy="932765"/>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486104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1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4AC5AEFB-B85E-E2E4-A0E4-13A4A823720A}"/>
              </a:ext>
            </a:extLst>
          </p:cNvPr>
          <p:cNvPicPr>
            <a:picLocks noChangeAspect="1"/>
          </p:cNvPicPr>
          <p:nvPr/>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397678479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1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7" name="Picture 6" descr="A white circle with a gold eagle and black text&#10;&#10;Description automatically generated">
            <a:extLst>
              <a:ext uri="{FF2B5EF4-FFF2-40B4-BE49-F238E27FC236}">
                <a16:creationId xmlns:a16="http://schemas.microsoft.com/office/drawing/2014/main" id="{50DCDCFF-84DC-BC15-F045-FEB42C34507C}"/>
              </a:ext>
            </a:extLst>
          </p:cNvPr>
          <p:cNvPicPr>
            <a:picLocks noChangeAspect="1"/>
          </p:cNvPicPr>
          <p:nvPr/>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2990965288"/>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1_Content (Blank)">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6" y="339868"/>
            <a:ext cx="10440000" cy="632465"/>
          </a:xfrm>
          <a:prstGeom prst="rect">
            <a:avLst/>
          </a:prstGeom>
        </p:spPr>
        <p:txBody>
          <a:bodyPr>
            <a:normAutofit/>
          </a:bodyPr>
          <a:lstStyle>
            <a:lvl1pPr>
              <a:defRPr sz="2000" b="1">
                <a:solidFill>
                  <a:srgbClr val="004D25"/>
                </a:solidFill>
                <a:latin typeface="Arial Nova" panose="020B05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rgbClr val="004D25"/>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13" name="Picture 2" descr="green-green Color Palette">
            <a:extLst>
              <a:ext uri="{FF2B5EF4-FFF2-40B4-BE49-F238E27FC236}">
                <a16:creationId xmlns:a16="http://schemas.microsoft.com/office/drawing/2014/main" id="{3C463DAF-48BF-4A94-B2C8-C67E288A80E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25240" y="4145"/>
            <a:ext cx="1451531" cy="2397610"/>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descr="Palitra on Twitter | Green color pallete, Green palette, Green colour  palette">
            <a:extLst>
              <a:ext uri="{FF2B5EF4-FFF2-40B4-BE49-F238E27FC236}">
                <a16:creationId xmlns:a16="http://schemas.microsoft.com/office/drawing/2014/main" id="{F7DFD0EB-FDFA-4553-9D6C-A573C5CF37D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5240" y="2405182"/>
            <a:ext cx="1451531" cy="2400804"/>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oup 10">
            <a:extLst>
              <a:ext uri="{FF2B5EF4-FFF2-40B4-BE49-F238E27FC236}">
                <a16:creationId xmlns:a16="http://schemas.microsoft.com/office/drawing/2014/main" id="{CD8293D4-9FFF-44B4-A118-CA52867107CE}"/>
              </a:ext>
            </a:extLst>
          </p:cNvPr>
          <p:cNvGrpSpPr/>
          <p:nvPr/>
        </p:nvGrpSpPr>
        <p:grpSpPr>
          <a:xfrm rot="5400000">
            <a:off x="10427562" y="1910941"/>
            <a:ext cx="4330700" cy="508817"/>
            <a:chOff x="-1047750" y="1733550"/>
            <a:chExt cx="4330700" cy="1695450"/>
          </a:xfrm>
        </p:grpSpPr>
        <p:sp>
          <p:nvSpPr>
            <p:cNvPr id="14" name="Rectangle 13">
              <a:extLst>
                <a:ext uri="{FF2B5EF4-FFF2-40B4-BE49-F238E27FC236}">
                  <a16:creationId xmlns:a16="http://schemas.microsoft.com/office/drawing/2014/main" id="{95202A99-D516-47F9-B6F8-8904D0CDC552}"/>
                </a:ext>
              </a:extLst>
            </p:cNvPr>
            <p:cNvSpPr/>
            <p:nvPr/>
          </p:nvSpPr>
          <p:spPr>
            <a:xfrm>
              <a:off x="-1047750" y="1733550"/>
              <a:ext cx="514350" cy="1695450"/>
            </a:xfrm>
            <a:prstGeom prst="rect">
              <a:avLst/>
            </a:prstGeom>
            <a:solidFill>
              <a:srgbClr val="53676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6" name="Rectangle 15">
              <a:extLst>
                <a:ext uri="{FF2B5EF4-FFF2-40B4-BE49-F238E27FC236}">
                  <a16:creationId xmlns:a16="http://schemas.microsoft.com/office/drawing/2014/main" id="{7C96E9C4-D1E5-410D-9B86-CF8CF88091C2}"/>
                </a:ext>
              </a:extLst>
            </p:cNvPr>
            <p:cNvSpPr/>
            <p:nvPr/>
          </p:nvSpPr>
          <p:spPr>
            <a:xfrm>
              <a:off x="383382" y="1733550"/>
              <a:ext cx="514350" cy="1695450"/>
            </a:xfrm>
            <a:prstGeom prst="rect">
              <a:avLst/>
            </a:prstGeom>
            <a:solidFill>
              <a:srgbClr val="A28F7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18" name="Rectangle 17">
              <a:extLst>
                <a:ext uri="{FF2B5EF4-FFF2-40B4-BE49-F238E27FC236}">
                  <a16:creationId xmlns:a16="http://schemas.microsoft.com/office/drawing/2014/main" id="{5288B7E2-3352-4790-A608-69C7707BCF1A}"/>
                </a:ext>
              </a:extLst>
            </p:cNvPr>
            <p:cNvSpPr/>
            <p:nvPr/>
          </p:nvSpPr>
          <p:spPr>
            <a:xfrm>
              <a:off x="1814514" y="1733550"/>
              <a:ext cx="514350" cy="1695450"/>
            </a:xfrm>
            <a:prstGeom prst="rect">
              <a:avLst/>
            </a:prstGeom>
            <a:solidFill>
              <a:srgbClr val="87868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0" name="Rectangle 19">
              <a:extLst>
                <a:ext uri="{FF2B5EF4-FFF2-40B4-BE49-F238E27FC236}">
                  <a16:creationId xmlns:a16="http://schemas.microsoft.com/office/drawing/2014/main" id="{7DD1628A-37C7-453B-BDB8-4A7C1AC4CD4C}"/>
                </a:ext>
              </a:extLst>
            </p:cNvPr>
            <p:cNvSpPr/>
            <p:nvPr/>
          </p:nvSpPr>
          <p:spPr>
            <a:xfrm>
              <a:off x="-570706" y="1733550"/>
              <a:ext cx="514350" cy="1695450"/>
            </a:xfrm>
            <a:prstGeom prst="rect">
              <a:avLst/>
            </a:prstGeom>
            <a:solidFill>
              <a:srgbClr val="069B8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1" name="Rectangle 20">
              <a:extLst>
                <a:ext uri="{FF2B5EF4-FFF2-40B4-BE49-F238E27FC236}">
                  <a16:creationId xmlns:a16="http://schemas.microsoft.com/office/drawing/2014/main" id="{16F6EB5B-76B1-495A-AB22-2BEBAE926796}"/>
                </a:ext>
              </a:extLst>
            </p:cNvPr>
            <p:cNvSpPr/>
            <p:nvPr/>
          </p:nvSpPr>
          <p:spPr>
            <a:xfrm>
              <a:off x="860426" y="1733550"/>
              <a:ext cx="514350" cy="1695450"/>
            </a:xfrm>
            <a:prstGeom prst="rect">
              <a:avLst/>
            </a:prstGeom>
            <a:solidFill>
              <a:srgbClr val="ADA75D"/>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2" name="Rectangle 21">
              <a:extLst>
                <a:ext uri="{FF2B5EF4-FFF2-40B4-BE49-F238E27FC236}">
                  <a16:creationId xmlns:a16="http://schemas.microsoft.com/office/drawing/2014/main" id="{0054F186-6BF3-4FC9-964A-EF8C1D91C862}"/>
                </a:ext>
              </a:extLst>
            </p:cNvPr>
            <p:cNvSpPr/>
            <p:nvPr/>
          </p:nvSpPr>
          <p:spPr>
            <a:xfrm>
              <a:off x="2291558" y="1733550"/>
              <a:ext cx="514350" cy="1695450"/>
            </a:xfrm>
            <a:prstGeom prst="rect">
              <a:avLst/>
            </a:prstGeom>
            <a:solidFill>
              <a:srgbClr val="6D5A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3" name="Rectangle 22">
              <a:extLst>
                <a:ext uri="{FF2B5EF4-FFF2-40B4-BE49-F238E27FC236}">
                  <a16:creationId xmlns:a16="http://schemas.microsoft.com/office/drawing/2014/main" id="{B8E412FC-6188-4284-A98D-2D59FC5AFA7D}"/>
                </a:ext>
              </a:extLst>
            </p:cNvPr>
            <p:cNvSpPr/>
            <p:nvPr/>
          </p:nvSpPr>
          <p:spPr>
            <a:xfrm>
              <a:off x="-93662" y="1733550"/>
              <a:ext cx="514350" cy="1695450"/>
            </a:xfrm>
            <a:prstGeom prst="rect">
              <a:avLst/>
            </a:prstGeom>
            <a:solidFill>
              <a:srgbClr val="004D2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4" name="Rectangle 23">
              <a:extLst>
                <a:ext uri="{FF2B5EF4-FFF2-40B4-BE49-F238E27FC236}">
                  <a16:creationId xmlns:a16="http://schemas.microsoft.com/office/drawing/2014/main" id="{E664F913-3169-4F15-B447-A0CFCB57A6CD}"/>
                </a:ext>
              </a:extLst>
            </p:cNvPr>
            <p:cNvSpPr/>
            <p:nvPr/>
          </p:nvSpPr>
          <p:spPr>
            <a:xfrm>
              <a:off x="1337470" y="1733550"/>
              <a:ext cx="514350" cy="1695450"/>
            </a:xfrm>
            <a:prstGeom prst="rect">
              <a:avLst/>
            </a:prstGeom>
            <a:solidFill>
              <a:srgbClr val="E8CF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sp>
          <p:nvSpPr>
            <p:cNvPr id="25" name="Rectangle 24">
              <a:extLst>
                <a:ext uri="{FF2B5EF4-FFF2-40B4-BE49-F238E27FC236}">
                  <a16:creationId xmlns:a16="http://schemas.microsoft.com/office/drawing/2014/main" id="{DAAEC2D0-6995-47E6-AC0F-0BAC543CAAB3}"/>
                </a:ext>
              </a:extLst>
            </p:cNvPr>
            <p:cNvSpPr/>
            <p:nvPr/>
          </p:nvSpPr>
          <p:spPr>
            <a:xfrm>
              <a:off x="2768600" y="1733550"/>
              <a:ext cx="514350" cy="1695450"/>
            </a:xfrm>
            <a:prstGeom prst="rect">
              <a:avLst/>
            </a:prstGeom>
            <a:solidFill>
              <a:srgbClr val="E24B6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D">
                <a:solidFill>
                  <a:srgbClr val="53676A"/>
                </a:solidFill>
              </a:endParaRPr>
            </a:p>
          </p:txBody>
        </p:sp>
      </p:grpSp>
      <p:pic>
        <p:nvPicPr>
          <p:cNvPr id="2" name="Google Shape;3109;p3">
            <a:extLst>
              <a:ext uri="{FF2B5EF4-FFF2-40B4-BE49-F238E27FC236}">
                <a16:creationId xmlns:a16="http://schemas.microsoft.com/office/drawing/2014/main" id="{9C4F64E8-2544-80FF-F309-F9B43DA7E8C0}"/>
              </a:ext>
            </a:extLst>
          </p:cNvPr>
          <p:cNvPicPr preferRelativeResize="0"/>
          <p:nvPr/>
        </p:nvPicPr>
        <p:blipFill rotWithShape="1">
          <a:blip r:embed="rId4">
            <a:alphaModFix/>
          </a:blip>
          <a:srcRect/>
          <a:stretch/>
        </p:blipFill>
        <p:spPr>
          <a:xfrm>
            <a:off x="11175010" y="263704"/>
            <a:ext cx="744467" cy="744468"/>
          </a:xfrm>
          <a:prstGeom prst="rect">
            <a:avLst/>
          </a:prstGeom>
          <a:noFill/>
          <a:ln>
            <a:noFill/>
          </a:ln>
        </p:spPr>
      </p:pic>
    </p:spTree>
    <p:extLst>
      <p:ext uri="{BB962C8B-B14F-4D97-AF65-F5344CB8AC3E}">
        <p14:creationId xmlns:p14="http://schemas.microsoft.com/office/powerpoint/2010/main" val="388238847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1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pic>
        <p:nvPicPr>
          <p:cNvPr id="8" name="Picture 7" descr="A white circle with a gold eagle and a star&#10;&#10;Description automatically generated">
            <a:extLst>
              <a:ext uri="{FF2B5EF4-FFF2-40B4-BE49-F238E27FC236}">
                <a16:creationId xmlns:a16="http://schemas.microsoft.com/office/drawing/2014/main" id="{0C1BE271-79CB-66D1-5841-930ADB4B1C70}"/>
              </a:ext>
            </a:extLst>
          </p:cNvPr>
          <p:cNvPicPr>
            <a:picLocks noChangeAspect="1"/>
          </p:cNvPicPr>
          <p:nvPr/>
        </p:nvPicPr>
        <p:blipFill>
          <a:blip r:embed="rId4"/>
          <a:stretch>
            <a:fillRect/>
          </a:stretch>
        </p:blipFill>
        <p:spPr>
          <a:xfrm>
            <a:off x="5629617" y="861857"/>
            <a:ext cx="932765" cy="932765"/>
          </a:xfrm>
          <a:prstGeom prst="rect">
            <a:avLst/>
          </a:prstGeom>
        </p:spPr>
      </p:pic>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spTree>
    <p:extLst>
      <p:ext uri="{BB962C8B-B14F-4D97-AF65-F5344CB8AC3E}">
        <p14:creationId xmlns:p14="http://schemas.microsoft.com/office/powerpoint/2010/main" val="35991790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2_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err="1">
                <a:solidFill>
                  <a:schemeClr val="bg1"/>
                </a:solidFill>
                <a:latin typeface="Arial Nova" panose="020B0504020202020204" pitchFamily="34" charset="0"/>
              </a:rPr>
              <a:t>Ketua</a:t>
            </a:r>
            <a:r>
              <a:rPr lang="en-US" sz="1600" b="1">
                <a:solidFill>
                  <a:schemeClr val="bg1"/>
                </a:solidFill>
                <a:latin typeface="Arial Nova" panose="020B0504020202020204" pitchFamily="34" charset="0"/>
              </a:rPr>
              <a:t> 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2722786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1_Title_DEN_Tim EKonomi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Tim Ekonomi</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385154277"/>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Sekretaris</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a:t>
            </a:r>
            <a:r>
              <a:rPr lang="en-US" sz="1600" b="1" err="1">
                <a:solidFill>
                  <a:schemeClr val="bg1"/>
                </a:solidFill>
                <a:latin typeface="Arial Nova" panose="020B0504020202020204" pitchFamily="34" charset="0"/>
              </a:rPr>
              <a:t>Anggota</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187773312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3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Jend. TNI (Purn) </a:t>
            </a:r>
            <a:r>
              <a:rPr lang="en-US" sz="1600" b="1" err="1">
                <a:solidFill>
                  <a:schemeClr val="bg1"/>
                </a:solidFill>
                <a:latin typeface="Arial Nova" panose="020B0504020202020204" pitchFamily="34" charset="0"/>
              </a:rPr>
              <a:t>Luhut</a:t>
            </a:r>
            <a:r>
              <a:rPr lang="en-US" sz="1600" b="1">
                <a:solidFill>
                  <a:schemeClr val="bg1"/>
                </a:solidFill>
                <a:latin typeface="Arial Nova" panose="020B0504020202020204" pitchFamily="34" charset="0"/>
              </a:rPr>
              <a:t> B. </a:t>
            </a:r>
            <a:r>
              <a:rPr lang="en-US" sz="1600" b="1" err="1">
                <a:solidFill>
                  <a:schemeClr val="bg1"/>
                </a:solidFill>
                <a:latin typeface="Arial Nova" panose="020B0504020202020204" pitchFamily="34" charset="0"/>
              </a:rPr>
              <a:t>Pandjaitan</a:t>
            </a:r>
            <a:endParaRPr lang="en-US" sz="1600" b="1">
              <a:solidFill>
                <a:schemeClr val="bg1"/>
              </a:solidFill>
              <a:latin typeface="Arial Nova" panose="020B0504020202020204" pitchFamily="34" charset="0"/>
            </a:endParaRPr>
          </a:p>
          <a:p>
            <a:pPr lvl="0" algn="ctr"/>
            <a:r>
              <a:rPr lang="en-US" sz="1600" b="1">
                <a:solidFill>
                  <a:schemeClr val="bg1"/>
                </a:solidFill>
                <a:latin typeface="Arial Nova" panose="020B0504020202020204" pitchFamily="34" charset="0"/>
              </a:rPr>
              <a:t>Chair of the 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17786526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2_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NATIONAL ECONOMIC COUNCIL</a:t>
            </a:r>
          </a:p>
          <a:p>
            <a:pPr algn="ctr"/>
            <a:r>
              <a:rPr lang="nn-NO" sz="1200" b="1">
                <a:solidFill>
                  <a:schemeClr val="bg1"/>
                </a:solidFill>
                <a:latin typeface="Arial" panose="020B0604020202020204" pitchFamily="34" charset="0"/>
                <a:cs typeface="Arial" panose="020B0604020202020204" pitchFamily="34" charset="0"/>
              </a:rPr>
              <a:t>REPUBLIC OF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3142218" y="4257680"/>
            <a:ext cx="5907562" cy="584775"/>
          </a:xfrm>
          <a:prstGeom prst="rect">
            <a:avLst/>
          </a:prstGeom>
          <a:noFill/>
        </p:spPr>
        <p:txBody>
          <a:bodyPr wrap="square" rtlCol="0">
            <a:spAutoFit/>
          </a:bodyPr>
          <a:lstStyle/>
          <a:p>
            <a:pPr lvl="0" algn="ctr"/>
            <a:r>
              <a:rPr lang="en-US" sz="1600" b="1">
                <a:solidFill>
                  <a:schemeClr val="bg1"/>
                </a:solidFill>
                <a:latin typeface="Arial Nova" panose="020B0504020202020204" pitchFamily="34" charset="0"/>
              </a:rPr>
              <a:t>Economic Assessment Team</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National Economic Council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a star&#10;&#10;Description automatically generated">
            <a:extLst>
              <a:ext uri="{FF2B5EF4-FFF2-40B4-BE49-F238E27FC236}">
                <a16:creationId xmlns:a16="http://schemas.microsoft.com/office/drawing/2014/main" id="{9DB9D557-3373-B3AB-54A9-3224F9529555}"/>
              </a:ext>
            </a:extLst>
          </p:cNvPr>
          <p:cNvPicPr>
            <a:picLocks noChangeAspect="1"/>
          </p:cNvPicPr>
          <p:nvPr userDrawn="1"/>
        </p:nvPicPr>
        <p:blipFill>
          <a:blip r:embed="rId4"/>
          <a:stretch>
            <a:fillRect/>
          </a:stretch>
        </p:blipFill>
        <p:spPr>
          <a:xfrm>
            <a:off x="5629799" y="828623"/>
            <a:ext cx="932400" cy="932400"/>
          </a:xfrm>
          <a:prstGeom prst="rect">
            <a:avLst/>
          </a:prstGeom>
        </p:spPr>
      </p:pic>
    </p:spTree>
    <p:extLst>
      <p:ext uri="{BB962C8B-B14F-4D97-AF65-F5344CB8AC3E}">
        <p14:creationId xmlns:p14="http://schemas.microsoft.com/office/powerpoint/2010/main" val="22040307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2_SubTitle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FD2AA19C-6509-DF83-FCAB-F7F3EDE28B3C}"/>
              </a:ext>
            </a:extLst>
          </p:cNvPr>
          <p:cNvPicPr>
            <a:picLocks noChangeAspect="1"/>
          </p:cNvPicPr>
          <p:nvPr userDrawn="1"/>
        </p:nvPicPr>
        <p:blipFill>
          <a:blip r:embed="rId4"/>
          <a:stretch>
            <a:fillRect/>
          </a:stretch>
        </p:blipFill>
        <p:spPr>
          <a:xfrm>
            <a:off x="571584" y="490543"/>
            <a:ext cx="864000" cy="864000"/>
          </a:xfrm>
          <a:prstGeom prst="rect">
            <a:avLst/>
          </a:prstGeom>
        </p:spPr>
      </p:pic>
    </p:spTree>
    <p:extLst>
      <p:ext uri="{BB962C8B-B14F-4D97-AF65-F5344CB8AC3E}">
        <p14:creationId xmlns:p14="http://schemas.microsoft.com/office/powerpoint/2010/main" val="300684676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SubTitle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22502" y="164879"/>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a star&#10;&#10;Description automatically generated">
            <a:extLst>
              <a:ext uri="{FF2B5EF4-FFF2-40B4-BE49-F238E27FC236}">
                <a16:creationId xmlns:a16="http://schemas.microsoft.com/office/drawing/2014/main" id="{CDC8AB0D-B544-EBB6-24C9-C63FFCAC8DCD}"/>
              </a:ext>
            </a:extLst>
          </p:cNvPr>
          <p:cNvPicPr>
            <a:picLocks noChangeAspect="1"/>
          </p:cNvPicPr>
          <p:nvPr userDrawn="1"/>
        </p:nvPicPr>
        <p:blipFill>
          <a:blip r:embed="rId4"/>
          <a:stretch>
            <a:fillRect/>
          </a:stretch>
        </p:blipFill>
        <p:spPr>
          <a:xfrm>
            <a:off x="571584" y="469760"/>
            <a:ext cx="932400" cy="932400"/>
          </a:xfrm>
          <a:prstGeom prst="rect">
            <a:avLst/>
          </a:prstGeom>
        </p:spPr>
      </p:pic>
    </p:spTree>
    <p:extLst>
      <p:ext uri="{BB962C8B-B14F-4D97-AF65-F5344CB8AC3E}">
        <p14:creationId xmlns:p14="http://schemas.microsoft.com/office/powerpoint/2010/main" val="138462950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2_Content_DEN_bh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A9CBE551-98BB-BF1B-5947-B898FDA8C07A}"/>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620933546"/>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Content_DEN_En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a star&#10;&#10;Description automatically generated">
            <a:extLst>
              <a:ext uri="{FF2B5EF4-FFF2-40B4-BE49-F238E27FC236}">
                <a16:creationId xmlns:a16="http://schemas.microsoft.com/office/drawing/2014/main" id="{B47411E4-DE06-5A3B-3C0D-1AEEBCB53B97}"/>
              </a:ext>
            </a:extLst>
          </p:cNvPr>
          <p:cNvPicPr>
            <a:picLocks noChangeAspect="1"/>
          </p:cNvPicPr>
          <p:nvPr userDrawn="1"/>
        </p:nvPicPr>
        <p:blipFill>
          <a:blip r:embed="rId2"/>
          <a:stretch>
            <a:fillRect/>
          </a:stretch>
        </p:blipFill>
        <p:spPr>
          <a:xfrm>
            <a:off x="11167593" y="189900"/>
            <a:ext cx="932400" cy="932400"/>
          </a:xfrm>
          <a:prstGeom prst="rect">
            <a:avLst/>
          </a:prstGeom>
        </p:spPr>
      </p:pic>
    </p:spTree>
    <p:extLst>
      <p:ext uri="{BB962C8B-B14F-4D97-AF65-F5344CB8AC3E}">
        <p14:creationId xmlns:p14="http://schemas.microsoft.com/office/powerpoint/2010/main" val="383052024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1_Closing_DEN_bhs">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30E29769-C478-F59E-8968-9D5400DFFFFF}"/>
              </a:ext>
            </a:extLst>
          </p:cNvPr>
          <p:cNvPicPr>
            <a:picLocks noChangeAspect="1"/>
          </p:cNvPicPr>
          <p:nvPr userDrawn="1"/>
        </p:nvPicPr>
        <p:blipFill>
          <a:blip r:embed="rId3"/>
          <a:stretch>
            <a:fillRect/>
          </a:stretch>
        </p:blipFill>
        <p:spPr>
          <a:xfrm>
            <a:off x="5722723" y="908287"/>
            <a:ext cx="864000" cy="864000"/>
          </a:xfrm>
          <a:prstGeom prst="rect">
            <a:avLst/>
          </a:prstGeom>
        </p:spPr>
      </p:pic>
    </p:spTree>
    <p:extLst>
      <p:ext uri="{BB962C8B-B14F-4D97-AF65-F5344CB8AC3E}">
        <p14:creationId xmlns:p14="http://schemas.microsoft.com/office/powerpoint/2010/main" val="208680730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Closing_DEN_en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en-US" sz="1200" b="1">
                <a:solidFill>
                  <a:schemeClr val="bg1"/>
                </a:solidFill>
                <a:latin typeface="Arial" panose="020B0604020202020204" pitchFamily="34" charset="0"/>
                <a:cs typeface="Arial" panose="020B0604020202020204" pitchFamily="34" charset="0"/>
              </a:rPr>
              <a:t>NATIONAL ECONOMIC COUNCIL</a:t>
            </a:r>
          </a:p>
          <a:p>
            <a:pPr algn="ctr"/>
            <a:r>
              <a:rPr lang="en-US" sz="1200" b="1">
                <a:solidFill>
                  <a:schemeClr val="bg1"/>
                </a:solidFill>
                <a:latin typeface="Arial" panose="020B0604020202020204" pitchFamily="34" charset="0"/>
                <a:cs typeface="Arial" panose="020B0604020202020204" pitchFamily="34" charset="0"/>
              </a:rPr>
              <a:t>REPUBLIC OF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75000"/>
                  </a:schemeClr>
                </a:solidFill>
                <a:latin typeface="Arial Nova" panose="020B0504020202020204" pitchFamily="34" charset="0"/>
              </a:rPr>
              <a:t>THANK YOU</a:t>
            </a:r>
          </a:p>
        </p:txBody>
      </p:sp>
      <p:pic>
        <p:nvPicPr>
          <p:cNvPr id="5" name="Picture 4" descr="A white circle with a gold eagle and a star&#10;&#10;Description automatically generated">
            <a:extLst>
              <a:ext uri="{FF2B5EF4-FFF2-40B4-BE49-F238E27FC236}">
                <a16:creationId xmlns:a16="http://schemas.microsoft.com/office/drawing/2014/main" id="{02D7CE29-7999-CB50-102B-995008068076}"/>
              </a:ext>
            </a:extLst>
          </p:cNvPr>
          <p:cNvPicPr>
            <a:picLocks noChangeAspect="1"/>
          </p:cNvPicPr>
          <p:nvPr userDrawn="1"/>
        </p:nvPicPr>
        <p:blipFill>
          <a:blip r:embed="rId3"/>
          <a:stretch>
            <a:fillRect/>
          </a:stretch>
        </p:blipFill>
        <p:spPr>
          <a:xfrm>
            <a:off x="5688523" y="775777"/>
            <a:ext cx="932400" cy="932400"/>
          </a:xfrm>
          <a:prstGeom prst="rect">
            <a:avLst/>
          </a:prstGeom>
        </p:spPr>
      </p:pic>
    </p:spTree>
    <p:extLst>
      <p:ext uri="{BB962C8B-B14F-4D97-AF65-F5344CB8AC3E}">
        <p14:creationId xmlns:p14="http://schemas.microsoft.com/office/powerpoint/2010/main" val="360559123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9D7D42D8-047F-A9F8-8F06-04BEA6C2FA03}"/>
              </a:ext>
            </a:extLst>
          </p:cNvPr>
          <p:cNvPicPr>
            <a:picLocks noChangeAspect="1"/>
          </p:cNvPicPr>
          <p:nvPr userDrawn="1"/>
        </p:nvPicPr>
        <p:blipFill>
          <a:blip r:embed="rId4"/>
          <a:stretch>
            <a:fillRect/>
          </a:stretch>
        </p:blipFill>
        <p:spPr>
          <a:xfrm>
            <a:off x="5582389" y="836134"/>
            <a:ext cx="864000" cy="864000"/>
          </a:xfrm>
          <a:prstGeom prst="rect">
            <a:avLst/>
          </a:prstGeom>
        </p:spPr>
      </p:pic>
    </p:spTree>
    <p:extLst>
      <p:ext uri="{BB962C8B-B14F-4D97-AF65-F5344CB8AC3E}">
        <p14:creationId xmlns:p14="http://schemas.microsoft.com/office/powerpoint/2010/main" val="3941785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3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407707" y="624850"/>
            <a:ext cx="8814405" cy="6441610"/>
          </a:xfrm>
          <a:prstGeom prst="rect">
            <a:avLst/>
          </a:prstGeom>
        </p:spPr>
      </p:pic>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571584" y="3385684"/>
            <a:ext cx="4280502" cy="663988"/>
          </a:xfrm>
        </p:spPr>
        <p:txBody>
          <a:bodyPr>
            <a:normAutofit/>
          </a:bodyPr>
          <a:lstStyle>
            <a:lvl1pPr marL="0" indent="0" algn="l">
              <a:buNone/>
              <a:defRPr sz="18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3" name="Picture 2" descr="A white circle with a gold eagle and black text&#10;&#10;Description automatically generated">
            <a:extLst>
              <a:ext uri="{FF2B5EF4-FFF2-40B4-BE49-F238E27FC236}">
                <a16:creationId xmlns:a16="http://schemas.microsoft.com/office/drawing/2014/main" id="{DAF5E05D-2BA8-05CF-7B78-67751F7A4F6B}"/>
              </a:ext>
            </a:extLst>
          </p:cNvPr>
          <p:cNvPicPr>
            <a:picLocks noChangeAspect="1"/>
          </p:cNvPicPr>
          <p:nvPr userDrawn="1"/>
        </p:nvPicPr>
        <p:blipFill>
          <a:blip r:embed="rId4"/>
          <a:stretch>
            <a:fillRect/>
          </a:stretch>
        </p:blipFill>
        <p:spPr>
          <a:xfrm>
            <a:off x="571584" y="684071"/>
            <a:ext cx="864000" cy="864000"/>
          </a:xfrm>
          <a:prstGeom prst="rect">
            <a:avLst/>
          </a:prstGeom>
        </p:spPr>
      </p:pic>
    </p:spTree>
    <p:extLst>
      <p:ext uri="{BB962C8B-B14F-4D97-AF65-F5344CB8AC3E}">
        <p14:creationId xmlns:p14="http://schemas.microsoft.com/office/powerpoint/2010/main" val="335129631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userDrawn="1">
  <p:cSld name="2_Content_Marves">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26E334B8-DAB2-7D47-B987-5E224A19FEDE}"/>
              </a:ext>
            </a:extLst>
          </p:cNvPr>
          <p:cNvSpPr/>
          <p:nvPr/>
        </p:nvSpPr>
        <p:spPr>
          <a:xfrm rot="5400000">
            <a:off x="11831999" y="6498000"/>
            <a:ext cx="360000" cy="360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D01029AD-ED50-D64D-AB11-000C5AE57D64}"/>
              </a:ext>
            </a:extLst>
          </p:cNvPr>
          <p:cNvSpPr/>
          <p:nvPr/>
        </p:nvSpPr>
        <p:spPr>
          <a:xfrm rot="5400000">
            <a:off x="140615" y="619335"/>
            <a:ext cx="632465" cy="73531"/>
          </a:xfrm>
          <a:prstGeom prst="rect">
            <a:avLst/>
          </a:prstGeom>
          <a:solidFill>
            <a:schemeClr val="accent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B0F3114A-4B8C-4476-9BD8-6FE14A305178}"/>
              </a:ext>
            </a:extLst>
          </p:cNvPr>
          <p:cNvSpPr/>
          <p:nvPr/>
        </p:nvSpPr>
        <p:spPr>
          <a:xfrm>
            <a:off x="-1" y="6472057"/>
            <a:ext cx="5975927" cy="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7" name="Title 1">
            <a:extLst>
              <a:ext uri="{FF2B5EF4-FFF2-40B4-BE49-F238E27FC236}">
                <a16:creationId xmlns:a16="http://schemas.microsoft.com/office/drawing/2014/main" id="{4AB41AF6-B055-4A80-BF10-0CB584AAC28D}"/>
              </a:ext>
            </a:extLst>
          </p:cNvPr>
          <p:cNvSpPr>
            <a:spLocks noGrp="1"/>
          </p:cNvSpPr>
          <p:nvPr>
            <p:ph type="title"/>
          </p:nvPr>
        </p:nvSpPr>
        <p:spPr>
          <a:xfrm>
            <a:off x="558207" y="339868"/>
            <a:ext cx="10618345" cy="632465"/>
          </a:xfrm>
          <a:prstGeom prst="rect">
            <a:avLst/>
          </a:prstGeom>
        </p:spPr>
        <p:txBody>
          <a:bodyPr>
            <a:normAutofit/>
          </a:bodyPr>
          <a:lstStyle>
            <a:lvl1pPr>
              <a:defRPr sz="2000" b="1">
                <a:solidFill>
                  <a:schemeClr val="tx1"/>
                </a:solidFill>
                <a:latin typeface="Arial" panose="020B0604020202020204" pitchFamily="34" charset="0"/>
                <a:cs typeface="Arial" panose="020B0604020202020204" pitchFamily="34" charset="0"/>
              </a:defRPr>
            </a:lvl1pPr>
          </a:lstStyle>
          <a:p>
            <a:r>
              <a:rPr lang="en-US"/>
              <a:t>Click to edit Master title style</a:t>
            </a:r>
            <a:endParaRPr lang="en-ID"/>
          </a:p>
        </p:txBody>
      </p:sp>
      <p:sp>
        <p:nvSpPr>
          <p:cNvPr id="19" name="Slide Number Placeholder 5">
            <a:extLst>
              <a:ext uri="{FF2B5EF4-FFF2-40B4-BE49-F238E27FC236}">
                <a16:creationId xmlns:a16="http://schemas.microsoft.com/office/drawing/2014/main" id="{EFAD7F3E-7C28-4AAD-AFD8-67BBF4508B9A}"/>
              </a:ext>
            </a:extLst>
          </p:cNvPr>
          <p:cNvSpPr txBox="1">
            <a:spLocks/>
          </p:cNvSpPr>
          <p:nvPr/>
        </p:nvSpPr>
        <p:spPr>
          <a:xfrm>
            <a:off x="11831999" y="6498000"/>
            <a:ext cx="360000" cy="360000"/>
          </a:xfrm>
          <a:prstGeom prst="rect">
            <a:avLst/>
          </a:prstGeom>
          <a:solidFill>
            <a:schemeClr val="accent6">
              <a:lumMod val="75000"/>
            </a:schemeClr>
          </a:solidFill>
        </p:spPr>
        <p:txBody>
          <a:bodyPr vert="horz" lIns="91440" tIns="45720" rIns="91440" bIns="45720" rtlCol="0" anchor="ctr"/>
          <a:lstStyle>
            <a:defPPr>
              <a:defRPr lang="en-US"/>
            </a:defPPr>
            <a:lvl1pPr marL="0" algn="r" defTabSz="914400" rtl="0" eaLnBrk="1" latinLnBrk="0" hangingPunct="1">
              <a:defRPr sz="1200" b="1" i="0" kern="1200">
                <a:solidFill>
                  <a:schemeClr val="bg1"/>
                </a:solidFill>
                <a:latin typeface="Arial" panose="020B0604020202020204" pitchFamily="34" charset="0"/>
                <a:ea typeface="+mn-ea"/>
                <a:cs typeface="Arial" panose="020B0604020202020204" pitchFamily="34" charset="0"/>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ctr"/>
            <a:fld id="{088F5FB7-4D5A-44F2-88B4-9D61645A7BFE}" type="slidenum">
              <a:rPr lang="en-ID" sz="1000" smtClean="0"/>
              <a:pPr algn="ctr"/>
              <a:t>‹#›</a:t>
            </a:fld>
            <a:endParaRPr lang="en-ID" sz="1000"/>
          </a:p>
        </p:txBody>
      </p:sp>
      <p:pic>
        <p:nvPicPr>
          <p:cNvPr id="2" name="Picture 1" descr="A white circle with a gold eagle and black text&#10;&#10;Description automatically generated">
            <a:extLst>
              <a:ext uri="{FF2B5EF4-FFF2-40B4-BE49-F238E27FC236}">
                <a16:creationId xmlns:a16="http://schemas.microsoft.com/office/drawing/2014/main" id="{D18EAC92-4BBB-90DF-C2B3-2CA051E5281F}"/>
              </a:ext>
            </a:extLst>
          </p:cNvPr>
          <p:cNvPicPr>
            <a:picLocks noChangeAspect="1"/>
          </p:cNvPicPr>
          <p:nvPr userDrawn="1"/>
        </p:nvPicPr>
        <p:blipFill>
          <a:blip r:embed="rId2"/>
          <a:stretch>
            <a:fillRect/>
          </a:stretch>
        </p:blipFill>
        <p:spPr>
          <a:xfrm>
            <a:off x="11201793" y="224100"/>
            <a:ext cx="864000" cy="864000"/>
          </a:xfrm>
          <a:prstGeom prst="rect">
            <a:avLst/>
          </a:prstGeom>
        </p:spPr>
      </p:pic>
    </p:spTree>
    <p:extLst>
      <p:ext uri="{BB962C8B-B14F-4D97-AF65-F5344CB8AC3E}">
        <p14:creationId xmlns:p14="http://schemas.microsoft.com/office/powerpoint/2010/main" val="285300373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2_Title_Garuda">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sp>
        <p:nvSpPr>
          <p:cNvPr id="3" name="Rectangle 2">
            <a:extLst>
              <a:ext uri="{FF2B5EF4-FFF2-40B4-BE49-F238E27FC236}">
                <a16:creationId xmlns:a16="http://schemas.microsoft.com/office/drawing/2014/main" id="{AC094518-EB04-F120-F2CB-EA369F1A4096}"/>
              </a:ext>
            </a:extLst>
          </p:cNvPr>
          <p:cNvSpPr/>
          <p:nvPr userDrawn="1"/>
        </p:nvSpPr>
        <p:spPr>
          <a:xfrm>
            <a:off x="58723" y="-258737"/>
            <a:ext cx="12192000" cy="6929336"/>
          </a:xfrm>
          <a:prstGeom prst="rect">
            <a:avLst/>
          </a:prstGeom>
          <a:gradFill flip="none" rotWithShape="1">
            <a:gsLst>
              <a:gs pos="55000">
                <a:schemeClr val="bg1">
                  <a:alpha val="76608"/>
                </a:schemeClr>
              </a:gs>
              <a:gs pos="100000">
                <a:schemeClr val="bg1">
                  <a:alpha val="0"/>
                </a:schemeClr>
              </a:gs>
            </a:gsLst>
            <a:lin ang="135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4" name="TextBox 3">
            <a:extLst>
              <a:ext uri="{FF2B5EF4-FFF2-40B4-BE49-F238E27FC236}">
                <a16:creationId xmlns:a16="http://schemas.microsoft.com/office/drawing/2014/main" id="{54620A5B-48EA-D5CF-5DCC-F19CFA3CB8C3}"/>
              </a:ext>
            </a:extLst>
          </p:cNvPr>
          <p:cNvSpPr txBox="1"/>
          <p:nvPr userDrawn="1"/>
        </p:nvSpPr>
        <p:spPr>
          <a:xfrm>
            <a:off x="3200942" y="3266009"/>
            <a:ext cx="5907562" cy="707886"/>
          </a:xfrm>
          <a:prstGeom prst="rect">
            <a:avLst/>
          </a:prstGeom>
          <a:noFill/>
        </p:spPr>
        <p:txBody>
          <a:bodyPr wrap="square" rtlCol="0">
            <a:spAutoFit/>
          </a:bodyPr>
          <a:lstStyle/>
          <a:p>
            <a:pPr lvl="0" algn="ctr"/>
            <a:r>
              <a:rPr lang="en-US" sz="4000" b="1">
                <a:solidFill>
                  <a:schemeClr val="accent6">
                    <a:lumMod val="50000"/>
                  </a:schemeClr>
                </a:solidFill>
                <a:latin typeface="Arial Nova" panose="020B0504020202020204" pitchFamily="34" charset="0"/>
              </a:rPr>
              <a:t>TERIMA KASIH</a:t>
            </a:r>
          </a:p>
        </p:txBody>
      </p:sp>
      <p:pic>
        <p:nvPicPr>
          <p:cNvPr id="5" name="Picture 4" descr="A white circle with a gold eagle and black text&#10;&#10;Description automatically generated">
            <a:extLst>
              <a:ext uri="{FF2B5EF4-FFF2-40B4-BE49-F238E27FC236}">
                <a16:creationId xmlns:a16="http://schemas.microsoft.com/office/drawing/2014/main" id="{828A12D5-3800-1FCD-DDD3-9C6A6B870723}"/>
              </a:ext>
            </a:extLst>
          </p:cNvPr>
          <p:cNvPicPr>
            <a:picLocks noChangeAspect="1"/>
          </p:cNvPicPr>
          <p:nvPr userDrawn="1"/>
        </p:nvPicPr>
        <p:blipFill>
          <a:blip r:embed="rId3"/>
          <a:stretch>
            <a:fillRect/>
          </a:stretch>
        </p:blipFill>
        <p:spPr>
          <a:xfrm>
            <a:off x="5663999" y="831254"/>
            <a:ext cx="864000" cy="864000"/>
          </a:xfrm>
          <a:prstGeom prst="rect">
            <a:avLst/>
          </a:prstGeom>
        </p:spPr>
      </p:pic>
    </p:spTree>
    <p:extLst>
      <p:ext uri="{BB962C8B-B14F-4D97-AF65-F5344CB8AC3E}">
        <p14:creationId xmlns:p14="http://schemas.microsoft.com/office/powerpoint/2010/main" val="1599998930"/>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userDrawn="1">
  <p:cSld name="3_Title_DEN_DE1">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BD5A149-7E68-9F1A-41FE-950430F29453}"/>
              </a:ext>
            </a:extLst>
          </p:cNvPr>
          <p:cNvPicPr>
            <a:picLocks noChangeAspect="1"/>
          </p:cNvPicPr>
          <p:nvPr userDrawn="1"/>
        </p:nvPicPr>
        <p:blipFill>
          <a:blip r:embed="rId2">
            <a:extLst>
              <a:ext uri="{28A0092B-C50C-407E-A947-70E740481C1C}">
                <a14:useLocalDpi xmlns:a14="http://schemas.microsoft.com/office/drawing/2010/main" val="0"/>
              </a:ext>
            </a:extLst>
          </a:blip>
          <a:srcRect t="28180" b="28180"/>
          <a:stretch/>
        </p:blipFill>
        <p:spPr>
          <a:xfrm>
            <a:off x="222503" y="187401"/>
            <a:ext cx="11746992" cy="6419088"/>
          </a:xfrm>
          <a:prstGeom prst="rect">
            <a:avLst/>
          </a:prstGeom>
          <a:effectLst/>
        </p:spPr>
      </p:pic>
      <p:pic>
        <p:nvPicPr>
          <p:cNvPr id="25" name="Picture 24" descr="A black background with a black square&#10;&#10;Description automatically generated with medium confidence">
            <a:extLst>
              <a:ext uri="{FF2B5EF4-FFF2-40B4-BE49-F238E27FC236}">
                <a16:creationId xmlns:a16="http://schemas.microsoft.com/office/drawing/2014/main" id="{FFA95C3A-439A-1DA0-6542-801CF6067C6C}"/>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rot="16200000">
            <a:off x="4507256" y="-844487"/>
            <a:ext cx="3177488" cy="11746991"/>
          </a:xfrm>
          <a:prstGeom prst="rect">
            <a:avLst/>
          </a:prstGeom>
        </p:spPr>
      </p:pic>
      <p:sp>
        <p:nvSpPr>
          <p:cNvPr id="6" name="TextBox 5">
            <a:extLst>
              <a:ext uri="{FF2B5EF4-FFF2-40B4-BE49-F238E27FC236}">
                <a16:creationId xmlns:a16="http://schemas.microsoft.com/office/drawing/2014/main" id="{9465DFB2-E030-3B1A-6144-3BF9EA90E2DC}"/>
              </a:ext>
            </a:extLst>
          </p:cNvPr>
          <p:cNvSpPr txBox="1"/>
          <p:nvPr userDrawn="1"/>
        </p:nvSpPr>
        <p:spPr>
          <a:xfrm>
            <a:off x="3001861" y="1772287"/>
            <a:ext cx="6188278" cy="475655"/>
          </a:xfrm>
          <a:prstGeom prst="rect">
            <a:avLst/>
          </a:prstGeom>
          <a:noFill/>
        </p:spPr>
        <p:txBody>
          <a:bodyPr wrap="none" rtlCol="0">
            <a:noAutofit/>
          </a:bodyPr>
          <a:lstStyle/>
          <a:p>
            <a:pPr algn="ctr"/>
            <a:r>
              <a:rPr lang="nn-NO" sz="1200" b="1">
                <a:solidFill>
                  <a:schemeClr val="bg1"/>
                </a:solidFill>
                <a:latin typeface="Arial" panose="020B0604020202020204" pitchFamily="34" charset="0"/>
                <a:cs typeface="Arial" panose="020B0604020202020204" pitchFamily="34" charset="0"/>
              </a:rPr>
              <a:t>DEWAN EKONOMI NASIONAL</a:t>
            </a:r>
          </a:p>
          <a:p>
            <a:pPr algn="ctr"/>
            <a:r>
              <a:rPr lang="nn-NO" sz="1200" b="1">
                <a:solidFill>
                  <a:schemeClr val="bg1"/>
                </a:solidFill>
                <a:latin typeface="Arial" panose="020B0604020202020204" pitchFamily="34" charset="0"/>
                <a:cs typeface="Arial" panose="020B0604020202020204" pitchFamily="34" charset="0"/>
              </a:rPr>
              <a:t>REPUBLIK INDONESIA</a:t>
            </a:r>
          </a:p>
        </p:txBody>
      </p:sp>
      <p:sp>
        <p:nvSpPr>
          <p:cNvPr id="9" name="Title 1">
            <a:extLst>
              <a:ext uri="{FF2B5EF4-FFF2-40B4-BE49-F238E27FC236}">
                <a16:creationId xmlns:a16="http://schemas.microsoft.com/office/drawing/2014/main" id="{35EE1A4B-408C-60B4-1C21-43D3AD2F63BD}"/>
              </a:ext>
            </a:extLst>
          </p:cNvPr>
          <p:cNvSpPr>
            <a:spLocks noGrp="1"/>
          </p:cNvSpPr>
          <p:nvPr>
            <p:ph type="title"/>
          </p:nvPr>
        </p:nvSpPr>
        <p:spPr>
          <a:xfrm>
            <a:off x="2674691" y="3163236"/>
            <a:ext cx="7064963" cy="927818"/>
          </a:xfrm>
          <a:prstGeom prst="rect">
            <a:avLst/>
          </a:prstGeom>
        </p:spPr>
        <p:txBody>
          <a:bodyPr>
            <a:normAutofit/>
          </a:bodyPr>
          <a:lstStyle>
            <a:lvl1pPr algn="ctr">
              <a:defRPr sz="2400" b="1">
                <a:solidFill>
                  <a:schemeClr val="bg1"/>
                </a:solidFill>
                <a:latin typeface="Arial Nova" panose="020B0504020202020204" pitchFamily="34" charset="0"/>
              </a:defRPr>
            </a:lvl1pPr>
          </a:lstStyle>
          <a:p>
            <a:r>
              <a:rPr lang="en-US"/>
              <a:t>Click to edit Master title style</a:t>
            </a:r>
            <a:endParaRPr lang="en-ID"/>
          </a:p>
        </p:txBody>
      </p:sp>
      <p:cxnSp>
        <p:nvCxnSpPr>
          <p:cNvPr id="17" name="Straight Connector 16">
            <a:extLst>
              <a:ext uri="{FF2B5EF4-FFF2-40B4-BE49-F238E27FC236}">
                <a16:creationId xmlns:a16="http://schemas.microsoft.com/office/drawing/2014/main" id="{086B07C4-F4F2-F786-5386-371F1DB8D5F8}"/>
              </a:ext>
            </a:extLst>
          </p:cNvPr>
          <p:cNvCxnSpPr/>
          <p:nvPr userDrawn="1"/>
        </p:nvCxnSpPr>
        <p:spPr>
          <a:xfrm>
            <a:off x="2234985" y="4091054"/>
            <a:ext cx="7944374" cy="0"/>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411D71CB-D15A-455E-70CD-9D7DA1FFA81E}"/>
              </a:ext>
            </a:extLst>
          </p:cNvPr>
          <p:cNvSpPr txBox="1"/>
          <p:nvPr userDrawn="1"/>
        </p:nvSpPr>
        <p:spPr>
          <a:xfrm>
            <a:off x="2868567" y="4256313"/>
            <a:ext cx="6454863" cy="584775"/>
          </a:xfrm>
          <a:prstGeom prst="rect">
            <a:avLst/>
          </a:prstGeom>
          <a:noFill/>
        </p:spPr>
        <p:txBody>
          <a:bodyPr wrap="square" rtlCol="0">
            <a:spAutoFit/>
          </a:bodyPr>
          <a:lstStyle/>
          <a:p>
            <a:pPr lvl="0" algn="ctr"/>
            <a:r>
              <a:rPr lang="en-US" sz="1600" b="1" err="1">
                <a:solidFill>
                  <a:schemeClr val="bg1"/>
                </a:solidFill>
                <a:latin typeface="Arial Nova" panose="020B0504020202020204" pitchFamily="34" charset="0"/>
              </a:rPr>
              <a:t>Direktorat</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Eksekutif</a:t>
            </a:r>
            <a:r>
              <a:rPr lang="en-US" sz="1600" b="1">
                <a:solidFill>
                  <a:schemeClr val="bg1"/>
                </a:solidFill>
                <a:latin typeface="Arial Nova" panose="020B0504020202020204" pitchFamily="34" charset="0"/>
              </a:rPr>
              <a:t> </a:t>
            </a:r>
            <a:r>
              <a:rPr lang="en-US" sz="1600" b="1" err="1">
                <a:solidFill>
                  <a:schemeClr val="bg1"/>
                </a:solidFill>
                <a:latin typeface="Arial Nova" panose="020B0504020202020204" pitchFamily="34" charset="0"/>
              </a:rPr>
              <a:t>Bidang</a:t>
            </a:r>
            <a:r>
              <a:rPr lang="en-US" sz="1600" b="1">
                <a:solidFill>
                  <a:schemeClr val="bg1"/>
                </a:solidFill>
                <a:latin typeface="Arial Nova" panose="020B0504020202020204" pitchFamily="34" charset="0"/>
              </a:rPr>
              <a:t> Strategi dan </a:t>
            </a:r>
            <a:r>
              <a:rPr lang="en-US" sz="1600" b="1" err="1">
                <a:solidFill>
                  <a:schemeClr val="bg1"/>
                </a:solidFill>
                <a:latin typeface="Arial Nova" panose="020B0504020202020204" pitchFamily="34" charset="0"/>
              </a:rPr>
              <a:t>Kebijakan</a:t>
            </a:r>
            <a:r>
              <a:rPr lang="en-US" sz="1600" b="1">
                <a:solidFill>
                  <a:schemeClr val="bg1"/>
                </a:solidFill>
                <a:latin typeface="Arial Nova" panose="020B0504020202020204" pitchFamily="34" charset="0"/>
              </a:rPr>
              <a:t> Ekonomi  </a:t>
            </a:r>
            <a:br>
              <a:rPr lang="en-US" sz="1600" b="1">
                <a:solidFill>
                  <a:schemeClr val="bg1"/>
                </a:solidFill>
                <a:latin typeface="Arial Nova" panose="020B0504020202020204" pitchFamily="34" charset="0"/>
              </a:rPr>
            </a:br>
            <a:r>
              <a:rPr lang="en-US" sz="1600" b="1">
                <a:solidFill>
                  <a:schemeClr val="bg1"/>
                </a:solidFill>
                <a:latin typeface="Arial Nova" panose="020B0504020202020204" pitchFamily="34" charset="0"/>
              </a:rPr>
              <a:t>Dewan Ekonomi Nasional</a:t>
            </a:r>
          </a:p>
        </p:txBody>
      </p:sp>
      <p:sp>
        <p:nvSpPr>
          <p:cNvPr id="35" name="Subtitle 2">
            <a:extLst>
              <a:ext uri="{FF2B5EF4-FFF2-40B4-BE49-F238E27FC236}">
                <a16:creationId xmlns:a16="http://schemas.microsoft.com/office/drawing/2014/main" id="{C3C31975-EAF8-5F8A-C1D3-B60BFB7689BD}"/>
              </a:ext>
            </a:extLst>
          </p:cNvPr>
          <p:cNvSpPr>
            <a:spLocks noGrp="1"/>
          </p:cNvSpPr>
          <p:nvPr>
            <p:ph type="subTitle" idx="1"/>
          </p:nvPr>
        </p:nvSpPr>
        <p:spPr>
          <a:xfrm>
            <a:off x="2674691" y="5006348"/>
            <a:ext cx="7064964" cy="663988"/>
          </a:xfrm>
        </p:spPr>
        <p:txBody>
          <a:bodyPr>
            <a:normAutofit/>
          </a:bodyPr>
          <a:lstStyle>
            <a:lvl1pPr marL="0" indent="0" algn="ctr">
              <a:buNone/>
              <a:defRPr sz="1600" b="1">
                <a:solidFill>
                  <a:schemeClr val="bg1"/>
                </a:solidFill>
                <a:latin typeface="Arial Nova" panose="020B05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D"/>
          </a:p>
        </p:txBody>
      </p:sp>
      <p:pic>
        <p:nvPicPr>
          <p:cNvPr id="4" name="Picture 3" descr="A white circle with a gold eagle and black text&#10;&#10;Description automatically generated">
            <a:extLst>
              <a:ext uri="{FF2B5EF4-FFF2-40B4-BE49-F238E27FC236}">
                <a16:creationId xmlns:a16="http://schemas.microsoft.com/office/drawing/2014/main" id="{0281931D-3DE5-CEE5-19CF-D3EBE0C99ED6}"/>
              </a:ext>
            </a:extLst>
          </p:cNvPr>
          <p:cNvPicPr>
            <a:picLocks noChangeAspect="1"/>
          </p:cNvPicPr>
          <p:nvPr userDrawn="1"/>
        </p:nvPicPr>
        <p:blipFill>
          <a:blip r:embed="rId4"/>
          <a:stretch>
            <a:fillRect/>
          </a:stretch>
        </p:blipFill>
        <p:spPr>
          <a:xfrm>
            <a:off x="5663999" y="908286"/>
            <a:ext cx="864000" cy="864000"/>
          </a:xfrm>
          <a:prstGeom prst="rect">
            <a:avLst/>
          </a:prstGeom>
        </p:spPr>
      </p:pic>
    </p:spTree>
    <p:extLst>
      <p:ext uri="{BB962C8B-B14F-4D97-AF65-F5344CB8AC3E}">
        <p14:creationId xmlns:p14="http://schemas.microsoft.com/office/powerpoint/2010/main" val="3212779992"/>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54D562-F104-47E4-9811-644E23B2EDB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D"/>
          </a:p>
        </p:txBody>
      </p:sp>
      <p:sp>
        <p:nvSpPr>
          <p:cNvPr id="3" name="Text Placeholder 2">
            <a:extLst>
              <a:ext uri="{FF2B5EF4-FFF2-40B4-BE49-F238E27FC236}">
                <a16:creationId xmlns:a16="http://schemas.microsoft.com/office/drawing/2014/main" id="{23936BFE-8D25-0AAE-1D35-79914737B81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D"/>
          </a:p>
        </p:txBody>
      </p:sp>
      <p:sp>
        <p:nvSpPr>
          <p:cNvPr id="4" name="Date Placeholder 3">
            <a:extLst>
              <a:ext uri="{FF2B5EF4-FFF2-40B4-BE49-F238E27FC236}">
                <a16:creationId xmlns:a16="http://schemas.microsoft.com/office/drawing/2014/main" id="{B3AF5AD6-F3EF-7F41-FF35-C5B5E0DCD78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en-ID"/>
              <a:t>20 Oktober 2022</a:t>
            </a:r>
          </a:p>
        </p:txBody>
      </p:sp>
      <p:sp>
        <p:nvSpPr>
          <p:cNvPr id="5" name="Footer Placeholder 4">
            <a:extLst>
              <a:ext uri="{FF2B5EF4-FFF2-40B4-BE49-F238E27FC236}">
                <a16:creationId xmlns:a16="http://schemas.microsoft.com/office/drawing/2014/main" id="{1F79A3C6-23C9-93EE-A339-9E8646133AA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D"/>
          </a:p>
        </p:txBody>
      </p:sp>
      <p:sp>
        <p:nvSpPr>
          <p:cNvPr id="6" name="Slide Number Placeholder 5">
            <a:extLst>
              <a:ext uri="{FF2B5EF4-FFF2-40B4-BE49-F238E27FC236}">
                <a16:creationId xmlns:a16="http://schemas.microsoft.com/office/drawing/2014/main" id="{A964A5AB-40AF-8CF3-582C-EC9451C88C2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A71A242A-DC7A-4F17-BDA9-7A721769C48A}" type="slidenum">
              <a:rPr lang="en-ID" smtClean="0"/>
              <a:t>‹#›</a:t>
            </a:fld>
            <a:endParaRPr lang="en-ID"/>
          </a:p>
        </p:txBody>
      </p:sp>
    </p:spTree>
    <p:extLst>
      <p:ext uri="{BB962C8B-B14F-4D97-AF65-F5344CB8AC3E}">
        <p14:creationId xmlns:p14="http://schemas.microsoft.com/office/powerpoint/2010/main" val="2518053218"/>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70" r:id="rId9"/>
    <p:sldLayoutId id="2147483671" r:id="rId10"/>
    <p:sldLayoutId id="2147483672" r:id="rId11"/>
    <p:sldLayoutId id="2147483673" r:id="rId12"/>
    <p:sldLayoutId id="2147483674" r:id="rId13"/>
    <p:sldLayoutId id="2147483675" r:id="rId14"/>
    <p:sldLayoutId id="2147483676" r:id="rId15"/>
    <p:sldLayoutId id="2147483677" r:id="rId16"/>
    <p:sldLayoutId id="2147483678" r:id="rId17"/>
    <p:sldLayoutId id="2147483679" r:id="rId18"/>
    <p:sldLayoutId id="2147483680" r:id="rId19"/>
    <p:sldLayoutId id="2147483681" r:id="rId20"/>
    <p:sldLayoutId id="2147483682" r:id="rId21"/>
    <p:sldLayoutId id="2147483683" r:id="rId22"/>
    <p:sldLayoutId id="2147483684" r:id="rId23"/>
    <p:sldLayoutId id="2147483685" r:id="rId24"/>
    <p:sldLayoutId id="2147483686" r:id="rId25"/>
    <p:sldLayoutId id="2147483687" r:id="rId26"/>
    <p:sldLayoutId id="2147483688" r:id="rId27"/>
    <p:sldLayoutId id="2147483689" r:id="rId28"/>
    <p:sldLayoutId id="2147483690" r:id="rId29"/>
    <p:sldLayoutId id="2147483691" r:id="rId30"/>
  </p:sldLayoutIdLst>
  <mc:AlternateContent xmlns:mc="http://schemas.openxmlformats.org/markup-compatibility/2006" xmlns:p14="http://schemas.microsoft.com/office/powerpoint/2010/main">
    <mc:Choice Requires="p14">
      <p:transition p14:dur="10"/>
    </mc:Choice>
    <mc:Fallback xmlns="">
      <p:transition/>
    </mc:Fallback>
  </mc:AlternateContent>
  <p:hf hdr="0" ft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9.xml"/><Relationship Id="rId1" Type="http://schemas.openxmlformats.org/officeDocument/2006/relationships/slideLayout" Target="../slideLayouts/slideLayout5.xml"/><Relationship Id="rId4" Type="http://schemas.openxmlformats.org/officeDocument/2006/relationships/image" Target="../media/image12.png"/></Relationships>
</file>

<file path=ppt/slides/_rels/slide3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30.xml"/><Relationship Id="rId1" Type="http://schemas.openxmlformats.org/officeDocument/2006/relationships/slideLayout" Target="../slideLayouts/slideLayout5.xml"/><Relationship Id="rId4" Type="http://schemas.openxmlformats.org/officeDocument/2006/relationships/image" Target="../media/image14.png"/></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1.xml"/><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44.xml"/><Relationship Id="rId1" Type="http://schemas.openxmlformats.org/officeDocument/2006/relationships/slideLayout" Target="../slideLayouts/slideLayout5.xml"/><Relationship Id="rId4" Type="http://schemas.openxmlformats.org/officeDocument/2006/relationships/image" Target="../media/image19.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5.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D2DCC-E1A6-8F28-EE4F-94315200B16D}"/>
              </a:ext>
            </a:extLst>
          </p:cNvPr>
          <p:cNvSpPr>
            <a:spLocks noGrp="1"/>
          </p:cNvSpPr>
          <p:nvPr>
            <p:ph type="title"/>
          </p:nvPr>
        </p:nvSpPr>
        <p:spPr/>
        <p:txBody>
          <a:bodyPr>
            <a:normAutofit/>
          </a:bodyPr>
          <a:lstStyle/>
          <a:p>
            <a:r>
              <a:rPr lang="id-ID" sz="2600">
                <a:solidFill>
                  <a:srgbClr val="FFFFFF"/>
                </a:solidFill>
              </a:rPr>
              <a:t>Stress Test Solvabilitas Perbankan</a:t>
            </a:r>
            <a:br>
              <a:rPr lang="id-ID" sz="2600">
                <a:solidFill>
                  <a:srgbClr val="FFFFFF"/>
                </a:solidFill>
              </a:rPr>
            </a:br>
            <a:r>
              <a:rPr lang="id-ID" sz="2600">
                <a:solidFill>
                  <a:srgbClr val="FFFFFF"/>
                </a:solidFill>
              </a:rPr>
              <a:t>Kerangka, Asumsi, Model, dan Hasil</a:t>
            </a:r>
            <a:endParaRPr lang="id-ID" sz="2600" dirty="0">
              <a:solidFill>
                <a:srgbClr val="FFFFFF"/>
              </a:solidFill>
            </a:endParaRPr>
          </a:p>
        </p:txBody>
      </p:sp>
      <p:sp>
        <p:nvSpPr>
          <p:cNvPr id="3" name="Subtitle 2">
            <a:extLst>
              <a:ext uri="{FF2B5EF4-FFF2-40B4-BE49-F238E27FC236}">
                <a16:creationId xmlns:a16="http://schemas.microsoft.com/office/drawing/2014/main" id="{964B5D71-861B-89D2-BFAC-5CCE6765DA8F}"/>
              </a:ext>
            </a:extLst>
          </p:cNvPr>
          <p:cNvSpPr>
            <a:spLocks noGrp="1"/>
          </p:cNvSpPr>
          <p:nvPr>
            <p:ph type="subTitle" idx="1"/>
          </p:nvPr>
        </p:nvSpPr>
        <p:spPr/>
        <p:txBody>
          <a:bodyPr/>
          <a:lstStyle/>
          <a:p>
            <a:r>
              <a:rPr lang="da-DK"/>
              <a:t>46 bank listed  |  Data s.d. 2026Q2  |  Oktober 2026</a:t>
            </a:r>
            <a:endParaRPr lang="id-ID" dirty="0"/>
          </a:p>
        </p:txBody>
      </p:sp>
    </p:spTree>
    <p:extLst>
      <p:ext uri="{BB962C8B-B14F-4D97-AF65-F5344CB8AC3E}">
        <p14:creationId xmlns:p14="http://schemas.microsoft.com/office/powerpoint/2010/main" val="80158019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Ringkasan eksekutif</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dirty="0">
                <a:solidFill>
                  <a:srgbClr val="000000"/>
                </a:solidFill>
                <a:latin typeface="Arial"/>
                <a:cs typeface="Arial"/>
              </a:rPr>
              <a:t>Industri tetap solid di semua skenario</a:t>
            </a:r>
          </a:p>
          <a:p>
            <a:pPr marL="0" indent="0" algn="l">
              <a:lnSpc>
                <a:spcPct val="100000"/>
              </a:lnSpc>
              <a:spcBef>
                <a:spcPts val="0"/>
              </a:spcBef>
              <a:buNone/>
            </a:pPr>
            <a:r>
              <a:rPr lang="id-ID" sz="1300" dirty="0">
                <a:solidFill>
                  <a:srgbClr val="262626"/>
                </a:solidFill>
                <a:latin typeface="Arial"/>
                <a:cs typeface="Arial"/>
              </a:rPr>
              <a:t>CAR industri </a:t>
            </a:r>
            <a:r>
              <a:rPr lang="id-ID" sz="1300">
                <a:solidFill>
                  <a:srgbClr val="262626"/>
                </a:solidFill>
                <a:latin typeface="Arial"/>
                <a:cs typeface="Arial"/>
              </a:rPr>
              <a:t>turun </a:t>
            </a:r>
            <a:r>
              <a:rPr lang="it-IT" sz="1300">
                <a:solidFill>
                  <a:srgbClr val="262626"/>
                </a:solidFill>
                <a:latin typeface="Arial"/>
                <a:cs typeface="Arial"/>
              </a:rPr>
              <a:t>dari 22,5% ke 20,4% di Adverse 2</a:t>
            </a:r>
            <a:r>
              <a:rPr lang="id-ID" sz="1300">
                <a:solidFill>
                  <a:srgbClr val="262626"/>
                </a:solidFill>
                <a:latin typeface="Arial"/>
                <a:cs typeface="Arial"/>
              </a:rPr>
              <a:t>, </a:t>
            </a:r>
            <a:r>
              <a:rPr lang="id-ID" sz="1300" dirty="0">
                <a:solidFill>
                  <a:srgbClr val="262626"/>
                </a:solidFill>
                <a:latin typeface="Arial"/>
                <a:cs typeface="Arial"/>
              </a:rPr>
              <a:t>jauh di atas batas 8%; laba</a:t>
            </a:r>
            <a:r>
              <a:rPr lang="en-US" sz="1300" dirty="0">
                <a:solidFill>
                  <a:srgbClr val="262626"/>
                </a:solidFill>
                <a:latin typeface="Arial"/>
                <a:cs typeface="Arial"/>
              </a:rPr>
              <a:t> </a:t>
            </a:r>
            <a:r>
              <a:rPr lang="id-ID" sz="1300" dirty="0">
                <a:solidFill>
                  <a:srgbClr val="262626"/>
                </a:solidFill>
                <a:latin typeface="Arial"/>
                <a:cs typeface="Arial"/>
              </a:rPr>
              <a:t>masih menyerap seluruh kerugian</a:t>
            </a:r>
            <a:r>
              <a:rPr lang="en-US" sz="1300" dirty="0">
                <a:solidFill>
                  <a:srgbClr val="262626"/>
                </a:solidFill>
                <a:latin typeface="Arial"/>
                <a:cs typeface="Arial"/>
              </a:rPr>
              <a:t> </a:t>
            </a:r>
            <a:r>
              <a:rPr lang="en-US" sz="1300" dirty="0" err="1">
                <a:solidFill>
                  <a:srgbClr val="262626"/>
                </a:solidFill>
                <a:latin typeface="Arial"/>
                <a:cs typeface="Arial"/>
              </a:rPr>
              <a:t>sebelum</a:t>
            </a:r>
            <a:r>
              <a:rPr lang="en-US" sz="1300" dirty="0">
                <a:solidFill>
                  <a:srgbClr val="262626"/>
                </a:solidFill>
                <a:latin typeface="Arial"/>
                <a:cs typeface="Arial"/>
              </a:rPr>
              <a:t> </a:t>
            </a:r>
            <a:r>
              <a:rPr lang="en-US" sz="1300" dirty="0" err="1">
                <a:solidFill>
                  <a:srgbClr val="262626"/>
                </a:solidFill>
                <a:latin typeface="Arial"/>
                <a:cs typeface="Arial"/>
              </a:rPr>
              <a:t>mengurangi</a:t>
            </a:r>
            <a:r>
              <a:rPr lang="en-US" sz="1300" dirty="0">
                <a:solidFill>
                  <a:srgbClr val="262626"/>
                </a:solidFill>
                <a:latin typeface="Arial"/>
                <a:cs typeface="Arial"/>
              </a:rPr>
              <a:t> Tier 2 Capital</a:t>
            </a:r>
            <a:r>
              <a:rPr lang="id-ID" sz="1300" dirty="0">
                <a:solidFill>
                  <a:srgbClr val="262626"/>
                </a:solidFill>
                <a:latin typeface="Arial"/>
                <a:cs typeface="Arial"/>
              </a:rPr>
              <a:t>.</a:t>
            </a: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tetap kanal terbesar, disusul risiko pasar dan margin bunga</a:t>
            </a:r>
            <a:endParaRPr lang="id-ID" sz="1500" b="1" dirty="0">
              <a:solidFill>
                <a:srgbClr val="000000"/>
              </a:solidFill>
              <a:latin typeface="Arial"/>
              <a:cs typeface="Arial"/>
            </a:endParaRPr>
          </a:p>
          <a:p>
            <a:pPr marL="0" indent="0" algn="l">
              <a:lnSpc>
                <a:spcPct val="100000"/>
              </a:lnSpc>
              <a:spcBef>
                <a:spcPts val="0"/>
              </a:spcBef>
              <a:buNone/>
            </a:pPr>
            <a:r>
              <a:rPr lang="id-ID" sz="1300" dirty="0">
                <a:solidFill>
                  <a:srgbClr val="262626"/>
                </a:solidFill>
                <a:latin typeface="Arial"/>
                <a:cs typeface="Arial"/>
              </a:rPr>
              <a:t>Credit loss Adverse 2 setara 10,3% </a:t>
            </a:r>
            <a:r>
              <a:rPr lang="id-ID" sz="1300">
                <a:solidFill>
                  <a:srgbClr val="262626"/>
                </a:solidFill>
                <a:latin typeface="Arial"/>
                <a:cs typeface="Arial"/>
              </a:rPr>
              <a:t>modal </a:t>
            </a:r>
            <a:r>
              <a:rPr lang="it-IT" sz="1300">
                <a:solidFill>
                  <a:srgbClr val="262626"/>
                </a:solidFill>
                <a:latin typeface="Arial"/>
                <a:cs typeface="Arial"/>
              </a:rPr>
              <a:t>(61% dari total kerugian); rugi surat berharga 6,7% modal; NPL naik dari 2,1% ke 3,1%.</a:t>
            </a:r>
            <a:r>
              <a:rPr lang="id-ID" sz="1300">
                <a:solidFill>
                  <a:srgbClr val="262626"/>
                </a:solidFill>
                <a:latin typeface="Arial"/>
                <a:cs typeface="Arial"/>
              </a:rPr>
              <a:t> </a:t>
            </a:r>
            <a:r>
              <a:rPr lang="id-ID" sz="1300" dirty="0">
                <a:solidFill>
                  <a:srgbClr val="262626"/>
                </a:solidFill>
                <a:latin typeface="Arial"/>
                <a:cs typeface="Arial"/>
              </a:rPr>
              <a:t>Biaya dana naik lebih cepat dari bunga kredit, sehingga bunga bersih turun ±3,5% modal.</a:t>
            </a: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t-IT" sz="1500" b="1">
                <a:solidFill>
                  <a:srgbClr val="000000"/>
                </a:solidFill>
                <a:latin typeface="Arial"/>
                <a:cs typeface="Arial"/>
              </a:rPr>
              <a:t>Satu bank gagal di Adverse 2 (BINA); lima bank lain di bawah 14%</a:t>
            </a:r>
            <a:endParaRPr lang="id-ID" sz="1500" b="1">
              <a:solidFill>
                <a:srgbClr val="000000"/>
              </a:solidFill>
              <a:latin typeface="Arial"/>
              <a:cs typeface="Arial"/>
            </a:endParaRPr>
          </a:p>
          <a:p>
            <a:pPr marL="0" indent="0" algn="l">
              <a:lnSpc>
                <a:spcPct val="100000"/>
              </a:lnSpc>
              <a:spcBef>
                <a:spcPts val="0"/>
              </a:spcBef>
              <a:buNone/>
            </a:pPr>
            <a:r>
              <a:rPr lang="id-ID" sz="1300">
                <a:solidFill>
                  <a:srgbClr val="262626"/>
                </a:solidFill>
                <a:latin typeface="Arial"/>
                <a:cs typeface="Arial"/>
              </a:rPr>
              <a:t>BINA (KBMI 1) turun ke 6,5% karena surat berharga FV ±4 kali modal; MAYA, BBKP, BCIC, PNBS, dan BJBR di bawah 14%, batas tertinggi profil risiko (POJK 11/2016).</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Himbara lebih tahan meski CAR awalnya lebih rendah</a:t>
            </a:r>
          </a:p>
          <a:p>
            <a:pPr marL="0" indent="0" algn="l">
              <a:lnSpc>
                <a:spcPct val="100000"/>
              </a:lnSpc>
              <a:spcBef>
                <a:spcPts val="0"/>
              </a:spcBef>
              <a:buNone/>
            </a:pPr>
            <a:r>
              <a:rPr lang="id-ID" sz="1300">
                <a:solidFill>
                  <a:srgbClr val="262626"/>
                </a:solidFill>
                <a:latin typeface="Arial"/>
                <a:cs typeface="Arial"/>
              </a:rPr>
              <a:t>CAR Himbara turun 1,4 pp (19,4% ke 18,0%) vs Non-Himbara 3,0 pp (26,8% ke 23,8%); KBMI 2 paling tertekan (CAR 16,9%).</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Tree>
    <p:extLst>
      <p:ext uri="{BB962C8B-B14F-4D97-AF65-F5344CB8AC3E}">
        <p14:creationId xmlns:p14="http://schemas.microsoft.com/office/powerpoint/2010/main" val="2181219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888776-FE72-99F1-E859-6338F7E04619}"/>
              </a:ext>
            </a:extLst>
          </p:cNvPr>
          <p:cNvSpPr>
            <a:spLocks noGrp="1"/>
          </p:cNvSpPr>
          <p:nvPr>
            <p:ph type="title"/>
          </p:nvPr>
        </p:nvSpPr>
        <p:spPr/>
        <p:txBody>
          <a:bodyPr/>
          <a:lstStyle/>
          <a:p>
            <a:r>
              <a:rPr lang="id-ID" sz="2000"/>
              <a:t>Agenda</a:t>
            </a:r>
            <a:endParaRPr lang="id-ID" sz="2000" dirty="0"/>
          </a:p>
        </p:txBody>
      </p:sp>
      <p:cxnSp>
        <p:nvCxnSpPr>
          <p:cNvPr id="200" name="Line 201"/>
          <p:cNvCxnSpPr/>
          <p:nvPr/>
        </p:nvCxnSpPr>
        <p:spPr>
          <a:xfrm>
            <a:off x="558800" y="2159000"/>
            <a:ext cx="2052320" cy="0"/>
          </a:xfrm>
          <a:prstGeom prst="line">
            <a:avLst/>
          </a:prstGeom>
          <a:ln w="31750">
            <a:solidFill>
              <a:srgbClr val="A5644E"/>
            </a:solidFill>
          </a:ln>
        </p:spPr>
      </p:cxnSp>
      <p:sp>
        <p:nvSpPr>
          <p:cNvPr id="201" name="Text 202"/>
          <p:cNvSpPr txBox="1"/>
          <p:nvPr/>
        </p:nvSpPr>
        <p:spPr>
          <a:xfrm>
            <a:off x="55880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01</a:t>
            </a:r>
            <a:endParaRPr lang="id-ID" sz="3600" b="1" dirty="0">
              <a:latin typeface="Arial"/>
              <a:cs typeface="Arial"/>
            </a:endParaRPr>
          </a:p>
        </p:txBody>
      </p:sp>
      <p:sp>
        <p:nvSpPr>
          <p:cNvPr id="202" name="Text 203"/>
          <p:cNvSpPr txBox="1"/>
          <p:nvPr/>
        </p:nvSpPr>
        <p:spPr>
          <a:xfrm>
            <a:off x="55880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Kerangka stress test</a:t>
            </a:r>
            <a:endParaRPr lang="id-ID" sz="1600" b="1" dirty="0">
              <a:solidFill>
                <a:srgbClr val="000000"/>
              </a:solidFill>
              <a:latin typeface="Arial"/>
              <a:cs typeface="Arial"/>
            </a:endParaRPr>
          </a:p>
        </p:txBody>
      </p:sp>
      <p:sp>
        <p:nvSpPr>
          <p:cNvPr id="203" name="Text 204"/>
          <p:cNvSpPr txBox="1"/>
          <p:nvPr/>
        </p:nvSpPr>
        <p:spPr>
          <a:xfrm>
            <a:off x="55880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Alur dari skenario makro ke laba, modal, dan CAR</a:t>
            </a:r>
            <a:endParaRPr lang="id-ID" sz="1400" b="0" dirty="0">
              <a:solidFill>
                <a:srgbClr val="262626"/>
              </a:solidFill>
              <a:latin typeface="Arial"/>
              <a:cs typeface="Arial"/>
            </a:endParaRPr>
          </a:p>
        </p:txBody>
      </p:sp>
      <p:cxnSp>
        <p:nvCxnSpPr>
          <p:cNvPr id="204" name="Line 205"/>
          <p:cNvCxnSpPr/>
          <p:nvPr/>
        </p:nvCxnSpPr>
        <p:spPr>
          <a:xfrm>
            <a:off x="2814320" y="2159000"/>
            <a:ext cx="2052320" cy="0"/>
          </a:xfrm>
          <a:prstGeom prst="line">
            <a:avLst/>
          </a:prstGeom>
          <a:ln w="31750">
            <a:solidFill>
              <a:srgbClr val="A5644E"/>
            </a:solidFill>
          </a:ln>
        </p:spPr>
      </p:cxnSp>
      <p:sp>
        <p:nvSpPr>
          <p:cNvPr id="205" name="Text 206"/>
          <p:cNvSpPr txBox="1"/>
          <p:nvPr/>
        </p:nvSpPr>
        <p:spPr>
          <a:xfrm>
            <a:off x="281432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02</a:t>
            </a:r>
            <a:endParaRPr lang="id-ID" sz="3600" b="1" dirty="0">
              <a:latin typeface="Arial"/>
              <a:cs typeface="Arial"/>
            </a:endParaRPr>
          </a:p>
        </p:txBody>
      </p:sp>
      <p:sp>
        <p:nvSpPr>
          <p:cNvPr id="206" name="Text 207"/>
          <p:cNvSpPr txBox="1"/>
          <p:nvPr/>
        </p:nvSpPr>
        <p:spPr>
          <a:xfrm>
            <a:off x="281432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Asumsi</a:t>
            </a:r>
            <a:endParaRPr lang="id-ID" sz="1600" b="1" dirty="0">
              <a:solidFill>
                <a:srgbClr val="000000"/>
              </a:solidFill>
              <a:latin typeface="Arial"/>
              <a:cs typeface="Arial"/>
            </a:endParaRPr>
          </a:p>
        </p:txBody>
      </p:sp>
      <p:sp>
        <p:nvSpPr>
          <p:cNvPr id="207" name="Text 208"/>
          <p:cNvSpPr txBox="1"/>
          <p:nvPr/>
        </p:nvSpPr>
        <p:spPr>
          <a:xfrm>
            <a:off x="281432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d-ID" sz="1400" b="0">
                <a:solidFill>
                  <a:srgbClr val="262626"/>
                </a:solidFill>
                <a:latin typeface="Arial"/>
                <a:cs typeface="Arial"/>
              </a:rPr>
              <a:t>Skenario makro, sumber data, dan parameter</a:t>
            </a:r>
            <a:endParaRPr lang="id-ID" sz="1400" b="0" dirty="0">
              <a:solidFill>
                <a:srgbClr val="262626"/>
              </a:solidFill>
              <a:latin typeface="Arial"/>
              <a:cs typeface="Arial"/>
            </a:endParaRPr>
          </a:p>
        </p:txBody>
      </p:sp>
      <p:cxnSp>
        <p:nvCxnSpPr>
          <p:cNvPr id="208" name="Line 209"/>
          <p:cNvCxnSpPr/>
          <p:nvPr/>
        </p:nvCxnSpPr>
        <p:spPr>
          <a:xfrm>
            <a:off x="5069840" y="2159000"/>
            <a:ext cx="2052320" cy="0"/>
          </a:xfrm>
          <a:prstGeom prst="line">
            <a:avLst/>
          </a:prstGeom>
          <a:ln w="31750">
            <a:solidFill>
              <a:srgbClr val="A5644E"/>
            </a:solidFill>
          </a:ln>
        </p:spPr>
      </p:cxnSp>
      <p:sp>
        <p:nvSpPr>
          <p:cNvPr id="209" name="Text 210"/>
          <p:cNvSpPr txBox="1"/>
          <p:nvPr/>
        </p:nvSpPr>
        <p:spPr>
          <a:xfrm>
            <a:off x="506984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03</a:t>
            </a:r>
            <a:endParaRPr lang="id-ID" sz="3600" b="1" dirty="0">
              <a:latin typeface="Arial"/>
              <a:cs typeface="Arial"/>
            </a:endParaRPr>
          </a:p>
        </p:txBody>
      </p:sp>
      <p:sp>
        <p:nvSpPr>
          <p:cNvPr id="210" name="Text 211"/>
          <p:cNvSpPr txBox="1"/>
          <p:nvPr/>
        </p:nvSpPr>
        <p:spPr>
          <a:xfrm>
            <a:off x="506984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Satellite model</a:t>
            </a:r>
            <a:endParaRPr lang="id-ID" sz="1600" b="1" dirty="0">
              <a:solidFill>
                <a:srgbClr val="000000"/>
              </a:solidFill>
              <a:latin typeface="Arial"/>
              <a:cs typeface="Arial"/>
            </a:endParaRPr>
          </a:p>
        </p:txBody>
      </p:sp>
      <p:sp>
        <p:nvSpPr>
          <p:cNvPr id="211" name="Text 212"/>
          <p:cNvSpPr txBox="1"/>
          <p:nvPr/>
        </p:nvSpPr>
        <p:spPr>
          <a:xfrm>
            <a:off x="506984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it-IT" sz="1400" b="0">
                <a:solidFill>
                  <a:srgbClr val="262626"/>
                </a:solidFill>
                <a:latin typeface="Arial"/>
                <a:cs typeface="Arial"/>
              </a:rPr>
              <a:t>Model NPL dan provisi beserta prediktornya</a:t>
            </a:r>
            <a:endParaRPr lang="id-ID" sz="1400" b="0" dirty="0">
              <a:solidFill>
                <a:srgbClr val="262626"/>
              </a:solidFill>
              <a:latin typeface="Arial"/>
              <a:cs typeface="Arial"/>
            </a:endParaRPr>
          </a:p>
        </p:txBody>
      </p:sp>
      <p:cxnSp>
        <p:nvCxnSpPr>
          <p:cNvPr id="212" name="Line 213"/>
          <p:cNvCxnSpPr/>
          <p:nvPr/>
        </p:nvCxnSpPr>
        <p:spPr>
          <a:xfrm>
            <a:off x="7325360" y="2159000"/>
            <a:ext cx="2052320" cy="0"/>
          </a:xfrm>
          <a:prstGeom prst="line">
            <a:avLst/>
          </a:prstGeom>
          <a:ln w="31750">
            <a:solidFill>
              <a:srgbClr val="A5644E"/>
            </a:solidFill>
          </a:ln>
        </p:spPr>
      </p:cxnSp>
      <p:sp>
        <p:nvSpPr>
          <p:cNvPr id="213" name="Text 214"/>
          <p:cNvSpPr txBox="1"/>
          <p:nvPr/>
        </p:nvSpPr>
        <p:spPr>
          <a:xfrm>
            <a:off x="732536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04</a:t>
            </a:r>
            <a:endParaRPr lang="id-ID" sz="3600" b="1" dirty="0">
              <a:latin typeface="Arial"/>
              <a:cs typeface="Arial"/>
            </a:endParaRPr>
          </a:p>
        </p:txBody>
      </p:sp>
      <p:sp>
        <p:nvSpPr>
          <p:cNvPr id="214" name="Text 215"/>
          <p:cNvSpPr txBox="1"/>
          <p:nvPr/>
        </p:nvSpPr>
        <p:spPr>
          <a:xfrm>
            <a:off x="732536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Estimasi akuntansi</a:t>
            </a:r>
            <a:endParaRPr lang="id-ID" sz="1600" b="1" dirty="0">
              <a:solidFill>
                <a:srgbClr val="000000"/>
              </a:solidFill>
              <a:latin typeface="Arial"/>
              <a:cs typeface="Arial"/>
            </a:endParaRPr>
          </a:p>
        </p:txBody>
      </p:sp>
      <p:sp>
        <p:nvSpPr>
          <p:cNvPr id="215" name="Text 216"/>
          <p:cNvSpPr txBox="1"/>
          <p:nvPr/>
        </p:nvSpPr>
        <p:spPr>
          <a:xfrm>
            <a:off x="732536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es-ES" sz="1400" b="0">
                <a:solidFill>
                  <a:srgbClr val="262626"/>
                </a:solidFill>
                <a:latin typeface="Arial"/>
                <a:cs typeface="Arial"/>
              </a:rPr>
              <a:t>Neraca, bunga, surat berharga, pajak, dan modal</a:t>
            </a:r>
            <a:endParaRPr lang="id-ID" sz="1400" b="0" dirty="0">
              <a:solidFill>
                <a:srgbClr val="262626"/>
              </a:solidFill>
              <a:latin typeface="Arial"/>
              <a:cs typeface="Arial"/>
            </a:endParaRPr>
          </a:p>
        </p:txBody>
      </p:sp>
      <p:cxnSp>
        <p:nvCxnSpPr>
          <p:cNvPr id="3" name="Line 213">
            <a:extLst>
              <a:ext uri="{FF2B5EF4-FFF2-40B4-BE49-F238E27FC236}">
                <a16:creationId xmlns:a16="http://schemas.microsoft.com/office/drawing/2014/main" id="{818F37D6-3A4B-CB7F-90AF-FD4D821EE574}"/>
              </a:ext>
            </a:extLst>
          </p:cNvPr>
          <p:cNvCxnSpPr/>
          <p:nvPr/>
        </p:nvCxnSpPr>
        <p:spPr>
          <a:xfrm>
            <a:off x="9580880" y="2159000"/>
            <a:ext cx="2052320" cy="0"/>
          </a:xfrm>
          <a:prstGeom prst="line">
            <a:avLst/>
          </a:prstGeom>
          <a:ln w="31750">
            <a:solidFill>
              <a:srgbClr val="A5644E"/>
            </a:solidFill>
          </a:ln>
        </p:spPr>
      </p:cxnSp>
      <p:sp>
        <p:nvSpPr>
          <p:cNvPr id="4" name="Text 214">
            <a:extLst>
              <a:ext uri="{FF2B5EF4-FFF2-40B4-BE49-F238E27FC236}">
                <a16:creationId xmlns:a16="http://schemas.microsoft.com/office/drawing/2014/main" id="{7480A4F4-D99D-A570-F7CF-B6C3B9853C0E}"/>
              </a:ext>
            </a:extLst>
          </p:cNvPr>
          <p:cNvSpPr txBox="1"/>
          <p:nvPr/>
        </p:nvSpPr>
        <p:spPr>
          <a:xfrm>
            <a:off x="9580880" y="2311400"/>
            <a:ext cx="205232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3600" b="1">
                <a:latin typeface="Arial"/>
                <a:cs typeface="Arial"/>
              </a:rPr>
              <a:t>05</a:t>
            </a:r>
            <a:endParaRPr lang="id-ID" sz="3600" b="1" dirty="0">
              <a:latin typeface="Arial"/>
              <a:cs typeface="Arial"/>
            </a:endParaRPr>
          </a:p>
        </p:txBody>
      </p:sp>
      <p:sp>
        <p:nvSpPr>
          <p:cNvPr id="5" name="Text 215">
            <a:extLst>
              <a:ext uri="{FF2B5EF4-FFF2-40B4-BE49-F238E27FC236}">
                <a16:creationId xmlns:a16="http://schemas.microsoft.com/office/drawing/2014/main" id="{EBF4126D-00B9-2B44-D07B-AC712E59FA90}"/>
              </a:ext>
            </a:extLst>
          </p:cNvPr>
          <p:cNvSpPr txBox="1"/>
          <p:nvPr/>
        </p:nvSpPr>
        <p:spPr>
          <a:xfrm>
            <a:off x="9580880" y="3175000"/>
            <a:ext cx="2052320" cy="711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600" b="1">
                <a:solidFill>
                  <a:srgbClr val="000000"/>
                </a:solidFill>
                <a:latin typeface="Arial"/>
                <a:cs typeface="Arial"/>
              </a:rPr>
              <a:t>Hasil stress test</a:t>
            </a:r>
            <a:endParaRPr lang="id-ID" sz="1600" b="1" dirty="0">
              <a:solidFill>
                <a:srgbClr val="000000"/>
              </a:solidFill>
              <a:latin typeface="Arial"/>
              <a:cs typeface="Arial"/>
            </a:endParaRPr>
          </a:p>
        </p:txBody>
      </p:sp>
      <p:sp>
        <p:nvSpPr>
          <p:cNvPr id="6" name="Text 216">
            <a:extLst>
              <a:ext uri="{FF2B5EF4-FFF2-40B4-BE49-F238E27FC236}">
                <a16:creationId xmlns:a16="http://schemas.microsoft.com/office/drawing/2014/main" id="{15FCDB47-8139-28D6-5B14-5E34DF45D9DF}"/>
              </a:ext>
            </a:extLst>
          </p:cNvPr>
          <p:cNvSpPr txBox="1"/>
          <p:nvPr/>
        </p:nvSpPr>
        <p:spPr>
          <a:xfrm>
            <a:off x="9580880" y="3962400"/>
            <a:ext cx="2052320" cy="1524000"/>
          </a:xfrm>
          <a:prstGeom prst="rect">
            <a:avLst/>
          </a:prstGeom>
          <a:noFill/>
          <a:ln>
            <a:noFill/>
          </a:ln>
        </p:spPr>
        <p:txBody>
          <a:bodyPr wrap="square" lIns="0" tIns="45720" rIns="91440" bIns="45720" anchor="t">
            <a:noAutofit/>
          </a:bodyPr>
          <a:lstStyle/>
          <a:p>
            <a:pPr marL="0" indent="0" algn="l">
              <a:lnSpc>
                <a:spcPct val="110000"/>
              </a:lnSpc>
              <a:spcBef>
                <a:spcPts val="0"/>
              </a:spcBef>
              <a:buNone/>
            </a:pPr>
            <a:r>
              <a:rPr lang="sv-SE" sz="1400" b="0">
                <a:solidFill>
                  <a:srgbClr val="262626"/>
                </a:solidFill>
                <a:latin typeface="Arial"/>
                <a:cs typeface="Arial"/>
              </a:rPr>
              <a:t>Industri, KBMI, Himbara, dan bank individual</a:t>
            </a:r>
            <a:endParaRPr lang="id-ID" sz="1400" b="0" dirty="0">
              <a:solidFill>
                <a:srgbClr val="262626"/>
              </a:solidFill>
              <a:latin typeface="Arial"/>
              <a:cs typeface="Arial"/>
            </a:endParaRPr>
          </a:p>
        </p:txBody>
      </p:sp>
    </p:spTree>
    <p:extLst>
      <p:ext uri="{BB962C8B-B14F-4D97-AF65-F5344CB8AC3E}">
        <p14:creationId xmlns:p14="http://schemas.microsoft.com/office/powerpoint/2010/main" val="1547543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Kerangka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01</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964326194"/>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C0FC35-DD55-254D-ED11-37C5E6970604}"/>
              </a:ext>
            </a:extLst>
          </p:cNvPr>
          <p:cNvSpPr>
            <a:spLocks noGrp="1"/>
          </p:cNvSpPr>
          <p:nvPr>
            <p:ph type="title"/>
          </p:nvPr>
        </p:nvSpPr>
        <p:spPr/>
        <p:txBody>
          <a:bodyPr/>
          <a:lstStyle/>
          <a:p>
            <a:r>
              <a:rPr lang="id-ID" sz="2000"/>
              <a:t>Tiga kanal risiko bertemu di laba, lalu CAR bergerak dari sisi modal dan RWA</a:t>
            </a:r>
            <a:endParaRPr lang="id-ID" sz="2000" dirty="0"/>
          </a:p>
        </p:txBody>
      </p:sp>
      <p:sp>
        <p:nvSpPr>
          <p:cNvPr id="200" name="Text 201"/>
          <p:cNvSpPr txBox="1"/>
          <p:nvPr/>
        </p:nvSpPr>
        <p:spPr>
          <a:xfrm>
            <a:off x="558800" y="1270000"/>
            <a:ext cx="1905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INPUT</a:t>
            </a:r>
          </a:p>
        </p:txBody>
      </p:sp>
      <p:sp>
        <p:nvSpPr>
          <p:cNvPr id="201" name="Text 202"/>
          <p:cNvSpPr txBox="1"/>
          <p:nvPr/>
        </p:nvSpPr>
        <p:spPr>
          <a:xfrm>
            <a:off x="2895600" y="1270000"/>
            <a:ext cx="2286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SATELLITE MODEL &amp; RULE</a:t>
            </a:r>
          </a:p>
        </p:txBody>
      </p:sp>
      <p:sp>
        <p:nvSpPr>
          <p:cNvPr id="202" name="Text 203"/>
          <p:cNvSpPr txBox="1"/>
          <p:nvPr/>
        </p:nvSpPr>
        <p:spPr>
          <a:xfrm>
            <a:off x="56134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LABA</a:t>
            </a:r>
          </a:p>
        </p:txBody>
      </p:sp>
      <p:sp>
        <p:nvSpPr>
          <p:cNvPr id="203" name="Text 204"/>
          <p:cNvSpPr txBox="1"/>
          <p:nvPr/>
        </p:nvSpPr>
        <p:spPr>
          <a:xfrm>
            <a:off x="7823200" y="1270000"/>
            <a:ext cx="17780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MODAL &amp; ATMR</a:t>
            </a:r>
          </a:p>
        </p:txBody>
      </p:sp>
      <p:sp>
        <p:nvSpPr>
          <p:cNvPr id="204" name="Text 205"/>
          <p:cNvSpPr txBox="1"/>
          <p:nvPr/>
        </p:nvSpPr>
        <p:spPr>
          <a:xfrm>
            <a:off x="10033000" y="1270000"/>
            <a:ext cx="1600200" cy="2286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000" b="1" dirty="0">
                <a:solidFill>
                  <a:srgbClr val="A5644E"/>
                </a:solidFill>
                <a:latin typeface="Arial"/>
                <a:cs typeface="Arial"/>
              </a:rPr>
              <a:t>RASIO</a:t>
            </a:r>
          </a:p>
        </p:txBody>
      </p:sp>
      <p:cxnSp>
        <p:nvCxnSpPr>
          <p:cNvPr id="205" name="Line 206"/>
          <p:cNvCxnSpPr/>
          <p:nvPr/>
        </p:nvCxnSpPr>
        <p:spPr>
          <a:xfrm>
            <a:off x="558800" y="1524000"/>
            <a:ext cx="11074400" cy="0"/>
          </a:xfrm>
          <a:prstGeom prst="line">
            <a:avLst/>
          </a:prstGeom>
          <a:ln w="9525">
            <a:solidFill>
              <a:srgbClr val="BFBFBF"/>
            </a:solidFill>
          </a:ln>
        </p:spPr>
      </p:cxnSp>
      <p:sp>
        <p:nvSpPr>
          <p:cNvPr id="206" name="Text 207"/>
          <p:cNvSpPr/>
          <p:nvPr/>
        </p:nvSpPr>
        <p:spPr>
          <a:xfrm>
            <a:off x="558800" y="1905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Skenario makro</a:t>
            </a:r>
          </a:p>
          <a:p>
            <a:pPr marL="0" indent="0" algn="l">
              <a:lnSpc>
                <a:spcPct val="100000"/>
              </a:lnSpc>
              <a:spcBef>
                <a:spcPts val="0"/>
              </a:spcBef>
              <a:buNone/>
            </a:pPr>
            <a:r>
              <a:rPr lang="id-ID" sz="1150">
                <a:solidFill>
                  <a:srgbClr val="262626"/>
                </a:solidFill>
                <a:latin typeface="Arial"/>
                <a:cs typeface="Arial"/>
              </a:rPr>
              <a:t>GDP, BI rate, CPI, kurs, properti, yield SBN; 3 skenario</a:t>
            </a:r>
          </a:p>
          <a:p>
            <a:pPr marL="0" indent="0" algn="l">
              <a:lnSpc>
                <a:spcPct val="100000"/>
              </a:lnSpc>
              <a:spcBef>
                <a:spcPts val="0"/>
              </a:spcBef>
              <a:buNone/>
            </a:pPr>
            <a:r>
              <a:rPr lang="id-ID" sz="1000">
                <a:solidFill>
                  <a:srgbClr val="595959"/>
                </a:solidFill>
                <a:latin typeface="Arial"/>
                <a:cs typeface="Arial"/>
              </a:rPr>
              <a:t>Solvency ST.xlsx · Langkah 1</a:t>
            </a:r>
            <a:endParaRPr lang="id-ID" sz="1000" dirty="0">
              <a:solidFill>
                <a:srgbClr val="595959"/>
              </a:solidFill>
              <a:latin typeface="Arial"/>
              <a:cs typeface="Arial"/>
            </a:endParaRPr>
          </a:p>
        </p:txBody>
      </p:sp>
      <p:sp>
        <p:nvSpPr>
          <p:cNvPr id="207" name="Text 208"/>
          <p:cNvSpPr/>
          <p:nvPr/>
        </p:nvSpPr>
        <p:spPr>
          <a:xfrm>
            <a:off x="558800" y="3683000"/>
            <a:ext cx="1905000" cy="13970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en-US" sz="1300" b="1">
                <a:solidFill>
                  <a:srgbClr val="000000"/>
                </a:solidFill>
                <a:latin typeface="Arial"/>
                <a:cs typeface="Arial"/>
              </a:rPr>
              <a:t>Posisi awal bank</a:t>
            </a:r>
          </a:p>
          <a:p>
            <a:pPr marL="0" indent="0" algn="l">
              <a:lnSpc>
                <a:spcPct val="100000"/>
              </a:lnSpc>
              <a:spcBef>
                <a:spcPts val="0"/>
              </a:spcBef>
              <a:buNone/>
            </a:pPr>
            <a:r>
              <a:rPr lang="en-US" sz="1150">
                <a:solidFill>
                  <a:srgbClr val="262626"/>
                </a:solidFill>
                <a:latin typeface="Arial"/>
                <a:cs typeface="Arial"/>
              </a:rPr>
              <a:t>Kredit, aset, deposito, modal, RWA</a:t>
            </a:r>
          </a:p>
          <a:p>
            <a:pPr marL="0" indent="0" algn="l">
              <a:lnSpc>
                <a:spcPct val="100000"/>
              </a:lnSpc>
              <a:spcBef>
                <a:spcPts val="0"/>
              </a:spcBef>
              <a:buNone/>
            </a:pPr>
            <a:r>
              <a:rPr lang="en-US" sz="1000">
                <a:solidFill>
                  <a:srgbClr val="595959"/>
                </a:solidFill>
                <a:latin typeface="Arial"/>
                <a:cs typeface="Arial"/>
              </a:rPr>
              <a:t>46 bank, 2026Q2 · Langkah 0</a:t>
            </a:r>
            <a:endParaRPr lang="id-ID" sz="1000" dirty="0">
              <a:solidFill>
                <a:srgbClr val="595959"/>
              </a:solidFill>
              <a:latin typeface="Arial"/>
              <a:cs typeface="Arial"/>
            </a:endParaRPr>
          </a:p>
        </p:txBody>
      </p:sp>
      <p:sp>
        <p:nvSpPr>
          <p:cNvPr id="208" name="Text 209"/>
          <p:cNvSpPr/>
          <p:nvPr/>
        </p:nvSpPr>
        <p:spPr>
          <a:xfrm>
            <a:off x="2895600" y="16256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Kanal kredit</a:t>
            </a:r>
          </a:p>
          <a:p>
            <a:pPr marL="0" indent="0" algn="l">
              <a:lnSpc>
                <a:spcPct val="100000"/>
              </a:lnSpc>
              <a:spcBef>
                <a:spcPts val="0"/>
              </a:spcBef>
              <a:buNone/>
            </a:pPr>
            <a:r>
              <a:rPr lang="id-ID" sz="1150">
                <a:solidFill>
                  <a:srgbClr val="262626"/>
                </a:solidFill>
                <a:latin typeface="Arial"/>
                <a:cs typeface="Arial"/>
              </a:rPr>
              <a:t>NPL → provisi + overlay stres</a:t>
            </a:r>
          </a:p>
          <a:p>
            <a:pPr marL="0" indent="0" algn="l">
              <a:lnSpc>
                <a:spcPct val="100000"/>
              </a:lnSpc>
              <a:spcBef>
                <a:spcPts val="0"/>
              </a:spcBef>
              <a:buNone/>
            </a:pPr>
            <a:r>
              <a:rPr lang="id-ID" sz="1000">
                <a:solidFill>
                  <a:srgbClr val="595959"/>
                </a:solidFill>
                <a:latin typeface="Arial"/>
                <a:cs typeface="Arial"/>
              </a:rPr>
              <a:t>Satellite model · Langkah 3–4</a:t>
            </a:r>
            <a:endParaRPr lang="id-ID" sz="1000" dirty="0">
              <a:solidFill>
                <a:srgbClr val="595959"/>
              </a:solidFill>
              <a:latin typeface="Arial"/>
              <a:cs typeface="Arial"/>
            </a:endParaRPr>
          </a:p>
        </p:txBody>
      </p:sp>
      <p:sp>
        <p:nvSpPr>
          <p:cNvPr id="209" name="Text 210"/>
          <p:cNvSpPr/>
          <p:nvPr/>
        </p:nvSpPr>
        <p:spPr>
          <a:xfrm>
            <a:off x="2895600" y="28702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Neraca &amp; bunga</a:t>
            </a:r>
          </a:p>
          <a:p>
            <a:pPr marL="0" indent="0" algn="l">
              <a:lnSpc>
                <a:spcPct val="100000"/>
              </a:lnSpc>
              <a:spcBef>
                <a:spcPts val="0"/>
              </a:spcBef>
              <a:buNone/>
            </a:pPr>
            <a:r>
              <a:rPr lang="id-ID" sz="1150">
                <a:solidFill>
                  <a:srgbClr val="262626"/>
                </a:solidFill>
                <a:latin typeface="Arial"/>
                <a:cs typeface="Arial"/>
              </a:rPr>
              <a:t>Tumbuh dengan GDP nominal; bunga ikut BI rate (parsial)</a:t>
            </a:r>
          </a:p>
          <a:p>
            <a:pPr marL="0" indent="0" algn="l">
              <a:lnSpc>
                <a:spcPct val="100000"/>
              </a:lnSpc>
              <a:spcBef>
                <a:spcPts val="0"/>
              </a:spcBef>
              <a:buNone/>
            </a:pPr>
            <a:r>
              <a:rPr lang="id-ID" sz="1000">
                <a:solidFill>
                  <a:srgbClr val="595959"/>
                </a:solidFill>
                <a:latin typeface="Arial"/>
                <a:cs typeface="Arial"/>
              </a:rPr>
              <a:t>Rule · Langkah 2, 6, 7</a:t>
            </a:r>
            <a:endParaRPr lang="id-ID" sz="1000" dirty="0">
              <a:solidFill>
                <a:srgbClr val="595959"/>
              </a:solidFill>
              <a:latin typeface="Arial"/>
              <a:cs typeface="Arial"/>
            </a:endParaRPr>
          </a:p>
        </p:txBody>
      </p:sp>
      <p:sp>
        <p:nvSpPr>
          <p:cNvPr id="210" name="Text 211"/>
          <p:cNvSpPr/>
          <p:nvPr/>
        </p:nvSpPr>
        <p:spPr>
          <a:xfrm>
            <a:off x="2895600" y="4114800"/>
            <a:ext cx="2286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Surat berharga</a:t>
            </a:r>
          </a:p>
          <a:p>
            <a:pPr marL="0" indent="0" algn="l">
              <a:lnSpc>
                <a:spcPct val="100000"/>
              </a:lnSpc>
              <a:spcBef>
                <a:spcPts val="0"/>
              </a:spcBef>
              <a:buNone/>
            </a:pPr>
            <a:r>
              <a:rPr lang="id-ID" sz="1150">
                <a:solidFill>
                  <a:srgbClr val="262626"/>
                </a:solidFill>
                <a:latin typeface="Arial"/>
                <a:cs typeface="Arial"/>
              </a:rPr>
              <a:t>SBN × (−durasi × </a:t>
            </a:r>
            <a:r>
              <a:rPr lang="el-GR" sz="1150">
                <a:solidFill>
                  <a:srgbClr val="262626"/>
                </a:solidFill>
                <a:latin typeface="Arial"/>
                <a:cs typeface="Arial"/>
              </a:rPr>
              <a:t>Δ</a:t>
            </a:r>
            <a:r>
              <a:rPr lang="id-ID" sz="1150">
                <a:solidFill>
                  <a:srgbClr val="262626"/>
                </a:solidFill>
                <a:latin typeface="Arial"/>
                <a:cs typeface="Arial"/>
              </a:rPr>
              <a:t>yield)</a:t>
            </a:r>
          </a:p>
          <a:p>
            <a:pPr marL="0" indent="0" algn="l">
              <a:lnSpc>
                <a:spcPct val="100000"/>
              </a:lnSpc>
              <a:spcBef>
                <a:spcPts val="0"/>
              </a:spcBef>
              <a:buNone/>
            </a:pPr>
            <a:r>
              <a:rPr lang="id-ID" sz="1000">
                <a:solidFill>
                  <a:srgbClr val="595959"/>
                </a:solidFill>
                <a:latin typeface="Arial"/>
                <a:cs typeface="Arial"/>
              </a:rPr>
              <a:t>Rule · Langkah 5</a:t>
            </a:r>
            <a:endParaRPr lang="id-ID" sz="1000" dirty="0">
              <a:solidFill>
                <a:srgbClr val="595959"/>
              </a:solidFill>
              <a:latin typeface="Arial"/>
              <a:cs typeface="Arial"/>
            </a:endParaRPr>
          </a:p>
        </p:txBody>
      </p:sp>
      <p:sp>
        <p:nvSpPr>
          <p:cNvPr id="211" name="Text 212"/>
          <p:cNvSpPr/>
          <p:nvPr/>
        </p:nvSpPr>
        <p:spPr>
          <a:xfrm>
            <a:off x="5613400" y="2870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Laba</a:t>
            </a:r>
          </a:p>
          <a:p>
            <a:pPr marL="0" indent="0" algn="l">
              <a:lnSpc>
                <a:spcPct val="100000"/>
              </a:lnSpc>
              <a:spcBef>
                <a:spcPts val="0"/>
              </a:spcBef>
              <a:buNone/>
            </a:pPr>
            <a:r>
              <a:rPr lang="id-ID" sz="1150">
                <a:solidFill>
                  <a:srgbClr val="262626"/>
                </a:solidFill>
                <a:latin typeface="Arial"/>
                <a:cs typeface="Arial"/>
              </a:rPr>
              <a:t>EBT → pajak 22% → EAT; dividen 50%</a:t>
            </a:r>
          </a:p>
          <a:p>
            <a:pPr marL="0" indent="0" algn="l">
              <a:lnSpc>
                <a:spcPct val="100000"/>
              </a:lnSpc>
              <a:spcBef>
                <a:spcPts val="0"/>
              </a:spcBef>
              <a:buNone/>
            </a:pPr>
            <a:r>
              <a:rPr lang="id-ID" sz="1000">
                <a:solidFill>
                  <a:srgbClr val="595959"/>
                </a:solidFill>
                <a:latin typeface="Arial"/>
                <a:cs typeface="Arial"/>
              </a:rPr>
              <a:t>Identitas · Langkah 8</a:t>
            </a:r>
            <a:endParaRPr lang="id-ID" sz="1000" dirty="0">
              <a:solidFill>
                <a:srgbClr val="595959"/>
              </a:solidFill>
              <a:latin typeface="Arial"/>
              <a:cs typeface="Arial"/>
            </a:endParaRPr>
          </a:p>
        </p:txBody>
      </p:sp>
      <p:sp>
        <p:nvSpPr>
          <p:cNvPr id="212" name="Text 213"/>
          <p:cNvSpPr/>
          <p:nvPr/>
        </p:nvSpPr>
        <p:spPr>
          <a:xfrm>
            <a:off x="7823200" y="22352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Modal &amp; Tier 1</a:t>
            </a:r>
          </a:p>
          <a:p>
            <a:pPr marL="0" indent="0" algn="l">
              <a:lnSpc>
                <a:spcPct val="100000"/>
              </a:lnSpc>
              <a:spcBef>
                <a:spcPts val="0"/>
              </a:spcBef>
              <a:buNone/>
            </a:pPr>
            <a:r>
              <a:rPr lang="id-ID" sz="1150">
                <a:solidFill>
                  <a:srgbClr val="262626"/>
                </a:solidFill>
                <a:latin typeface="Arial"/>
                <a:cs typeface="Arial"/>
              </a:rPr>
              <a:t>Modal lalu + laba ditahan − rugi OCI</a:t>
            </a:r>
          </a:p>
          <a:p>
            <a:pPr marL="0" indent="0" algn="l">
              <a:lnSpc>
                <a:spcPct val="100000"/>
              </a:lnSpc>
              <a:spcBef>
                <a:spcPts val="0"/>
              </a:spcBef>
              <a:buNone/>
            </a:pPr>
            <a:r>
              <a:rPr lang="id-ID" sz="1000">
                <a:solidFill>
                  <a:srgbClr val="595959"/>
                </a:solidFill>
                <a:latin typeface="Arial"/>
                <a:cs typeface="Arial"/>
              </a:rPr>
              <a:t>Identitas · Langkah 9</a:t>
            </a:r>
            <a:endParaRPr lang="id-ID" sz="1000" dirty="0">
              <a:solidFill>
                <a:srgbClr val="595959"/>
              </a:solidFill>
              <a:latin typeface="Arial"/>
              <a:cs typeface="Arial"/>
            </a:endParaRPr>
          </a:p>
        </p:txBody>
      </p:sp>
      <p:sp>
        <p:nvSpPr>
          <p:cNvPr id="213" name="Text 214"/>
          <p:cNvSpPr/>
          <p:nvPr/>
        </p:nvSpPr>
        <p:spPr>
          <a:xfrm>
            <a:off x="7823200" y="3822700"/>
            <a:ext cx="1778000" cy="1041400"/>
          </a:xfrm>
          <a:prstGeom prst="rect">
            <a:avLst/>
          </a:prstGeom>
          <a:solidFill>
            <a:srgbClr val="F3E9E3"/>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000000"/>
                </a:solidFill>
                <a:latin typeface="Arial"/>
                <a:cs typeface="Arial"/>
              </a:rPr>
              <a:t>RWA / ATMR</a:t>
            </a:r>
          </a:p>
          <a:p>
            <a:pPr marL="0" indent="0" algn="l">
              <a:lnSpc>
                <a:spcPct val="100000"/>
              </a:lnSpc>
              <a:spcBef>
                <a:spcPts val="0"/>
              </a:spcBef>
              <a:buNone/>
            </a:pPr>
            <a:r>
              <a:rPr lang="id-ID" sz="1150">
                <a:solidFill>
                  <a:srgbClr val="262626"/>
                </a:solidFill>
                <a:latin typeface="Arial"/>
                <a:cs typeface="Arial"/>
              </a:rPr>
              <a:t>Tumbuh dengan GDP nominal skenario</a:t>
            </a:r>
          </a:p>
          <a:p>
            <a:pPr marL="0" indent="0" algn="l">
              <a:lnSpc>
                <a:spcPct val="100000"/>
              </a:lnSpc>
              <a:spcBef>
                <a:spcPts val="0"/>
              </a:spcBef>
              <a:buNone/>
            </a:pPr>
            <a:r>
              <a:rPr lang="id-ID" sz="1000">
                <a:solidFill>
                  <a:srgbClr val="595959"/>
                </a:solidFill>
                <a:latin typeface="Arial"/>
                <a:cs typeface="Arial"/>
              </a:rPr>
              <a:t>Rule · Langkah 2</a:t>
            </a:r>
            <a:endParaRPr lang="id-ID" sz="1000" dirty="0">
              <a:solidFill>
                <a:srgbClr val="595959"/>
              </a:solidFill>
              <a:latin typeface="Arial"/>
              <a:cs typeface="Arial"/>
            </a:endParaRPr>
          </a:p>
        </p:txBody>
      </p:sp>
      <p:sp>
        <p:nvSpPr>
          <p:cNvPr id="214" name="Text 215"/>
          <p:cNvSpPr/>
          <p:nvPr/>
        </p:nvSpPr>
        <p:spPr>
          <a:xfrm>
            <a:off x="10033000" y="2870200"/>
            <a:ext cx="1600200" cy="1041400"/>
          </a:xfrm>
          <a:prstGeom prst="rect">
            <a:avLst/>
          </a:prstGeom>
          <a:solidFill>
            <a:srgbClr val="A5644E"/>
          </a:solidFill>
          <a:ln>
            <a:noFill/>
          </a:ln>
        </p:spPr>
        <p:txBody>
          <a:bodyPr wrap="square" lIns="114300" tIns="88900" rIns="88900" bIns="76200" anchor="ctr">
            <a:noAutofit/>
          </a:bodyPr>
          <a:lstStyle/>
          <a:p>
            <a:pPr marL="0" indent="0" algn="l">
              <a:lnSpc>
                <a:spcPct val="100000"/>
              </a:lnSpc>
              <a:spcBef>
                <a:spcPts val="0"/>
              </a:spcBef>
              <a:buNone/>
            </a:pPr>
            <a:r>
              <a:rPr lang="id-ID" sz="1300" b="1">
                <a:solidFill>
                  <a:srgbClr val="FFFFFF"/>
                </a:solidFill>
                <a:latin typeface="Arial"/>
                <a:cs typeface="Arial"/>
              </a:rPr>
              <a:t>CAR &amp; Tier 1</a:t>
            </a:r>
          </a:p>
          <a:p>
            <a:pPr marL="0" indent="0" algn="l">
              <a:lnSpc>
                <a:spcPct val="100000"/>
              </a:lnSpc>
              <a:spcBef>
                <a:spcPts val="0"/>
              </a:spcBef>
              <a:buNone/>
            </a:pPr>
            <a:r>
              <a:rPr lang="id-ID" sz="1150">
                <a:solidFill>
                  <a:srgbClr val="FFFFFF"/>
                </a:solidFill>
                <a:latin typeface="Arial"/>
                <a:cs typeface="Arial"/>
              </a:rPr>
              <a:t>Modal ÷ RWA × 100</a:t>
            </a:r>
          </a:p>
          <a:p>
            <a:pPr marL="0" indent="0" algn="l">
              <a:lnSpc>
                <a:spcPct val="100000"/>
              </a:lnSpc>
              <a:spcBef>
                <a:spcPts val="0"/>
              </a:spcBef>
              <a:buNone/>
            </a:pPr>
            <a:r>
              <a:rPr lang="id-ID" sz="1000">
                <a:solidFill>
                  <a:srgbClr val="F3E9E3"/>
                </a:solidFill>
                <a:latin typeface="Arial"/>
                <a:cs typeface="Arial"/>
              </a:rPr>
              <a:t>Gagal &lt; 8% · Langkah 10</a:t>
            </a:r>
            <a:endParaRPr lang="id-ID" sz="1000" dirty="0">
              <a:solidFill>
                <a:srgbClr val="F3E9E3"/>
              </a:solidFill>
              <a:latin typeface="Arial"/>
              <a:cs typeface="Arial"/>
            </a:endParaRPr>
          </a:p>
        </p:txBody>
      </p:sp>
      <p:cxnSp>
        <p:nvCxnSpPr>
          <p:cNvPr id="215" name="Line 216"/>
          <p:cNvCxnSpPr/>
          <p:nvPr/>
        </p:nvCxnSpPr>
        <p:spPr>
          <a:xfrm>
            <a:off x="2463800" y="2603500"/>
            <a:ext cx="215900" cy="0"/>
          </a:xfrm>
          <a:prstGeom prst="line">
            <a:avLst/>
          </a:prstGeom>
          <a:ln w="9525">
            <a:solidFill>
              <a:srgbClr val="8C8C8C"/>
            </a:solidFill>
          </a:ln>
        </p:spPr>
      </p:cxnSp>
      <p:cxnSp>
        <p:nvCxnSpPr>
          <p:cNvPr id="216" name="Line 217"/>
          <p:cNvCxnSpPr/>
          <p:nvPr/>
        </p:nvCxnSpPr>
        <p:spPr>
          <a:xfrm>
            <a:off x="2463800" y="4381500"/>
            <a:ext cx="215900" cy="0"/>
          </a:xfrm>
          <a:prstGeom prst="line">
            <a:avLst/>
          </a:prstGeom>
          <a:ln w="9525">
            <a:solidFill>
              <a:srgbClr val="8C8C8C"/>
            </a:solidFill>
          </a:ln>
        </p:spPr>
      </p:cxnSp>
      <p:cxnSp>
        <p:nvCxnSpPr>
          <p:cNvPr id="217" name="Line 218"/>
          <p:cNvCxnSpPr/>
          <p:nvPr/>
        </p:nvCxnSpPr>
        <p:spPr>
          <a:xfrm>
            <a:off x="2679700" y="2146300"/>
            <a:ext cx="0" cy="2489200"/>
          </a:xfrm>
          <a:prstGeom prst="line">
            <a:avLst/>
          </a:prstGeom>
          <a:ln w="9525">
            <a:solidFill>
              <a:srgbClr val="8C8C8C"/>
            </a:solidFill>
          </a:ln>
        </p:spPr>
      </p:cxnSp>
      <p:cxnSp>
        <p:nvCxnSpPr>
          <p:cNvPr id="218" name="Line 219"/>
          <p:cNvCxnSpPr/>
          <p:nvPr/>
        </p:nvCxnSpPr>
        <p:spPr>
          <a:xfrm>
            <a:off x="2679700" y="2146300"/>
            <a:ext cx="215900" cy="0"/>
          </a:xfrm>
          <a:prstGeom prst="line">
            <a:avLst/>
          </a:prstGeom>
          <a:ln w="9525">
            <a:solidFill>
              <a:srgbClr val="8C8C8C"/>
            </a:solidFill>
            <a:tailEnd type="triangle" w="med" len="med"/>
          </a:ln>
        </p:spPr>
      </p:cxnSp>
      <p:cxnSp>
        <p:nvCxnSpPr>
          <p:cNvPr id="219" name="Line 220"/>
          <p:cNvCxnSpPr/>
          <p:nvPr/>
        </p:nvCxnSpPr>
        <p:spPr>
          <a:xfrm>
            <a:off x="2679700" y="3390900"/>
            <a:ext cx="215900" cy="0"/>
          </a:xfrm>
          <a:prstGeom prst="line">
            <a:avLst/>
          </a:prstGeom>
          <a:ln w="9525">
            <a:solidFill>
              <a:srgbClr val="8C8C8C"/>
            </a:solidFill>
            <a:tailEnd type="triangle" w="med" len="med"/>
          </a:ln>
        </p:spPr>
      </p:cxnSp>
      <p:cxnSp>
        <p:nvCxnSpPr>
          <p:cNvPr id="220" name="Line 221"/>
          <p:cNvCxnSpPr/>
          <p:nvPr/>
        </p:nvCxnSpPr>
        <p:spPr>
          <a:xfrm>
            <a:off x="2679700" y="4635500"/>
            <a:ext cx="215900" cy="0"/>
          </a:xfrm>
          <a:prstGeom prst="line">
            <a:avLst/>
          </a:prstGeom>
          <a:ln w="9525">
            <a:solidFill>
              <a:srgbClr val="8C8C8C"/>
            </a:solidFill>
            <a:tailEnd type="triangle" w="med" len="med"/>
          </a:ln>
        </p:spPr>
      </p:cxnSp>
      <p:cxnSp>
        <p:nvCxnSpPr>
          <p:cNvPr id="221" name="Line 222"/>
          <p:cNvCxnSpPr/>
          <p:nvPr/>
        </p:nvCxnSpPr>
        <p:spPr>
          <a:xfrm>
            <a:off x="5181600" y="2146300"/>
            <a:ext cx="215900" cy="0"/>
          </a:xfrm>
          <a:prstGeom prst="line">
            <a:avLst/>
          </a:prstGeom>
          <a:ln w="9525">
            <a:solidFill>
              <a:srgbClr val="8C8C8C"/>
            </a:solidFill>
          </a:ln>
        </p:spPr>
      </p:cxnSp>
      <p:cxnSp>
        <p:nvCxnSpPr>
          <p:cNvPr id="222" name="Line 223"/>
          <p:cNvCxnSpPr/>
          <p:nvPr/>
        </p:nvCxnSpPr>
        <p:spPr>
          <a:xfrm>
            <a:off x="5181600" y="3390900"/>
            <a:ext cx="215900" cy="0"/>
          </a:xfrm>
          <a:prstGeom prst="line">
            <a:avLst/>
          </a:prstGeom>
          <a:ln w="9525">
            <a:solidFill>
              <a:srgbClr val="8C8C8C"/>
            </a:solidFill>
          </a:ln>
        </p:spPr>
      </p:cxnSp>
      <p:cxnSp>
        <p:nvCxnSpPr>
          <p:cNvPr id="223" name="Line 224"/>
          <p:cNvCxnSpPr/>
          <p:nvPr/>
        </p:nvCxnSpPr>
        <p:spPr>
          <a:xfrm>
            <a:off x="5181600" y="4635500"/>
            <a:ext cx="215900" cy="0"/>
          </a:xfrm>
          <a:prstGeom prst="line">
            <a:avLst/>
          </a:prstGeom>
          <a:ln w="9525">
            <a:solidFill>
              <a:srgbClr val="8C8C8C"/>
            </a:solidFill>
          </a:ln>
        </p:spPr>
      </p:cxnSp>
      <p:cxnSp>
        <p:nvCxnSpPr>
          <p:cNvPr id="224" name="Line 225"/>
          <p:cNvCxnSpPr/>
          <p:nvPr/>
        </p:nvCxnSpPr>
        <p:spPr>
          <a:xfrm>
            <a:off x="5397500" y="2146300"/>
            <a:ext cx="0" cy="2489200"/>
          </a:xfrm>
          <a:prstGeom prst="line">
            <a:avLst/>
          </a:prstGeom>
          <a:ln w="9525">
            <a:solidFill>
              <a:srgbClr val="8C8C8C"/>
            </a:solidFill>
          </a:ln>
        </p:spPr>
      </p:cxnSp>
      <p:cxnSp>
        <p:nvCxnSpPr>
          <p:cNvPr id="225" name="Line 226"/>
          <p:cNvCxnSpPr/>
          <p:nvPr/>
        </p:nvCxnSpPr>
        <p:spPr>
          <a:xfrm>
            <a:off x="5397500" y="3390900"/>
            <a:ext cx="215900" cy="0"/>
          </a:xfrm>
          <a:prstGeom prst="line">
            <a:avLst/>
          </a:prstGeom>
          <a:ln w="9525">
            <a:solidFill>
              <a:srgbClr val="8C8C8C"/>
            </a:solidFill>
            <a:tailEnd type="triangle" w="med" len="med"/>
          </a:ln>
        </p:spPr>
      </p:cxnSp>
      <p:cxnSp>
        <p:nvCxnSpPr>
          <p:cNvPr id="226" name="Line 227"/>
          <p:cNvCxnSpPr/>
          <p:nvPr/>
        </p:nvCxnSpPr>
        <p:spPr>
          <a:xfrm>
            <a:off x="7391400" y="3390900"/>
            <a:ext cx="215900" cy="0"/>
          </a:xfrm>
          <a:prstGeom prst="line">
            <a:avLst/>
          </a:prstGeom>
          <a:ln w="9525">
            <a:solidFill>
              <a:srgbClr val="8C8C8C"/>
            </a:solidFill>
          </a:ln>
        </p:spPr>
      </p:cxnSp>
      <p:cxnSp>
        <p:nvCxnSpPr>
          <p:cNvPr id="227" name="Line 228"/>
          <p:cNvCxnSpPr/>
          <p:nvPr/>
        </p:nvCxnSpPr>
        <p:spPr>
          <a:xfrm>
            <a:off x="7607300" y="2755900"/>
            <a:ext cx="0" cy="635000"/>
          </a:xfrm>
          <a:prstGeom prst="line">
            <a:avLst/>
          </a:prstGeom>
          <a:ln w="9525">
            <a:solidFill>
              <a:srgbClr val="8C8C8C"/>
            </a:solidFill>
          </a:ln>
        </p:spPr>
      </p:cxnSp>
      <p:cxnSp>
        <p:nvCxnSpPr>
          <p:cNvPr id="228" name="Line 229"/>
          <p:cNvCxnSpPr/>
          <p:nvPr/>
        </p:nvCxnSpPr>
        <p:spPr>
          <a:xfrm>
            <a:off x="7607300" y="2755900"/>
            <a:ext cx="215900" cy="0"/>
          </a:xfrm>
          <a:prstGeom prst="line">
            <a:avLst/>
          </a:prstGeom>
          <a:ln w="9525">
            <a:solidFill>
              <a:srgbClr val="8C8C8C"/>
            </a:solidFill>
            <a:tailEnd type="triangle" w="med" len="med"/>
          </a:ln>
        </p:spPr>
      </p:cxnSp>
      <p:cxnSp>
        <p:nvCxnSpPr>
          <p:cNvPr id="229" name="Line 230"/>
          <p:cNvCxnSpPr/>
          <p:nvPr/>
        </p:nvCxnSpPr>
        <p:spPr>
          <a:xfrm>
            <a:off x="9601200" y="2755900"/>
            <a:ext cx="215900" cy="0"/>
          </a:xfrm>
          <a:prstGeom prst="line">
            <a:avLst/>
          </a:prstGeom>
          <a:ln w="9525">
            <a:solidFill>
              <a:srgbClr val="8C8C8C"/>
            </a:solidFill>
          </a:ln>
        </p:spPr>
      </p:cxnSp>
      <p:cxnSp>
        <p:nvCxnSpPr>
          <p:cNvPr id="230" name="Line 231"/>
          <p:cNvCxnSpPr/>
          <p:nvPr/>
        </p:nvCxnSpPr>
        <p:spPr>
          <a:xfrm>
            <a:off x="9601200" y="4343400"/>
            <a:ext cx="215900" cy="0"/>
          </a:xfrm>
          <a:prstGeom prst="line">
            <a:avLst/>
          </a:prstGeom>
          <a:ln w="9525">
            <a:solidFill>
              <a:srgbClr val="8C8C8C"/>
            </a:solidFill>
          </a:ln>
        </p:spPr>
      </p:cxnSp>
      <p:cxnSp>
        <p:nvCxnSpPr>
          <p:cNvPr id="231" name="Line 232"/>
          <p:cNvCxnSpPr/>
          <p:nvPr/>
        </p:nvCxnSpPr>
        <p:spPr>
          <a:xfrm>
            <a:off x="9817100" y="2755900"/>
            <a:ext cx="0" cy="1587500"/>
          </a:xfrm>
          <a:prstGeom prst="line">
            <a:avLst/>
          </a:prstGeom>
          <a:ln w="9525">
            <a:solidFill>
              <a:srgbClr val="8C8C8C"/>
            </a:solidFill>
          </a:ln>
        </p:spPr>
      </p:cxnSp>
      <p:cxnSp>
        <p:nvCxnSpPr>
          <p:cNvPr id="232" name="Line 233"/>
          <p:cNvCxnSpPr/>
          <p:nvPr/>
        </p:nvCxnSpPr>
        <p:spPr>
          <a:xfrm>
            <a:off x="9817100" y="3390900"/>
            <a:ext cx="215900" cy="0"/>
          </a:xfrm>
          <a:prstGeom prst="line">
            <a:avLst/>
          </a:prstGeom>
          <a:ln w="9525">
            <a:solidFill>
              <a:srgbClr val="8C8C8C"/>
            </a:solidFill>
            <a:tailEnd type="triangle" w="med" len="med"/>
          </a:ln>
        </p:spPr>
      </p:cxnSp>
      <p:cxnSp>
        <p:nvCxnSpPr>
          <p:cNvPr id="233" name="Line 234"/>
          <p:cNvCxnSpPr/>
          <p:nvPr/>
        </p:nvCxnSpPr>
        <p:spPr>
          <a:xfrm>
            <a:off x="558800" y="5435600"/>
            <a:ext cx="11074400" cy="0"/>
          </a:xfrm>
          <a:prstGeom prst="line">
            <a:avLst/>
          </a:prstGeom>
          <a:ln w="9525">
            <a:solidFill>
              <a:srgbClr val="D9D9D9"/>
            </a:solidFill>
          </a:ln>
        </p:spPr>
      </p:cxnSp>
      <p:sp>
        <p:nvSpPr>
          <p:cNvPr id="234" name="Text 235"/>
          <p:cNvSpPr txBox="1"/>
          <p:nvPr/>
        </p:nvSpPr>
        <p:spPr>
          <a:xfrm>
            <a:off x="558800" y="5511800"/>
            <a:ext cx="11074400" cy="4572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262626"/>
                </a:solidFill>
                <a:latin typeface="Arial"/>
                <a:cs typeface="Arial"/>
              </a:rPr>
              <a:t>Horizon 4 kuartal (2026Q3–2027Q2); bank dinyatakan gagal </a:t>
            </a:r>
            <a:r>
              <a:rPr lang="it-IT" sz="1150">
                <a:solidFill>
                  <a:srgbClr val="262626"/>
                </a:solidFill>
                <a:latin typeface="Arial"/>
                <a:cs typeface="Arial"/>
              </a:rPr>
              <a:t>bila CAR &lt; 8% di kuartal mana pun (batas profil risiko 9–14% juga dilaporkan).</a:t>
            </a:r>
            <a:r>
              <a:rPr lang="id-ID" sz="1150">
                <a:solidFill>
                  <a:srgbClr val="262626"/>
                </a:solidFill>
                <a:latin typeface="Arial"/>
                <a:cs typeface="Arial"/>
              </a:rPr>
              <a:t> Belum dimodelkan: risiko likuiditas, PD-LGD-EAD, contagion antarbank, dan respons manajemen.</a:t>
            </a:r>
            <a:endParaRPr lang="id-ID" sz="1150" dirty="0">
              <a:solidFill>
                <a:srgbClr val="262626"/>
              </a:solidFill>
              <a:latin typeface="Arial"/>
              <a:cs typeface="Arial"/>
            </a:endParaRPr>
          </a:p>
        </p:txBody>
      </p:sp>
    </p:spTree>
    <p:extLst>
      <p:ext uri="{BB962C8B-B14F-4D97-AF65-F5344CB8AC3E}">
        <p14:creationId xmlns:p14="http://schemas.microsoft.com/office/powerpoint/2010/main" val="24391762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Alur perhitungan: 10 langkah yang diulang setiap kuartal, per bank dan per skenario</a:t>
            </a:r>
            <a:endParaRPr lang="id-ID" sz="2000" dirty="0"/>
          </a:p>
        </p:txBody>
      </p:sp>
      <p:graphicFrame>
        <p:nvGraphicFramePr>
          <p:cNvPr id="200" name="Table 201"/>
          <p:cNvGraphicFramePr>
            <a:graphicFrameLocks noGrp="1"/>
          </p:cNvGraphicFramePr>
          <p:nvPr/>
        </p:nvGraphicFramePr>
        <p:xfrm>
          <a:off x="558800" y="1270000"/>
          <a:ext cx="11074400" cy="414528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gridCol w="1524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Langkah</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Apa yang dihitung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Input utama</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Dipakai di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0. Posisi awal (sekali)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00" b="0">
                          <a:solidFill>
                            <a:srgbClr val="000000"/>
                          </a:solidFill>
                          <a:latin typeface="Arial"/>
                          <a:cs typeface="Arial"/>
                        </a:rPr>
                        <a:t>Rasio awal tiap bank dari data 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Laporan keuangan bank (Bloomberg)</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langkah</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1. Variabel skenario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Pertumbuhan nominal, perubahan BI rate, perubahan harga obligasi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Skenario makro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2, 5, 6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 Neraca dan RWA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Aset, kredit, deposito, surat berharga,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Langkah 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4–7, 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3. 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Rasio NPL tiap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kuartal lalu, GDP, BI rate, harga properti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4. Provisi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Biaya provisi (rupiah)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NPL, gap GDP,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5. Surat berharga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Rugi/untung MTM, dipisah FVTPL dan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Perubahan harga obligasi, eksposur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8, 9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6. 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kredit dan beban bunga dana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Suku bunga awal + </a:t>
                      </a:r>
                      <a:r>
                        <a:rPr lang="el-GR" sz="1100" b="0">
                          <a:solidFill>
                            <a:srgbClr val="000000"/>
                          </a:solidFill>
                          <a:latin typeface="Arial"/>
                          <a:cs typeface="Arial"/>
                        </a:rPr>
                        <a:t>Δ</a:t>
                      </a:r>
                      <a:r>
                        <a:rPr lang="id-ID" sz="1100" b="0">
                          <a:solidFill>
                            <a:srgbClr val="000000"/>
                          </a:solidFill>
                          <a:latin typeface="Arial"/>
                          <a:cs typeface="Arial"/>
                        </a:rPr>
                        <a:t>BI rate, kredit,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531468397"/>
                  </a:ext>
                </a:extLst>
              </a:tr>
              <a:tr h="342900">
                <a:tc>
                  <a:txBody>
                    <a:bodyPr/>
                    <a:lstStyle/>
                    <a:p>
                      <a:pPr marL="0" indent="0" algn="l">
                        <a:lnSpc>
                          <a:spcPct val="100000"/>
                        </a:lnSpc>
                        <a:spcBef>
                          <a:spcPts val="0"/>
                        </a:spcBef>
                        <a:buNone/>
                      </a:pPr>
                      <a:r>
                        <a:rPr lang="id-ID" sz="1100" b="1">
                          <a:solidFill>
                            <a:srgbClr val="000000"/>
                          </a:solidFill>
                          <a:latin typeface="Arial"/>
                          <a:cs typeface="Arial"/>
                        </a:rPr>
                        <a:t>7.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100" b="0">
                          <a:solidFill>
                            <a:srgbClr val="000000"/>
                          </a:solidFill>
                          <a:latin typeface="Arial"/>
                          <a:cs typeface="Arial"/>
                        </a:rPr>
                        <a:t>Pendapatan fee dan biaya operasional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Rasio awal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134797890"/>
                  </a:ext>
                </a:extLst>
              </a:tr>
              <a:tr h="342900">
                <a:tc>
                  <a:txBody>
                    <a:bodyPr/>
                    <a:lstStyle/>
                    <a:p>
                      <a:pPr marL="0" indent="0" algn="l">
                        <a:lnSpc>
                          <a:spcPct val="100000"/>
                        </a:lnSpc>
                        <a:spcBef>
                          <a:spcPts val="0"/>
                        </a:spcBef>
                        <a:buNone/>
                      </a:pPr>
                      <a:r>
                        <a:rPr lang="id-ID" sz="1100" b="1">
                          <a:solidFill>
                            <a:srgbClr val="000000"/>
                          </a:solidFill>
                          <a:latin typeface="Arial"/>
                          <a:cs typeface="Arial"/>
                        </a:rPr>
                        <a:t>8. Laba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EBT, pajak, laba bersih</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Langkah 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30459692"/>
                  </a:ext>
                </a:extLst>
              </a:tr>
              <a:tr h="342900">
                <a:tc>
                  <a:txBody>
                    <a:bodyPr/>
                    <a:lstStyle/>
                    <a:p>
                      <a:pPr marL="0" indent="0" algn="l">
                        <a:lnSpc>
                          <a:spcPct val="100000"/>
                        </a:lnSpc>
                        <a:spcBef>
                          <a:spcPts val="0"/>
                        </a:spcBef>
                        <a:buNone/>
                      </a:pPr>
                      <a:r>
                        <a:rPr lang="id-ID" sz="1100" b="1">
                          <a:solidFill>
                            <a:srgbClr val="000000"/>
                          </a:solidFill>
                          <a:latin typeface="Arial"/>
                          <a:cs typeface="Arial"/>
                        </a:rPr>
                        <a:t>9. Modal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dan Tier 1 akhir kuartal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Modal lalu, laba ditahan, rugi FVOCI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768458"/>
                  </a:ext>
                </a:extLst>
              </a:tr>
              <a:tr h="342900">
                <a:tc>
                  <a:txBody>
                    <a:bodyPr/>
                    <a:lstStyle/>
                    <a:p>
                      <a:pPr marL="0" indent="0" algn="l">
                        <a:lnSpc>
                          <a:spcPct val="100000"/>
                        </a:lnSpc>
                        <a:spcBef>
                          <a:spcPts val="0"/>
                        </a:spcBef>
                        <a:buNone/>
                      </a:pPr>
                      <a:r>
                        <a:rPr lang="id-ID" sz="1100" b="1">
                          <a:solidFill>
                            <a:srgbClr val="000000"/>
                          </a:solidFill>
                          <a:latin typeface="Arial"/>
                          <a:cs typeface="Arial"/>
                        </a:rPr>
                        <a:t>10. Rasio dan status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CAR, Tier 1 ratio, status gagal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Modal, RWA</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Hasil dan agregasi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16528218"/>
                  </a:ext>
                </a:extLst>
              </a:tr>
            </a:tbl>
          </a:graphicData>
        </a:graphic>
      </p:graphicFrame>
      <p:sp>
        <p:nvSpPr>
          <p:cNvPr id="201" name="Text 202"/>
          <p:cNvSpPr txBox="1"/>
          <p:nvPr/>
        </p:nvSpPr>
        <p:spPr>
          <a:xfrm>
            <a:off x="558800" y="55422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Langkah 1–10 diulang 4 kali (2026Q3–2027Q2) untuk 46 bank × 3 skenario; hasil akhir satu kuartal menjadi titik awal kuartal berikutnya. Nomor langkah juga tercantum di flowchart.</a:t>
            </a:r>
            <a:endParaRPr lang="id-ID" sz="1150" dirty="0">
              <a:solidFill>
                <a:srgbClr val="000000"/>
              </a:solidFill>
              <a:latin typeface="Arial"/>
              <a:cs typeface="Arial"/>
            </a:endParaRPr>
          </a:p>
        </p:txBody>
      </p:sp>
    </p:spTree>
    <p:extLst>
      <p:ext uri="{BB962C8B-B14F-4D97-AF65-F5344CB8AC3E}">
        <p14:creationId xmlns:p14="http://schemas.microsoft.com/office/powerpoint/2010/main" val="186739997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0 · Posisi awal: rasio tiap bank diambil dari data 2026Q2</a:t>
            </a:r>
            <a:endParaRPr lang="id-ID" sz="2000" dirty="0"/>
          </a:p>
        </p:txBody>
      </p:sp>
      <p:graphicFrame>
        <p:nvGraphicFramePr>
          <p:cNvPr id="200" name="Table 201"/>
          <p:cNvGraphicFramePr>
            <a:graphicFrameLocks noGrp="1"/>
          </p:cNvGraphicFramePr>
          <p:nvPr/>
        </p:nvGraphicFramePr>
        <p:xfrm>
          <a:off x="558800" y="1270000"/>
          <a:ext cx="11074400" cy="36576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17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34544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Rumus</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Field Bloomberg</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Aset, kredit, deposito, modal, Tier 1, RWA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Nilai aktual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BS_TOT_ASSET, BS_TOT_LOAN, BS_CUSTOMER_DEPOSITS, BS_TOT_CAP_FUND, BS_TIER1_CAPITAL, BS_RISK_WEIGHTED_ASSETS</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Porsi kredit dan deposito</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Kredit ÷ aset; deposito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sv-SE" sz="1100" b="1">
                          <a:solidFill>
                            <a:srgbClr val="000000"/>
                          </a:solidFill>
                          <a:latin typeface="Arial"/>
                          <a:cs typeface="Arial"/>
                        </a:rPr>
                        <a:t>Suku bunga kredit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bunga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IS_INT_INC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dana (per kuartal)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100" b="0">
                          <a:solidFill>
                            <a:srgbClr val="000000"/>
                          </a:solidFill>
                          <a:latin typeface="Arial"/>
                          <a:cs typeface="Arial"/>
                        </a:rPr>
                        <a:t>(Pendapatan bunga − bunga bersih) ÷ deposito</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00" b="0">
                          <a:solidFill>
                            <a:srgbClr val="000000"/>
                          </a:solidFill>
                          <a:latin typeface="Arial"/>
                          <a:cs typeface="Arial"/>
                        </a:rPr>
                        <a:t>IS_INT_INC, NET_INT_INC</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100" b="1">
                          <a:solidFill>
                            <a:srgbClr val="000000"/>
                          </a:solidFill>
                          <a:latin typeface="Arial"/>
                          <a:cs typeface="Arial"/>
                        </a:rPr>
                        <a:t>Rasio pendapatan dan biaya nonbunga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Pendapatan / biaya nonbunga ÷ aset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Rata-rata 4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100" b="0">
                          <a:solidFill>
                            <a:srgbClr val="000000"/>
                          </a:solidFill>
                          <a:latin typeface="Arial"/>
                          <a:cs typeface="Arial"/>
                        </a:rPr>
                        <a:t>NON_INT_INC, NON_INT_EXP</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Biaya kredit dasar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Provisi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Rata-rata 8 kuartal terakhir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IS_PROV_FOR_LOAN_LOSS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bermasalah ÷ kredit</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2026Q2 (histori untuk regresi)</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BS_NON_PERFORM_LOANS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10723296"/>
                  </a:ext>
                </a:extLst>
              </a:tr>
              <a:tr h="342900">
                <a:tc>
                  <a:txBody>
                    <a:bodyPr/>
                    <a:lstStyle/>
                    <a:p>
                      <a:pPr marL="0" indent="0" algn="l">
                        <a:lnSpc>
                          <a:spcPct val="100000"/>
                        </a:lnSpc>
                        <a:spcBef>
                          <a:spcPts val="0"/>
                        </a:spcBef>
                        <a:buNone/>
                      </a:pPr>
                      <a:r>
                        <a:rPr lang="id-ID" sz="1100" b="1">
                          <a:solidFill>
                            <a:srgbClr val="000000"/>
                          </a:solidFill>
                          <a:latin typeface="Arial"/>
                          <a:cs typeface="Arial"/>
                        </a:rPr>
                        <a:t>Surat berharga dan porsi FVTPL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(FVOCI + FVTPL) ÷ kredit; FVTPL ÷ (FVOCI + FVTPL)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AV_SA_FA_AT_FV_THRU_OT_COMP_INC, TRADING_SECS_FA_AT_FV_THRU_PL</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872539243"/>
                  </a:ext>
                </a:extLst>
              </a:tr>
            </a:tbl>
          </a:graphicData>
        </a:graphic>
      </p:graphicFrame>
      <p:sp>
        <p:nvSpPr>
          <p:cNvPr id="201" name="Text 202"/>
          <p:cNvSpPr txBox="1"/>
          <p:nvPr/>
        </p:nvSpPr>
        <p:spPr>
          <a:xfrm>
            <a:off x="558800" y="50546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Pembersihan data: FVOCI diambil dari kolom kuartalan (FA_PERIOD_TYPE=Q); nilai FV negatif dianggap nol dan nilai kosong diisi kuartal sebelumnya (maks. 2); surat berharga lebih besar dari total aset diganti median KBMI; deposito yang salah skala dalam satu kuartal diganti rata-rata kuartal di sekitarnya (MCOR 2020Q4); BANK dikeluarkan. Bila porsi FVTPL tidak tersedia, dipakai 50%. Semua rasio dihitung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387016913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1–2 · Skenario diterjemahkan ke pertumbuhan neraca dan RWA</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794000">
                  <a:extLst>
                    <a:ext uri="{9D8B030D-6E8A-4147-A177-3AD203B41FA5}">
                      <a16:colId xmlns:a16="http://schemas.microsoft.com/office/drawing/2014/main" val="20000"/>
                    </a:ext>
                  </a:extLst>
                </a:gridCol>
                <a:gridCol w="4724400">
                  <a:extLst>
                    <a:ext uri="{9D8B030D-6E8A-4147-A177-3AD203B41FA5}">
                      <a16:colId xmlns:a16="http://schemas.microsoft.com/office/drawing/2014/main" val="20001"/>
                    </a:ext>
                  </a:extLst>
                </a:gridCol>
                <a:gridCol w="355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nominal g(t)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(GDP riil + CPI) ÷ 100)^(1/4) − 1</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GDP dan CPI year-on-year dari skenario</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BI rate(t) − BI rate(t−1)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Perubahan harga obligasi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SRBI 36,2%) × durasi 5 × </a:t>
                      </a:r>
                      <a:r>
                        <a:rPr lang="el-GR" sz="1200" b="0">
                          <a:solidFill>
                            <a:srgbClr val="000000"/>
                          </a:solidFill>
                          <a:latin typeface="Arial"/>
                          <a:cs typeface="Arial"/>
                        </a:rPr>
                        <a:t>Δ</a:t>
                      </a:r>
                      <a:r>
                        <a:rPr lang="id-ID" sz="1200" b="0">
                          <a:solidFill>
                            <a:srgbClr val="000000"/>
                          </a:solidFill>
                          <a:latin typeface="Arial"/>
                          <a:cs typeface="Arial"/>
                        </a:rPr>
                        <a:t>Yield SBN 10Y</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Dipakai di langkah 5; SRBI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Aset(t−1)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RWA(t)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l-PL" sz="1200" b="0">
                          <a:solidFill>
                            <a:srgbClr val="000000"/>
                          </a:solidFill>
                          <a:latin typeface="Arial"/>
                          <a:cs typeface="Arial"/>
                        </a:rPr>
                        <a:t>RWA(t−1) × (1 + 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Tanpa migrasi bobot risiko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kredit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Deposito(t)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Porsi deposito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Porsi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881410610"/>
                  </a:ext>
                </a:extLst>
              </a:tr>
              <a:tr h="342900">
                <a:tc>
                  <a:txBody>
                    <a:bodyPr/>
                    <a:lstStyle/>
                    <a:p>
                      <a:pPr marL="0" indent="0" algn="l">
                        <a:lnSpc>
                          <a:spcPct val="100000"/>
                        </a:lnSpc>
                        <a:spcBef>
                          <a:spcPts val="0"/>
                        </a:spcBef>
                        <a:buNone/>
                      </a:pPr>
                      <a:r>
                        <a:rPr lang="id-ID" sz="1200" b="1">
                          <a:solidFill>
                            <a:srgbClr val="000000"/>
                          </a:solidFill>
                          <a:latin typeface="Arial"/>
                          <a:cs typeface="Arial"/>
                        </a:rPr>
                        <a:t>Surat berharga(t)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surat berharga awal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tetap selama horizon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8743718"/>
                  </a:ext>
                </a:extLst>
              </a:tr>
            </a:tbl>
          </a:graphicData>
        </a:graphic>
      </p:graphicFrame>
      <p:sp>
        <p:nvSpPr>
          <p:cNvPr id="201" name="Text 202"/>
          <p:cNvSpPr txBox="1"/>
          <p:nvPr/>
        </p:nvSpPr>
        <p:spPr>
          <a:xfrm>
            <a:off x="558800" y="45440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Yield SBN 10Y tiap skenario sudah tersedia di sheet skenario (lihat bagian Asumsi). Neraca dan RWA tumbuh dengan GDP nominal, sehingga inflasi yang lebih tinggi ikut memperbesar RWA.</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6562046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3–4 · NPL dan provisi (kanal kredit)</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Rumus per kuartal t</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Keterangan</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Inti NPL(t)</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150" b="0">
                          <a:solidFill>
                            <a:srgbClr val="000000"/>
                          </a:solidFill>
                          <a:latin typeface="Arial"/>
                          <a:cs typeface="Arial"/>
                        </a:rPr>
                        <a:t>α(</a:t>
                      </a:r>
                      <a:r>
                        <a:rPr lang="id-ID" sz="1150" b="0">
                          <a:solidFill>
                            <a:srgbClr val="000000"/>
                          </a:solidFill>
                          <a:latin typeface="Arial"/>
                          <a:cs typeface="Arial"/>
                        </a:rPr>
                        <a:t>i) + 0,67 × Inti NPL(t−1) + </a:t>
                      </a:r>
                      <a:r>
                        <a:rPr lang="el-GR" sz="1150" b="0">
                          <a:solidFill>
                            <a:srgbClr val="000000"/>
                          </a:solidFill>
                          <a:latin typeface="Arial"/>
                          <a:cs typeface="Arial"/>
                        </a:rPr>
                        <a:t>Σ β(</a:t>
                      </a:r>
                      <a:r>
                        <a:rPr lang="id-ID" sz="1150" b="0">
                          <a:solidFill>
                            <a:srgbClr val="000000"/>
                          </a:solidFill>
                          <a:latin typeface="Arial"/>
                          <a:cs typeface="Arial"/>
                        </a:rPr>
                        <a:t>k)·GDP(t−k) + </a:t>
                      </a:r>
                      <a:r>
                        <a:rPr lang="el-GR" sz="1150" b="0">
                          <a:solidFill>
                            <a:srgbClr val="000000"/>
                          </a:solidFill>
                          <a:latin typeface="Arial"/>
                          <a:cs typeface="Arial"/>
                        </a:rPr>
                        <a:t>Σ γ(</a:t>
                      </a:r>
                      <a:r>
                        <a:rPr lang="id-ID" sz="1150" b="0">
                          <a:solidFill>
                            <a:srgbClr val="000000"/>
                          </a:solidFill>
                          <a:latin typeface="Arial"/>
                          <a:cs typeface="Arial"/>
                        </a:rPr>
                        <a:t>k)·BI rate(t−k), k = 1–4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Koefisien dari regresi panel (Lampiran A)</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Komponen properti(t)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−0,429 ÷ 4 × Σ ΔHarga properti(t−k), k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Judgment (elastisitas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max(Inti NPL + komponen properti,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Biaya kredit dasar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Rata-rata provisi/kredit 8 kuartal terakhir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Tetap per bank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Respons NPL(t)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0,19 × max(</a:t>
                      </a:r>
                      <a:r>
                        <a:rPr lang="el-GR" sz="1150" b="0">
                          <a:solidFill>
                            <a:srgbClr val="000000"/>
                          </a:solidFill>
                          <a:latin typeface="Arial"/>
                          <a:cs typeface="Arial"/>
                        </a:rPr>
                        <a:t>Δ</a:t>
                      </a:r>
                      <a:r>
                        <a:rPr lang="id-ID" sz="1150" b="0">
                          <a:solidFill>
                            <a:srgbClr val="000000"/>
                          </a:solidFill>
                          <a:latin typeface="Arial"/>
                          <a:cs typeface="Arial"/>
                        </a:rPr>
                        <a:t>NPL(t), 0) + 0,12 × max(</a:t>
                      </a:r>
                      <a:r>
                        <a:rPr lang="el-GR" sz="1150" b="0">
                          <a:solidFill>
                            <a:srgbClr val="000000"/>
                          </a:solidFill>
                          <a:latin typeface="Arial"/>
                          <a:cs typeface="Arial"/>
                        </a:rPr>
                        <a:t>Δ</a:t>
                      </a:r>
                      <a:r>
                        <a:rPr lang="id-ID" sz="1150" b="0">
                          <a:solidFill>
                            <a:srgbClr val="000000"/>
                          </a:solidFill>
                          <a:latin typeface="Arial"/>
                          <a:cs typeface="Arial"/>
                        </a:rPr>
                        <a:t>NPL(t−1), 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Regresi panel (Lampiran 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 × max(GDP baseline − GDP skenario, 0) × NPL(t)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Kalibrasi; nol di baseline</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Rasio provisi(t)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max(biaya dasar + respons, 0) + overlay</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 kredit per kuartal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736712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Provisi(t), rupiah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Rasio provisi ÷ 100 × Kredit(t)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Masuk ke laba (langkah 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99264546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α(</a:t>
            </a:r>
            <a:r>
              <a:rPr lang="id-ID" sz="1150">
                <a:solidFill>
                  <a:srgbClr val="000000"/>
                </a:solidFill>
                <a:latin typeface="Arial"/>
                <a:cs typeface="Arial"/>
              </a:rPr>
              <a:t>i) = fixed effect bank i (tingkat NPL normal bank). </a:t>
            </a:r>
            <a:r>
              <a:rPr lang="el-GR" sz="1150">
                <a:solidFill>
                  <a:srgbClr val="000000"/>
                </a:solidFill>
                <a:latin typeface="Arial"/>
                <a:cs typeface="Arial"/>
              </a:rPr>
              <a:t>Δ</a:t>
            </a:r>
            <a:r>
              <a:rPr lang="id-ID" sz="1150">
                <a:solidFill>
                  <a:srgbClr val="000000"/>
                </a:solidFill>
                <a:latin typeface="Arial"/>
                <a:cs typeface="Arial"/>
              </a:rPr>
              <a:t>NPL = perubahan NPL dari kuartal sebelumnya; hanya kenaikan yang menambah provisi.</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795617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Langkah 5–7 · Surat berharga, bunga, dan nonbunga</a:t>
            </a:r>
            <a:endParaRPr lang="id-ID" sz="2000" dirty="0"/>
          </a:p>
        </p:txBody>
      </p:sp>
      <p:graphicFrame>
        <p:nvGraphicFramePr>
          <p:cNvPr id="200" name="Table 201"/>
          <p:cNvGraphicFramePr>
            <a:graphicFrameLocks noGrp="1"/>
          </p:cNvGraphicFramePr>
          <p:nvPr/>
        </p:nvGraphicFramePr>
        <p:xfrm>
          <a:off x="558800" y="1270000"/>
          <a:ext cx="11074400" cy="33909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5105400">
                  <a:extLst>
                    <a:ext uri="{9D8B030D-6E8A-4147-A177-3AD203B41FA5}">
                      <a16:colId xmlns:a16="http://schemas.microsoft.com/office/drawing/2014/main" val="20001"/>
                    </a:ext>
                  </a:extLst>
                </a:gridCol>
                <a:gridCol w="3429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MTM(t)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−Perubahan harga obligasi ÷ 100 × Surat berharga(t)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Positif = rugi; negatif = untung</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FVTPL(t)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Masuk laba (langkah 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 FVOCI(t)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porsi FVTPL) × Rugi MTM</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Langsung mengurangi modal (langkah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Suku bunga kredit(t)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kredit(t−1) + </a:t>
                      </a:r>
                      <a:r>
                        <a:rPr lang="el-GR" sz="1200" b="0">
                          <a:solidFill>
                            <a:srgbClr val="000000"/>
                          </a:solidFill>
                          <a:latin typeface="Arial"/>
                          <a:cs typeface="Arial"/>
                        </a:rPr>
                        <a:t>β_</a:t>
                      </a:r>
                      <a:r>
                        <a:rPr lang="id-ID" sz="1200" b="0">
                          <a:solidFill>
                            <a:srgbClr val="000000"/>
                          </a:solidFill>
                          <a:latin typeface="Arial"/>
                          <a:cs typeface="Arial"/>
                        </a:rPr>
                        <a:t>l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l = 0,145 (transmisi ke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dana(t)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dana(t−1) + </a:t>
                      </a:r>
                      <a:r>
                        <a:rPr lang="el-GR" sz="1200" b="0">
                          <a:solidFill>
                            <a:srgbClr val="000000"/>
                          </a:solidFill>
                          <a:latin typeface="Arial"/>
                          <a:cs typeface="Arial"/>
                        </a:rPr>
                        <a:t>β_</a:t>
                      </a:r>
                      <a:r>
                        <a:rPr lang="id-ID" sz="1200" b="0">
                          <a:solidFill>
                            <a:srgbClr val="000000"/>
                          </a:solidFill>
                          <a:latin typeface="Arial"/>
                          <a:cs typeface="Arial"/>
                        </a:rPr>
                        <a:t>d × </a:t>
                      </a:r>
                      <a:r>
                        <a:rPr lang="el-GR" sz="1200" b="0">
                          <a:solidFill>
                            <a:srgbClr val="000000"/>
                          </a:solidFill>
                          <a:latin typeface="Arial"/>
                          <a:cs typeface="Arial"/>
                        </a:rPr>
                        <a:t>Δ</a:t>
                      </a:r>
                      <a:r>
                        <a:rPr lang="id-ID" sz="1200" b="0">
                          <a:solidFill>
                            <a:srgbClr val="000000"/>
                          </a:solidFill>
                          <a:latin typeface="Arial"/>
                          <a:cs typeface="Arial"/>
                        </a:rPr>
                        <a:t>BI rate ÷ 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β_</a:t>
                      </a:r>
                      <a:r>
                        <a:rPr lang="id-ID" sz="1200" b="0">
                          <a:solidFill>
                            <a:srgbClr val="000000"/>
                          </a:solidFill>
                          <a:latin typeface="Arial"/>
                          <a:cs typeface="Arial"/>
                        </a:rPr>
                        <a:t>d = 0,694 (transmisi ke dana)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Suku bunga kredit ÷ 100 × Kredit(t)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Beban 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Biaya dana ÷ 100 × Deposito(t)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27634576"/>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Fee dan pendapatan lain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90621165"/>
                  </a:ext>
                </a:extLst>
              </a:tr>
              <a:tr h="342900">
                <a:tc>
                  <a:txBody>
                    <a:bodyPr/>
                    <a:lstStyle/>
                    <a:p>
                      <a:pPr marL="0" indent="0" algn="l">
                        <a:lnSpc>
                          <a:spcPct val="100000"/>
                        </a:lnSpc>
                        <a:spcBef>
                          <a:spcPts val="0"/>
                        </a:spcBef>
                        <a:buNone/>
                      </a:pPr>
                      <a:r>
                        <a:rPr lang="id-ID" sz="1200" b="1">
                          <a:solidFill>
                            <a:srgbClr val="000000"/>
                          </a:solidFill>
                          <a:latin typeface="Arial"/>
                          <a:cs typeface="Arial"/>
                        </a:rPr>
                        <a:t>Biaya nonbunga(t)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Rasio awal × Aset(t)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Biaya operasional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15482078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Perubahan BI rate dibagi 4 karena suku bunga dihitung per kuartal (BI rate adalah suku bunga tahunan). </a:t>
            </a:r>
            <a:r>
              <a:rPr lang="el-GR" sz="1150">
                <a:solidFill>
                  <a:srgbClr val="000000"/>
                </a:solidFill>
                <a:latin typeface="Arial"/>
                <a:cs typeface="Arial"/>
              </a:rPr>
              <a:t>β = </a:t>
            </a:r>
            <a:r>
              <a:rPr lang="id-ID" sz="1150">
                <a:solidFill>
                  <a:srgbClr val="000000"/>
                </a:solidFill>
                <a:latin typeface="Arial"/>
                <a:cs typeface="Arial"/>
              </a:rPr>
              <a:t>porsi perubahan BI rate yang diteruskan ke suku bunga; dasar angkanya di bagian 04.</a:t>
            </a:r>
            <a:endParaRPr lang="id-ID" sz="1150" dirty="0">
              <a:solidFill>
                <a:srgbClr val="000000"/>
              </a:solidFill>
              <a:latin typeface="Arial"/>
              <a:cs typeface="Arial"/>
            </a:endParaRPr>
          </a:p>
        </p:txBody>
      </p:sp>
    </p:spTree>
    <p:extLst>
      <p:ext uri="{BB962C8B-B14F-4D97-AF65-F5344CB8AC3E}">
        <p14:creationId xmlns:p14="http://schemas.microsoft.com/office/powerpoint/2010/main" val="42924449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es-ES" sz="2000"/>
              <a:t>Langkah 8–10 · Laba, modal, dan CAR</a:t>
            </a:r>
            <a:endParaRPr lang="id-ID" sz="2000" dirty="0"/>
          </a:p>
        </p:txBody>
      </p:sp>
      <p:graphicFrame>
        <p:nvGraphicFramePr>
          <p:cNvPr id="200" name="Table 201"/>
          <p:cNvGraphicFramePr>
            <a:graphicFrameLocks noGrp="1"/>
          </p:cNvGraphicFramePr>
          <p:nvPr/>
        </p:nvGraphicFramePr>
        <p:xfrm>
          <a:off x="558800" y="1270000"/>
          <a:ext cx="11074400" cy="31470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5994400">
                  <a:extLst>
                    <a:ext uri="{9D8B030D-6E8A-4147-A177-3AD203B41FA5}">
                      <a16:colId xmlns:a16="http://schemas.microsoft.com/office/drawing/2014/main" val="20001"/>
                    </a:ext>
                  </a:extLst>
                </a:gridCol>
                <a:gridCol w="2921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 per kuartal t</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EBT(t)</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Pendapatan bunga − beban bunga + pendapatan nonbunga − biaya nonbunga − provisi − rugi FVTPL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Laba sebelum pajak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22% × max(EBT, 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Rugi tidak menghasilkan kredit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EBT − pajak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ditahan(t)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50% × laba bersih bila positif; 100% bila rugi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Dividen 50% dari laba positif</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Modal(t−1) + laba ditahan − rugi FVOCI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Rumus yang sama untuk Tier 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CAR(t)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r-FR" sz="1200" b="0">
                          <a:solidFill>
                            <a:srgbClr val="000000"/>
                          </a:solidFill>
                          <a:latin typeface="Arial"/>
                          <a:cs typeface="Arial"/>
                        </a:rPr>
                        <a:t>Modal(t)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Tier 1 ratio(t)</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e-DE" sz="1200" b="0">
                          <a:solidFill>
                            <a:srgbClr val="000000"/>
                          </a:solidFill>
                          <a:latin typeface="Arial"/>
                          <a:cs typeface="Arial"/>
                        </a:rPr>
                        <a:t>Tier 1(t) ÷ RWA(t) × 100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833234574"/>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r-FR" sz="1200" b="0">
                          <a:solidFill>
                            <a:srgbClr val="000000"/>
                          </a:solidFill>
                          <a:latin typeface="Arial"/>
                          <a:cs typeface="Arial"/>
                        </a:rPr>
                        <a:t>CAR &lt; 8% di salah satu kuartal 2026Q3–2027Q2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Dinilai per bank dan per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466091360"/>
                  </a:ext>
                </a:extLst>
              </a:tr>
            </a:tbl>
          </a:graphicData>
        </a:graphic>
      </p:graphicFrame>
    </p:spTree>
    <p:extLst>
      <p:ext uri="{BB962C8B-B14F-4D97-AF65-F5344CB8AC3E}">
        <p14:creationId xmlns:p14="http://schemas.microsoft.com/office/powerpoint/2010/main" val="29265784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Dari bank ke industri: cara angka hasil dihitung</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065150964"/>
              </p:ext>
            </p:extLst>
          </p:nvPr>
        </p:nvGraphicFramePr>
        <p:xfrm>
          <a:off x="558800" y="1270000"/>
          <a:ext cx="11074400" cy="339090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7899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Indikator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dan Tier 1 industri</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modal ÷ </a:t>
                      </a:r>
                      <a:r>
                        <a:rPr lang="el-GR" sz="1200" b="0">
                          <a:solidFill>
                            <a:srgbClr val="000000"/>
                          </a:solidFill>
                          <a:latin typeface="Arial"/>
                          <a:cs typeface="Arial"/>
                        </a:rPr>
                        <a:t>Σ </a:t>
                      </a:r>
                      <a:r>
                        <a:rPr lang="id-ID" sz="1200" b="0">
                          <a:solidFill>
                            <a:srgbClr val="000000"/>
                          </a:solidFill>
                          <a:latin typeface="Arial"/>
                          <a:cs typeface="Arial"/>
                        </a:rPr>
                        <a:t>RWA (bukan rata-rata CAR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industri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(NPL × kredit) ÷ Σ 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Credit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provisi selama 4 kuartal ÷ </a:t>
                      </a:r>
                      <a:r>
                        <a:rPr lang="el-GR" sz="1200" b="0">
                          <a:solidFill>
                            <a:srgbClr val="000000"/>
                          </a:solidFill>
                          <a:latin typeface="Arial"/>
                          <a:cs typeface="Arial"/>
                        </a:rPr>
                        <a:t>Σ </a:t>
                      </a:r>
                      <a:r>
                        <a:rPr lang="id-ID" sz="1200" b="0">
                          <a:solidFill>
                            <a:srgbClr val="000000"/>
                          </a:solidFill>
                          <a:latin typeface="Arial"/>
                          <a:cs typeface="Arial"/>
                        </a:rPr>
                        <a:t>modal awal (2026Q2)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Market loss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rugi MTM (FVTPL + FVOCI)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bersih (% modal)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Σ </a:t>
                      </a:r>
                      <a:r>
                        <a:rPr lang="id-ID" sz="1200" b="0">
                          <a:solidFill>
                            <a:srgbClr val="000000"/>
                          </a:solidFill>
                          <a:latin typeface="Arial"/>
                          <a:cs typeface="Arial"/>
                        </a:rPr>
                        <a:t>laba bersih selama 4 kuartal ÷ </a:t>
                      </a:r>
                      <a:r>
                        <a:rPr lang="el-GR" sz="1200" b="0">
                          <a:solidFill>
                            <a:srgbClr val="000000"/>
                          </a:solidFill>
                          <a:latin typeface="Arial"/>
                          <a:cs typeface="Arial"/>
                        </a:rPr>
                        <a:t>Σ </a:t>
                      </a:r>
                      <a:r>
                        <a:rPr lang="id-ID" sz="1200" b="0">
                          <a:solidFill>
                            <a:srgbClr val="000000"/>
                          </a:solidFill>
                          <a:latin typeface="Arial"/>
                          <a:cs typeface="Arial"/>
                        </a:rPr>
                        <a:t>modal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ROA disetahunkan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s-ES" sz="1200" b="0">
                          <a:solidFill>
                            <a:srgbClr val="000000"/>
                          </a:solidFill>
                          <a:latin typeface="Arial"/>
                          <a:cs typeface="Arial"/>
                        </a:rPr>
                        <a:t>Laba bersih kuartal × 4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Kelompok (KBMI, Himbara)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sv-SE" sz="1200" b="0">
                          <a:solidFill>
                            <a:srgbClr val="000000"/>
                          </a:solidFill>
                          <a:latin typeface="Arial"/>
                          <a:cs typeface="Arial"/>
                        </a:rPr>
                        <a:t>Rumus yang sama, hanya untuk bank dalam kelompok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086613558"/>
                  </a:ext>
                </a:extLst>
              </a:tr>
              <a:tr h="342900">
                <a:tc>
                  <a:txBody>
                    <a:bodyPr/>
                    <a:lstStyle/>
                    <a:p>
                      <a:pPr marL="0" indent="0" algn="l">
                        <a:lnSpc>
                          <a:spcPct val="100000"/>
                        </a:lnSpc>
                        <a:spcBef>
                          <a:spcPts val="0"/>
                        </a:spcBef>
                        <a:buNone/>
                      </a:pPr>
                      <a:r>
                        <a:rPr lang="id-ID" sz="1200" b="1">
                          <a:solidFill>
                            <a:srgbClr val="000000"/>
                          </a:solidFill>
                          <a:latin typeface="Arial"/>
                          <a:cs typeface="Arial"/>
                        </a:rPr>
                        <a:t>Jembatan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Tiap komponen modal ÷ RWA awal; efek RWA = CAR akhir − modal akhir ÷ RWA awal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96374520"/>
                  </a:ext>
                </a:extLst>
              </a:tr>
              <a:tr h="342900">
                <a:tc>
                  <a:txBody>
                    <a:bodyPr/>
                    <a:lstStyle/>
                    <a:p>
                      <a:pPr marL="0" indent="0" algn="l">
                        <a:lnSpc>
                          <a:spcPct val="100000"/>
                        </a:lnSpc>
                        <a:spcBef>
                          <a:spcPts val="0"/>
                        </a:spcBef>
                        <a:buNone/>
                      </a:pPr>
                      <a:r>
                        <a:rPr lang="id-ID" sz="1200" b="1">
                          <a:solidFill>
                            <a:srgbClr val="000000"/>
                          </a:solidFill>
                          <a:latin typeface="Arial"/>
                          <a:cs typeface="Arial"/>
                        </a:rPr>
                        <a:t>Jumlah bank gagal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Banyaknya bank dengan CAR &lt; 8% di salah satu kuartal; juga dihitung untuk batas profil risiko 9, 10, 11, dan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4244215825"/>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Hanya bank dengan proyeksi lengkap di ketiga skenario yang masuk agregat (46 bank). Semua indikator industri dihitung dari jumlah nominal, sehingga bank besar berbobot lebih besar.</a:t>
            </a:r>
            <a:endParaRPr lang="id-ID" sz="1150" dirty="0">
              <a:solidFill>
                <a:srgbClr val="000000"/>
              </a:solidFill>
              <a:latin typeface="Arial"/>
              <a:cs typeface="Arial"/>
            </a:endParaRPr>
          </a:p>
        </p:txBody>
      </p:sp>
    </p:spTree>
    <p:extLst>
      <p:ext uri="{BB962C8B-B14F-4D97-AF65-F5344CB8AC3E}">
        <p14:creationId xmlns:p14="http://schemas.microsoft.com/office/powerpoint/2010/main" val="28264974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Asumsi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02</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86779258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sv-SE" sz="2000"/>
              <a:t>Skenario makro: baseline ditambah shock berbasis standar deviasi historis</a:t>
            </a:r>
            <a:endParaRPr lang="id-ID" sz="2000" dirty="0"/>
          </a:p>
        </p:txBody>
      </p:sp>
      <p:graphicFrame>
        <p:nvGraphicFramePr>
          <p:cNvPr id="200" name="Table 201"/>
          <p:cNvGraphicFramePr>
            <a:graphicFrameLocks noGrp="1"/>
          </p:cNvGraphicFramePr>
          <p:nvPr/>
        </p:nvGraphicFramePr>
        <p:xfrm>
          <a:off x="558800" y="1270000"/>
          <a:ext cx="11074400" cy="270510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939800">
                  <a:extLst>
                    <a:ext uri="{9D8B030D-6E8A-4147-A177-3AD203B41FA5}">
                      <a16:colId xmlns:a16="http://schemas.microsoft.com/office/drawing/2014/main" val="20001"/>
                    </a:ext>
                  </a:extLst>
                </a:gridCol>
                <a:gridCol w="939800">
                  <a:extLst>
                    <a:ext uri="{9D8B030D-6E8A-4147-A177-3AD203B41FA5}">
                      <a16:colId xmlns:a16="http://schemas.microsoft.com/office/drawing/2014/main" val="20002"/>
                    </a:ext>
                  </a:extLst>
                </a:gridCol>
                <a:gridCol w="939800">
                  <a:extLst>
                    <a:ext uri="{9D8B030D-6E8A-4147-A177-3AD203B41FA5}">
                      <a16:colId xmlns:a16="http://schemas.microsoft.com/office/drawing/2014/main" val="20003"/>
                    </a:ext>
                  </a:extLst>
                </a:gridCol>
                <a:gridCol w="6096000">
                  <a:extLst>
                    <a:ext uri="{9D8B030D-6E8A-4147-A177-3AD203B41FA5}">
                      <a16:colId xmlns:a16="http://schemas.microsoft.com/office/drawing/2014/main" val="2962006235"/>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 (posisi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disusun</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riil (% yoy)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Baseline proyeksi; shock −0,25</a:t>
                      </a:r>
                      <a:r>
                        <a:rPr lang="el-GR" sz="1200" b="0">
                          <a:solidFill>
                            <a:srgbClr val="000000"/>
                          </a:solidFill>
                          <a:latin typeface="Arial"/>
                          <a:cs typeface="Arial"/>
                        </a:rPr>
                        <a:t>σ / −0,5σ </a:t>
                      </a:r>
                      <a:r>
                        <a:rPr lang="id-ID" sz="1200" b="0">
                          <a:solidFill>
                            <a:srgbClr val="000000"/>
                          </a:solidFill>
                          <a:latin typeface="Arial"/>
                          <a:cs typeface="Arial"/>
                        </a:rPr>
                        <a:t>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+50 bp / +150 bp (pola 2013, 2018, 2022)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CPI (% yoy)</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3,0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Kurs (Rp/USD)</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17.500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19.199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20.521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Shock depresiasi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 (% qoq)</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−2,50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Judgment; Adverse 1 = 50% shock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UST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4,96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6,11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7,26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l-GR" sz="1200" b="0">
                          <a:solidFill>
                            <a:srgbClr val="000000"/>
                          </a:solidFill>
                          <a:latin typeface="Arial"/>
                          <a:cs typeface="Arial"/>
                        </a:rPr>
                        <a:t>Shock +0,25σ / +0,5σ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SBN 10Y (%)</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6,85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8,26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9,45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0,43×ΔUST + 0,13×ΔBI rate + 0,08×Δln kurs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428916389"/>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Sumber: data historis BI, BPS, dan Bloomberg (Asset Market Updater, 1 Oktober 2026). Shock bersifat kumulatif per kuartal; </a:t>
            </a:r>
            <a:r>
              <a:rPr lang="el-GR" sz="1150">
                <a:solidFill>
                  <a:srgbClr val="000000"/>
                </a:solidFill>
                <a:latin typeface="Arial"/>
                <a:cs typeface="Arial"/>
              </a:rPr>
              <a:t>σ = </a:t>
            </a:r>
            <a:r>
              <a:rPr lang="id-ID" sz="1150">
                <a:solidFill>
                  <a:srgbClr val="000000"/>
                </a:solidFill>
                <a:latin typeface="Arial"/>
                <a:cs typeface="Arial"/>
              </a:rPr>
              <a:t>standar deviasi historis. Adverse 1 dan Adverse 2 adalah satu jenis guncangan (global) dengan tingkat keparahan berbeda.</a:t>
            </a:r>
            <a:endParaRPr lang="id-ID" sz="1150" dirty="0">
              <a:solidFill>
                <a:srgbClr val="000000"/>
              </a:solidFill>
              <a:latin typeface="Arial"/>
              <a:cs typeface="Arial"/>
            </a:endParaRPr>
          </a:p>
        </p:txBody>
      </p:sp>
    </p:spTree>
    <p:extLst>
      <p:ext uri="{BB962C8B-B14F-4D97-AF65-F5344CB8AC3E}">
        <p14:creationId xmlns:p14="http://schemas.microsoft.com/office/powerpoint/2010/main" val="29539462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Adverse 2: guncangan suku bunga global merambat ke ekonomi riil</a:t>
            </a:r>
            <a:endParaRPr lang="id-ID" sz="2000" dirty="0"/>
          </a:p>
        </p:txBody>
      </p:sp>
      <p:pic>
        <p:nvPicPr>
          <p:cNvPr id="4" name="Picture 3">
            <a:extLst>
              <a:ext uri="{FF2B5EF4-FFF2-40B4-BE49-F238E27FC236}">
                <a16:creationId xmlns:a16="http://schemas.microsoft.com/office/drawing/2014/main" id="{5E7CA79B-8F44-0C5F-9950-7D62ABB4AE3F}"/>
              </a:ext>
            </a:extLst>
          </p:cNvPr>
          <p:cNvPicPr>
            <a:picLocks noChangeAspect="1"/>
          </p:cNvPicPr>
          <p:nvPr/>
        </p:nvPicPr>
        <p:blipFill>
          <a:blip r:embed="rId3"/>
          <a:stretch>
            <a:fillRect/>
          </a:stretch>
        </p:blipFill>
        <p:spPr>
          <a:xfrm>
            <a:off x="406400" y="1206500"/>
            <a:ext cx="7820891" cy="5010727"/>
          </a:xfrm>
          <a:prstGeom prst="rect">
            <a:avLst/>
          </a:prstGeom>
        </p:spPr>
      </p:pic>
      <p:sp>
        <p:nvSpPr>
          <p:cNvPr id="40" name="Alur garis"/>
          <p:cNvSpPr/>
          <p:nvPr/>
        </p:nvSpPr>
        <p:spPr>
          <a:xfrm>
            <a:off x="8382000" y="1498600"/>
            <a:ext cx="25400" cy="2717800"/>
          </a:xfrm>
          <a:prstGeom prst="rect">
            <a:avLst/>
          </a:prstGeom>
          <a:solidFill>
            <a:srgbClr val="D9C3B9"/>
          </a:solidFill>
          <a:ln>
            <a:noFill/>
          </a:ln>
        </p:spPr>
        <p:txBody>
          <a:bodyPr/>
          <a:lstStyle/>
          <a:p>
            <a:endParaRPr lang="en-ID"/>
          </a:p>
        </p:txBody>
      </p:sp>
      <p:sp>
        <p:nvSpPr>
          <p:cNvPr id="21" name="Nomor 1"/>
          <p:cNvSpPr/>
          <p:nvPr/>
        </p:nvSpPr>
        <p:spPr>
          <a:xfrm>
            <a:off x="8229600" y="13335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1</a:t>
            </a:r>
          </a:p>
        </p:txBody>
      </p:sp>
      <p:sp>
        <p:nvSpPr>
          <p:cNvPr id="22" name="Langkah 1"/>
          <p:cNvSpPr txBox="1"/>
          <p:nvPr/>
        </p:nvSpPr>
        <p:spPr>
          <a:xfrm>
            <a:off x="8712200" y="13716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Pemicu: pasar keuangan global</a:t>
            </a:r>
          </a:p>
          <a:p>
            <a:r>
              <a:rPr lang="id-ID" sz="1300" dirty="0">
                <a:solidFill>
                  <a:srgbClr val="262626"/>
                </a:solidFill>
                <a:latin typeface="Arial"/>
                <a:cs typeface="Arial"/>
              </a:rPr>
              <a:t>Yield UST naik 2,8 pp, modal asing keluar, rupiah melemah ±15%. </a:t>
            </a:r>
            <a:r>
              <a:rPr lang="id-ID" sz="1300" b="1" dirty="0">
                <a:solidFill>
                  <a:srgbClr val="262626"/>
                </a:solidFill>
                <a:latin typeface="Arial"/>
                <a:cs typeface="Arial"/>
              </a:rPr>
              <a:t>Yield SBN 10Y naik ke 9,45%</a:t>
            </a:r>
            <a:r>
              <a:rPr lang="id-ID" sz="1300" dirty="0">
                <a:solidFill>
                  <a:srgbClr val="262626"/>
                </a:solidFill>
                <a:latin typeface="Arial"/>
                <a:cs typeface="Arial"/>
              </a:rPr>
              <a:t> (kanan bawah).</a:t>
            </a:r>
          </a:p>
        </p:txBody>
      </p:sp>
      <p:sp>
        <p:nvSpPr>
          <p:cNvPr id="23" name="Nomor 2"/>
          <p:cNvSpPr/>
          <p:nvPr/>
        </p:nvSpPr>
        <p:spPr>
          <a:xfrm>
            <a:off x="8229600" y="26924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2</a:t>
            </a:r>
          </a:p>
        </p:txBody>
      </p:sp>
      <p:sp>
        <p:nvSpPr>
          <p:cNvPr id="24" name="Langkah 2"/>
          <p:cNvSpPr txBox="1"/>
          <p:nvPr/>
        </p:nvSpPr>
        <p:spPr>
          <a:xfrm>
            <a:off x="8712200" y="27305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Respons: BI rate naik</a:t>
            </a:r>
          </a:p>
          <a:p>
            <a:r>
              <a:rPr lang="id-ID" sz="1300" dirty="0">
                <a:solidFill>
                  <a:srgbClr val="262626"/>
                </a:solidFill>
                <a:latin typeface="Arial"/>
                <a:cs typeface="Arial"/>
              </a:rPr>
              <a:t>Rupiah lemah mendorong inflasi impor ke 6,7%. </a:t>
            </a:r>
            <a:r>
              <a:rPr lang="id-ID" sz="1300" b="1" dirty="0">
                <a:solidFill>
                  <a:srgbClr val="262626"/>
                </a:solidFill>
                <a:latin typeface="Arial"/>
                <a:cs typeface="Arial"/>
              </a:rPr>
              <a:t>BI rate naik 150 bp ke 7,25%</a:t>
            </a:r>
            <a:r>
              <a:rPr lang="id-ID" sz="1300" dirty="0">
                <a:solidFill>
                  <a:srgbClr val="262626"/>
                </a:solidFill>
                <a:latin typeface="Arial"/>
                <a:cs typeface="Arial"/>
              </a:rPr>
              <a:t> (kanan atas).</a:t>
            </a:r>
          </a:p>
        </p:txBody>
      </p:sp>
      <p:sp>
        <p:nvSpPr>
          <p:cNvPr id="25" name="Nomor 3"/>
          <p:cNvSpPr/>
          <p:nvPr/>
        </p:nvSpPr>
        <p:spPr>
          <a:xfrm>
            <a:off x="8229600" y="4051300"/>
            <a:ext cx="330200" cy="330200"/>
          </a:xfrm>
          <a:prstGeom prst="ellipse">
            <a:avLst/>
          </a:prstGeom>
          <a:solidFill>
            <a:srgbClr val="A5644E"/>
          </a:solidFill>
          <a:ln>
            <a:noFill/>
          </a:ln>
        </p:spPr>
        <p:txBody>
          <a:bodyPr wrap="none" lIns="0" tIns="0" rIns="0" bIns="0" anchor="ctr">
            <a:noAutofit/>
          </a:bodyPr>
          <a:lstStyle/>
          <a:p>
            <a:pPr algn="ctr"/>
            <a:r>
              <a:rPr lang="id-ID" sz="1300" b="1" dirty="0">
                <a:solidFill>
                  <a:srgbClr val="FFFFFF"/>
                </a:solidFill>
                <a:latin typeface="Arial"/>
                <a:cs typeface="Arial"/>
              </a:rPr>
              <a:t>3</a:t>
            </a:r>
          </a:p>
        </p:txBody>
      </p:sp>
      <p:sp>
        <p:nvSpPr>
          <p:cNvPr id="26" name="Langkah 3"/>
          <p:cNvSpPr txBox="1"/>
          <p:nvPr/>
        </p:nvSpPr>
        <p:spPr>
          <a:xfrm>
            <a:off x="8712200" y="4089400"/>
            <a:ext cx="2971800" cy="1244600"/>
          </a:xfrm>
          <a:prstGeom prst="rect">
            <a:avLst/>
          </a:prstGeom>
          <a:noFill/>
        </p:spPr>
        <p:txBody>
          <a:bodyPr wrap="square" lIns="0" tIns="0" rIns="0" bIns="0" anchor="t">
            <a:noAutofit/>
          </a:bodyPr>
          <a:lstStyle/>
          <a:p>
            <a:pPr>
              <a:spcAft>
                <a:spcPts val="300"/>
              </a:spcAft>
            </a:pPr>
            <a:r>
              <a:rPr lang="id-ID" sz="1400" b="1" dirty="0">
                <a:solidFill>
                  <a:srgbClr val="A5644E"/>
                </a:solidFill>
                <a:latin typeface="Arial"/>
                <a:cs typeface="Arial"/>
              </a:rPr>
              <a:t>Dampak: ekonomi riil melambat</a:t>
            </a:r>
          </a:p>
          <a:p>
            <a:r>
              <a:rPr lang="id-ID" sz="1300" dirty="0">
                <a:solidFill>
                  <a:srgbClr val="262626"/>
                </a:solidFill>
                <a:latin typeface="Arial"/>
                <a:cs typeface="Arial"/>
              </a:rPr>
              <a:t>Suku bunga tinggi menekan permintaan: </a:t>
            </a:r>
            <a:r>
              <a:rPr lang="id-ID" sz="1300" b="1" dirty="0">
                <a:solidFill>
                  <a:srgbClr val="262626"/>
                </a:solidFill>
                <a:latin typeface="Arial"/>
                <a:cs typeface="Arial"/>
              </a:rPr>
              <a:t>GDP turun ke 0,7%</a:t>
            </a:r>
            <a:r>
              <a:rPr lang="id-ID" sz="1300" dirty="0">
                <a:solidFill>
                  <a:srgbClr val="262626"/>
                </a:solidFill>
                <a:latin typeface="Arial"/>
                <a:cs typeface="Arial"/>
              </a:rPr>
              <a:t> (kiri atas) dan </a:t>
            </a:r>
            <a:r>
              <a:rPr lang="id-ID" sz="1300" b="1" dirty="0">
                <a:solidFill>
                  <a:srgbClr val="262626"/>
                </a:solidFill>
                <a:latin typeface="Arial"/>
                <a:cs typeface="Arial"/>
              </a:rPr>
              <a:t>harga properti terkoreksi ±6,5%</a:t>
            </a:r>
            <a:r>
              <a:rPr lang="id-ID" sz="1300" dirty="0">
                <a:solidFill>
                  <a:srgbClr val="262626"/>
                </a:solidFill>
                <a:latin typeface="Arial"/>
                <a:cs typeface="Arial"/>
              </a:rPr>
              <a:t> dalam 4 kuartal (kiri bawah).</a:t>
            </a:r>
          </a:p>
        </p:txBody>
      </p:sp>
      <p:sp>
        <p:nvSpPr>
          <p:cNvPr id="27" name="Catatan Adverse 1"/>
          <p:cNvSpPr/>
          <p:nvPr/>
        </p:nvSpPr>
        <p:spPr>
          <a:xfrm>
            <a:off x="8229600" y="5334000"/>
            <a:ext cx="3454400" cy="838200"/>
          </a:xfrm>
          <a:prstGeom prst="rect">
            <a:avLst/>
          </a:prstGeom>
          <a:solidFill>
            <a:srgbClr val="FBEEC9"/>
          </a:solidFill>
          <a:ln>
            <a:noFill/>
          </a:ln>
        </p:spPr>
        <p:txBody>
          <a:bodyPr wrap="square" lIns="127000" tIns="76200" rIns="127000" bIns="76200" anchor="ctr">
            <a:noAutofit/>
          </a:bodyPr>
          <a:lstStyle/>
          <a:p>
            <a:r>
              <a:rPr lang="id-ID" sz="1300" b="1" dirty="0">
                <a:solidFill>
                  <a:srgbClr val="262626"/>
                </a:solidFill>
                <a:latin typeface="Arial"/>
                <a:cs typeface="Arial"/>
              </a:rPr>
              <a:t>Adverse 1: arah sama, ±separuh</a:t>
            </a:r>
          </a:p>
          <a:p>
            <a:r>
              <a:rPr lang="id-ID" sz="1200" dirty="0">
                <a:solidFill>
                  <a:srgbClr val="262626"/>
                </a:solidFill>
                <a:latin typeface="Arial"/>
                <a:cs typeface="Arial"/>
              </a:rPr>
              <a:t>GDP 3,0% · BI rate 6,25% · SBN 10Y 8,26%</a:t>
            </a:r>
          </a:p>
        </p:txBody>
      </p:sp>
    </p:spTree>
    <p:extLst>
      <p:ext uri="{BB962C8B-B14F-4D97-AF65-F5344CB8AC3E}">
        <p14:creationId xmlns:p14="http://schemas.microsoft.com/office/powerpoint/2010/main" val="318525323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Parameter lain: sebagian besar dari data, sisanya judgment yang terdokumentasi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137352719"/>
              </p:ext>
            </p:extLst>
          </p:nvPr>
        </p:nvGraphicFramePr>
        <p:xfrm>
          <a:off x="558800" y="1270000"/>
          <a:ext cx="11074400" cy="4160520"/>
        </p:xfrm>
        <a:graphic>
          <a:graphicData uri="http://schemas.openxmlformats.org/drawingml/2006/table">
            <a:tbl>
              <a:tblPr firstRow="1"/>
              <a:tblGrid>
                <a:gridCol w="3429000">
                  <a:extLst>
                    <a:ext uri="{9D8B030D-6E8A-4147-A177-3AD203B41FA5}">
                      <a16:colId xmlns:a16="http://schemas.microsoft.com/office/drawing/2014/main" val="20000"/>
                    </a:ext>
                  </a:extLst>
                </a:gridCol>
                <a:gridCol w="2540000">
                  <a:extLst>
                    <a:ext uri="{9D8B030D-6E8A-4147-A177-3AD203B41FA5}">
                      <a16:colId xmlns:a16="http://schemas.microsoft.com/office/drawing/2014/main" val="20001"/>
                    </a:ext>
                  </a:extLst>
                </a:gridCol>
                <a:gridCol w="5105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Parameter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Nilai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Sumber / dasar</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Data bank</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46 bank listed, 2014–2026Q2</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Bloomberg BQL (snapshot)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Horizon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4 kuartal (2026Q3–2027Q2)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Kerangka stress test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Batas gagal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s-ES" sz="1150" b="0">
                          <a:solidFill>
                            <a:srgbClr val="000000"/>
                          </a:solidFill>
                          <a:latin typeface="Arial"/>
                          <a:cs typeface="Arial"/>
                        </a:rPr>
                        <a:t>CAR &lt; 8% di kuartal mana pun; juga batas 9 / 10 / 11 / 14%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b-NO" sz="1150" b="0">
                          <a:solidFill>
                            <a:srgbClr val="000000"/>
                          </a:solidFill>
                          <a:latin typeface="Arial"/>
                          <a:cs typeface="Arial"/>
                        </a:rPr>
                        <a:t>POJK 11/2016 (KPMM sesuai profil risiko)</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Pajak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22% dari laba positif</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Tarif PPh badan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Dividen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50% dari laba positif; rugi penuh ke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Porsi SRBI (tidak di-mark-to-market)</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36,2% dari surat berharga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BI dan DJPPR, data kepemilikan Sep–Okt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Durasi portofolio SBN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5 tahun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Asumsi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11289100"/>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bunga kredit (</a:t>
                      </a:r>
                      <a:r>
                        <a:rPr lang="el-GR" sz="1150" b="1">
                          <a:solidFill>
                            <a:srgbClr val="000000"/>
                          </a:solidFill>
                          <a:latin typeface="Arial"/>
                          <a:cs typeface="Arial"/>
                        </a:rPr>
                        <a:t>β_</a:t>
                      </a:r>
                      <a:r>
                        <a:rPr lang="id-ID" sz="1150" b="1">
                          <a:solidFill>
                            <a:srgbClr val="000000"/>
                          </a:solidFill>
                          <a:latin typeface="Arial"/>
                          <a:cs typeface="Arial"/>
                        </a:rPr>
                        <a:t>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da-DK" sz="1150" b="0">
                          <a:solidFill>
                            <a:srgbClr val="000000"/>
                          </a:solidFill>
                          <a:latin typeface="Arial"/>
                          <a:cs typeface="Arial"/>
                        </a:rPr>
                        <a:t>Transmisi 3 episode kenaikan BI rate × komposisi kredit (BI, Mei 2026)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238829204"/>
                  </a:ext>
                </a:extLst>
              </a:tr>
              <a:tr h="342900">
                <a:tc>
                  <a:txBody>
                    <a:bodyPr/>
                    <a:lstStyle/>
                    <a:p>
                      <a:pPr marL="0" indent="0" algn="l">
                        <a:lnSpc>
                          <a:spcPct val="100000"/>
                        </a:lnSpc>
                        <a:spcBef>
                          <a:spcPts val="0"/>
                        </a:spcBef>
                        <a:buNone/>
                      </a:pPr>
                      <a:r>
                        <a:rPr lang="id-ID" sz="1150" b="1">
                          <a:solidFill>
                            <a:srgbClr val="000000"/>
                          </a:solidFill>
                          <a:latin typeface="Arial"/>
                          <a:cs typeface="Arial"/>
                        </a:rPr>
                        <a:t>Transmisi BI rate ke biaya dana (</a:t>
                      </a:r>
                      <a:r>
                        <a:rPr lang="el-GR" sz="1150" b="1">
                          <a:solidFill>
                            <a:srgbClr val="000000"/>
                          </a:solidFill>
                          <a:latin typeface="Arial"/>
                          <a:cs typeface="Arial"/>
                        </a:rPr>
                        <a:t>β_</a:t>
                      </a:r>
                      <a:r>
                        <a:rPr lang="id-ID" sz="1150" b="1">
                          <a:solidFill>
                            <a:srgbClr val="000000"/>
                          </a:solidFill>
                          <a:latin typeface="Arial"/>
                          <a:cs typeface="Arial"/>
                        </a:rPr>
                        <a:t>d)</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Transmisi deposito 1 bulan, diterapkan ke seluruh dana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24260644"/>
                  </a:ext>
                </a:extLst>
              </a:tr>
              <a:tr h="342900">
                <a:tc>
                  <a:txBody>
                    <a:bodyPr/>
                    <a:lstStyle/>
                    <a:p>
                      <a:pPr marL="0" indent="0" algn="l">
                        <a:lnSpc>
                          <a:spcPct val="100000"/>
                        </a:lnSpc>
                        <a:spcBef>
                          <a:spcPts val="0"/>
                        </a:spcBef>
                        <a:buNone/>
                      </a:pPr>
                      <a:r>
                        <a:rPr lang="id-ID" sz="1150" b="1">
                          <a:solidFill>
                            <a:srgbClr val="000000"/>
                          </a:solidFill>
                          <a:latin typeface="Arial"/>
                          <a:cs typeface="Arial"/>
                        </a:rPr>
                        <a:t>Overlay provisi (k_stress)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50" b="0" dirty="0">
                          <a:solidFill>
                            <a:srgbClr val="000000"/>
                          </a:solidFill>
                          <a:latin typeface="Arial"/>
                          <a:cs typeface="Arial"/>
                        </a:rPr>
                        <a:t>Kalibrasi ke puncak provisi 2021Q1; estimasi data ≈ 0,03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997884276"/>
                  </a:ext>
                </a:extLst>
              </a:tr>
              <a:tr h="342900">
                <a:tc>
                  <a:txBody>
                    <a:bodyPr/>
                    <a:lstStyle/>
                    <a:p>
                      <a:pPr marL="0" indent="0" algn="l">
                        <a:lnSpc>
                          <a:spcPct val="100000"/>
                        </a:lnSpc>
                        <a:spcBef>
                          <a:spcPts val="0"/>
                        </a:spcBef>
                        <a:buNone/>
                      </a:pPr>
                      <a:r>
                        <a:rPr lang="id-ID" sz="1150" b="1">
                          <a:solidFill>
                            <a:srgbClr val="000000"/>
                          </a:solidFill>
                          <a:latin typeface="Arial"/>
                          <a:cs typeface="Arial"/>
                        </a:rPr>
                        <a:t>Elastisitas harga properti (e_prop)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−0,429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dirty="0">
                          <a:solidFill>
                            <a:srgbClr val="000000"/>
                          </a:solidFill>
                          <a:latin typeface="Arial"/>
                          <a:cs typeface="Arial"/>
                        </a:rPr>
                        <a:t>Judgment; dari model NPL Prospera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595892871"/>
                  </a:ext>
                </a:extLst>
              </a:tr>
            </a:tbl>
          </a:graphicData>
        </a:graphic>
      </p:graphicFrame>
    </p:spTree>
    <p:extLst>
      <p:ext uri="{BB962C8B-B14F-4D97-AF65-F5344CB8AC3E}">
        <p14:creationId xmlns:p14="http://schemas.microsoft.com/office/powerpoint/2010/main" val="207276112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Satellite model dan transmisi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03</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47406292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Peta transmisi: bagaimana tiap variabel makro sampai ke laba dan CAR</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497761623"/>
              </p:ext>
            </p:extLst>
          </p:nvPr>
        </p:nvGraphicFramePr>
        <p:xfrm>
          <a:off x="558800" y="1270000"/>
          <a:ext cx="11074400" cy="2865120"/>
        </p:xfrm>
        <a:graphic>
          <a:graphicData uri="http://schemas.openxmlformats.org/drawingml/2006/table">
            <a:tbl>
              <a:tblPr firstRow="1"/>
              <a:tblGrid>
                <a:gridCol w="1524000">
                  <a:extLst>
                    <a:ext uri="{9D8B030D-6E8A-4147-A177-3AD203B41FA5}">
                      <a16:colId xmlns:a16="http://schemas.microsoft.com/office/drawing/2014/main" val="20000"/>
                    </a:ext>
                  </a:extLst>
                </a:gridCol>
                <a:gridCol w="2921000">
                  <a:extLst>
                    <a:ext uri="{9D8B030D-6E8A-4147-A177-3AD203B41FA5}">
                      <a16:colId xmlns:a16="http://schemas.microsoft.com/office/drawing/2014/main" val="20001"/>
                    </a:ext>
                  </a:extLst>
                </a:gridCol>
                <a:gridCol w="2794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2184400">
                  <a:extLst>
                    <a:ext uri="{9D8B030D-6E8A-4147-A177-3AD203B41FA5}">
                      <a16:colId xmlns:a16="http://schemas.microsoft.com/office/drawing/2014/main" val="755394617"/>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Variabel makro</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Jalur ke 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Variabel bank yang terkena</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Masuk ke</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Saat Adverse</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riil</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Pendapatan debitur turun, kemampuan bayar melemah (jeda 1–4 kuartal)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150" b="0">
                          <a:solidFill>
                            <a:srgbClr val="000000"/>
                          </a:solidFill>
                          <a:latin typeface="Arial"/>
                          <a:cs typeface="Arial"/>
                        </a:rPr>
                        <a:t>NPL (model NPL), lalu provisi (respons + overlay)</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dan provisi naik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Harga properti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n-NO" sz="1150" b="0">
                          <a:solidFill>
                            <a:srgbClr val="000000"/>
                          </a:solidFill>
                          <a:latin typeface="Arial"/>
                          <a:cs typeface="Arial"/>
                        </a:rPr>
                        <a:t>Nilai agunan turun; debitur KPR dan konstruksi tertekan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NPL (komponen properti), lalu provisi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Penyumbang terbesar kenaikan NPL (±60%)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Biaya dana naik cepat (69%), bunga kredit lambat (15%); beban bunga debitur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Bunga kredit dan dana (÷4 per kuartal); NPL (efek kecil)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Laba (bunga bersih)</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Margin tertekan: bunga bersih −3,5%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en-US" sz="1150" b="1">
                          <a:solidFill>
                            <a:srgbClr val="000000"/>
                          </a:solidFill>
                          <a:latin typeface="Arial"/>
                          <a:cs typeface="Arial"/>
                        </a:rPr>
                        <a:t>UST 10Y, kurs, BI rate</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Premi risiko naik, modal asing keluar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Yield SBN 10Y = 0,43×</a:t>
                      </a:r>
                      <a:r>
                        <a:rPr lang="el-GR" sz="1150" b="0">
                          <a:solidFill>
                            <a:srgbClr val="000000"/>
                          </a:solidFill>
                          <a:latin typeface="Arial"/>
                          <a:cs typeface="Arial"/>
                        </a:rPr>
                        <a:t>Δ</a:t>
                      </a:r>
                      <a:r>
                        <a:rPr lang="id-ID" sz="1150" b="0">
                          <a:solidFill>
                            <a:srgbClr val="000000"/>
                          </a:solidFill>
                          <a:latin typeface="Arial"/>
                          <a:cs typeface="Arial"/>
                        </a:rPr>
                        <a:t>UST + 0,13×</a:t>
                      </a:r>
                      <a:r>
                        <a:rPr lang="el-GR" sz="1150" b="0">
                          <a:solidFill>
                            <a:srgbClr val="000000"/>
                          </a:solidFill>
                          <a:latin typeface="Arial"/>
                          <a:cs typeface="Arial"/>
                        </a:rPr>
                        <a:t>Δ</a:t>
                      </a:r>
                      <a:r>
                        <a:rPr lang="id-ID" sz="1150" b="0">
                          <a:solidFill>
                            <a:srgbClr val="000000"/>
                          </a:solidFill>
                          <a:latin typeface="Arial"/>
                          <a:cs typeface="Arial"/>
                        </a:rPr>
                        <a:t>BI rate + 0,08×</a:t>
                      </a:r>
                      <a:r>
                        <a:rPr lang="el-GR" sz="1150" b="0">
                          <a:solidFill>
                            <a:srgbClr val="000000"/>
                          </a:solidFill>
                          <a:latin typeface="Arial"/>
                          <a:cs typeface="Arial"/>
                        </a:rPr>
                        <a:t>Δ</a:t>
                      </a:r>
                      <a:r>
                        <a:rPr lang="id-ID" sz="1150" b="0">
                          <a:solidFill>
                            <a:srgbClr val="000000"/>
                          </a:solidFill>
                          <a:latin typeface="Arial"/>
                          <a:cs typeface="Arial"/>
                        </a:rPr>
                        <a:t>ln kurs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150" b="0">
                          <a:solidFill>
                            <a:srgbClr val="000000"/>
                          </a:solidFill>
                          <a:latin typeface="Arial"/>
                          <a:cs typeface="Arial"/>
                        </a:rPr>
                        <a:t>Yield SBN naik 2,3 pp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Yield SBN 10Y</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Harga obligasi turun: −5 × </a:t>
                      </a:r>
                      <a:r>
                        <a:rPr lang="el-GR" sz="1150" b="0">
                          <a:solidFill>
                            <a:srgbClr val="000000"/>
                          </a:solidFill>
                          <a:latin typeface="Arial"/>
                          <a:cs typeface="Arial"/>
                        </a:rPr>
                        <a:t>Δ</a:t>
                      </a:r>
                      <a:r>
                        <a:rPr lang="id-ID" sz="1150" b="0">
                          <a:solidFill>
                            <a:srgbClr val="000000"/>
                          </a:solidFill>
                          <a:latin typeface="Arial"/>
                          <a:cs typeface="Arial"/>
                        </a:rPr>
                        <a:t>yield</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Surat berharga FVTPL dan FVOCI (porsi SBN)</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FVTPL → laba; FVOCI → modal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Rugi MTM 6,7% modal (Adverse 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GDP nominal (GDP + CPI)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Volume usaha bank tumbuh mengikuti ekonomi nominal</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Aset, kredit, deposito, RWA</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Penyebut CAR</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150" b="0">
                          <a:solidFill>
                            <a:srgbClr val="000000"/>
                          </a:solidFill>
                          <a:latin typeface="Arial"/>
                          <a:cs typeface="Arial"/>
                        </a:rPr>
                        <a:t>RWA tetap tumbuh ±8% karena inflasi naik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426212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CPI tidak langsung memengaruhi NPL di model; pengaruhnya lewat pertumbuhan neraca dan RWA (GDP nominal). Tiga kanal risiko (kredit, bunga, pasar) bertemu di laba, lalu laba yang ditahan dan rugi OCI mengubah modal.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370078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nn-NO" sz="2000"/>
              <a:t>Kanal kredit (1): bagaimana NPL bergerak di proyeksi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NPL bergerak bertahap mengikuti posisinya kuartal lalu</a:t>
            </a:r>
          </a:p>
          <a:p>
            <a:pPr marL="0" indent="0" algn="l">
              <a:lnSpc>
                <a:spcPct val="100000"/>
              </a:lnSpc>
              <a:spcBef>
                <a:spcPts val="0"/>
              </a:spcBef>
              <a:buNone/>
            </a:pPr>
            <a:r>
              <a:rPr lang="id-ID" sz="1300">
                <a:solidFill>
                  <a:srgbClr val="262626"/>
                </a:solidFill>
                <a:latin typeface="Arial"/>
                <a:cs typeface="Arial"/>
              </a:rPr>
              <a:t>Sekitar dua pertiga NPL kuartal lalu terbawa ke kuartal ini, sehingga NPL tidak melompat; tiap bank perlahan kembali ke tingkat NPL normalnya.</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melambat → NPL naik, dengan jeda 1–4 kuartal</a:t>
            </a:r>
          </a:p>
          <a:p>
            <a:pPr marL="0" indent="0" algn="l">
              <a:lnSpc>
                <a:spcPct val="100000"/>
              </a:lnSpc>
              <a:spcBef>
                <a:spcPts val="0"/>
              </a:spcBef>
              <a:buNone/>
            </a:pPr>
            <a:r>
              <a:rPr lang="id-ID" sz="1300">
                <a:solidFill>
                  <a:srgbClr val="262626"/>
                </a:solidFill>
                <a:latin typeface="Arial"/>
                <a:cs typeface="Arial"/>
              </a:rPr>
              <a:t>Debitur butuh waktu sebelum gagal bayar. Efek jangka panjang: GDP turun 1 pp → NPL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naik → beban bunga debitur naik, efek ke NPL kecil</a:t>
            </a:r>
          </a:p>
          <a:p>
            <a:pPr marL="0" indent="0" algn="l">
              <a:lnSpc>
                <a:spcPct val="100000"/>
              </a:lnSpc>
              <a:spcBef>
                <a:spcPts val="0"/>
              </a:spcBef>
              <a:buNone/>
            </a:pPr>
            <a:r>
              <a:rPr lang="id-ID" sz="1300">
                <a:solidFill>
                  <a:srgbClr val="262626"/>
                </a:solidFill>
                <a:latin typeface="Arial"/>
                <a:cs typeface="Arial"/>
              </a:rPr>
              <a:t>Di data Indonesia pengaruh BI rate ke NPL hampir tidak terlihat; dampak suku bunga lebih besar lewat margin bunga dan harga obligasi.</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Harga properti turun → nilai agunan dan kemampuan bayar turun</a:t>
            </a:r>
          </a:p>
          <a:p>
            <a:pPr marL="0" indent="0" algn="l">
              <a:lnSpc>
                <a:spcPct val="100000"/>
              </a:lnSpc>
              <a:spcBef>
                <a:spcPts val="0"/>
              </a:spcBef>
              <a:buNone/>
            </a:pPr>
            <a:r>
              <a:rPr lang="id-ID" sz="1300">
                <a:solidFill>
                  <a:srgbClr val="262626"/>
                </a:solidFill>
                <a:latin typeface="Arial"/>
                <a:cs typeface="Arial"/>
              </a:rPr>
              <a:t>Harga properti turun 1% per kuartal selama setahun menaikkan NPL ±0,43 pp. Elastisitas ini judgment yang diambil dari model Prospera.</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t-IT" sz="1300" b="1">
                <a:solidFill>
                  <a:srgbClr val="000000"/>
                </a:solidFill>
                <a:latin typeface="Arial"/>
                <a:cs typeface="Arial"/>
              </a:rPr>
              <a:t>Rincian spesifikasi, tabel regresi, dan uji statistik ada di Lampiran A.</a:t>
            </a:r>
            <a:endParaRPr lang="id-ID" sz="1300" b="1" dirty="0">
              <a:solidFill>
                <a:srgbClr val="000000"/>
              </a:solidFill>
              <a:latin typeface="Arial"/>
              <a:cs typeface="Arial"/>
            </a:endParaRPr>
          </a:p>
        </p:txBody>
      </p:sp>
    </p:spTree>
    <p:extLst>
      <p:ext uri="{BB962C8B-B14F-4D97-AF65-F5344CB8AC3E}">
        <p14:creationId xmlns:p14="http://schemas.microsoft.com/office/powerpoint/2010/main" val="230314729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Kenaikan NPL di skenario adverse terutama berasal dari komponen harga properti</a:t>
            </a:r>
            <a:endParaRPr lang="id-ID" sz="2000" dirty="0"/>
          </a:p>
        </p:txBody>
      </p:sp>
      <p:graphicFrame>
        <p:nvGraphicFramePr>
          <p:cNvPr id="200" name="Table 201"/>
          <p:cNvGraphicFramePr>
            <a:graphicFrameLocks noGrp="1"/>
          </p:cNvGraphicFramePr>
          <p:nvPr/>
        </p:nvGraphicFramePr>
        <p:xfrm>
          <a:off x="558800" y="1270000"/>
          <a:ext cx="11074400" cy="30480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Selisih NPL vs Baseline (pp)</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2026Q4</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GDP</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0,07</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1: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0,04</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GDP</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BI rate</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0,13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harga properti</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0,08</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0,27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0,51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581425503"/>
                  </a:ext>
                </a:extLst>
              </a:tr>
              <a:tr h="342900">
                <a:tc>
                  <a:txBody>
                    <a:bodyPr/>
                    <a:lstStyle/>
                    <a:p>
                      <a:pPr marL="0" indent="0" algn="l">
                        <a:lnSpc>
                          <a:spcPct val="100000"/>
                        </a:lnSpc>
                        <a:spcBef>
                          <a:spcPts val="0"/>
                        </a:spcBef>
                        <a:buNone/>
                      </a:pPr>
                      <a:r>
                        <a:rPr lang="id-ID" sz="1250" b="1">
                          <a:solidFill>
                            <a:srgbClr val="000000"/>
                          </a:solidFill>
                          <a:latin typeface="Arial"/>
                          <a:cs typeface="Arial"/>
                        </a:rPr>
                        <a:t>Adverse 2: total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0,11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0,40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0,81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77238245"/>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Efek makro baru terasa satu kuartal kemudian karena model memakai lag (2026Q3 = 0). Total = selisih NPL industri terhadap baseline di akhir horizon: Adverse 1 2,66% vs 2,25%, Adverse 2 3,06% vs 2,25%. Sekitar 60% kenaikan berasal dari komponen harga properti.</a:t>
            </a:r>
            <a:endParaRPr lang="id-ID" sz="1150" dirty="0">
              <a:solidFill>
                <a:srgbClr val="000000"/>
              </a:solidFill>
              <a:latin typeface="Arial"/>
              <a:cs typeface="Arial"/>
            </a:endParaRPr>
          </a:p>
        </p:txBody>
      </p:sp>
    </p:spTree>
    <p:extLst>
      <p:ext uri="{BB962C8B-B14F-4D97-AF65-F5344CB8AC3E}">
        <p14:creationId xmlns:p14="http://schemas.microsoft.com/office/powerpoint/2010/main" val="13786055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kredit (2): biaya kredit naik 3,4 kali lewat respons NPL dan overlay stres</a:t>
            </a:r>
            <a:endParaRPr lang="id-ID" sz="2000" dirty="0"/>
          </a:p>
        </p:txBody>
      </p:sp>
      <p:graphicFrame>
        <p:nvGraphicFramePr>
          <p:cNvPr id="200" name="Table 201"/>
          <p:cNvGraphicFramePr>
            <a:graphicFrameLocks noGrp="1"/>
          </p:cNvGraphicFramePr>
          <p:nvPr/>
        </p:nvGraphicFramePr>
        <p:xfrm>
          <a:off x="558800" y="1270000"/>
          <a:ext cx="11074400" cy="2118360"/>
        </p:xfrm>
        <a:graphic>
          <a:graphicData uri="http://schemas.openxmlformats.org/drawingml/2006/table">
            <a:tbl>
              <a:tblPr firstRow="1"/>
              <a:tblGrid>
                <a:gridCol w="3175000">
                  <a:extLst>
                    <a:ext uri="{9D8B030D-6E8A-4147-A177-3AD203B41FA5}">
                      <a16:colId xmlns:a16="http://schemas.microsoft.com/office/drawing/2014/main" val="20000"/>
                    </a:ext>
                  </a:extLst>
                </a:gridCol>
                <a:gridCol w="43434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 kredit per kuartal, industri)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Rumus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2027Q2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1. Biaya kredit dasar (jangkar)</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Rata-rata provisi/kredit 8 kuartal terakhir tiap bank; tetap selama horizon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0,19</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Respons kenaikan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0,19 × Δ</a:t>
                      </a:r>
                      <a:r>
                        <a:rPr lang="id-ID" sz="1200" b="0">
                          <a:solidFill>
                            <a:srgbClr val="000000"/>
                          </a:solidFill>
                          <a:latin typeface="Arial"/>
                          <a:cs typeface="Arial"/>
                        </a:rPr>
                        <a:t>NPL⁺(t) + 0,12 × </a:t>
                      </a:r>
                      <a:r>
                        <a:rPr lang="el-GR" sz="1200" b="0">
                          <a:solidFill>
                            <a:srgbClr val="000000"/>
                          </a:solidFill>
                          <a:latin typeface="Arial"/>
                          <a:cs typeface="Arial"/>
                        </a:rPr>
                        <a:t>Δ</a:t>
                      </a:r>
                      <a:r>
                        <a:rPr lang="id-ID" sz="1200" b="0">
                          <a:solidFill>
                            <a:srgbClr val="000000"/>
                          </a:solidFill>
                          <a:latin typeface="Arial"/>
                          <a:cs typeface="Arial"/>
                        </a:rPr>
                        <a:t>NPL⁺(t−1)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Overlay stres (forward-looking)</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(GDP baseline − GDP skenario)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Tambahan karena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Total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1 + 2 + 3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0,72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5153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Biaya kredit dasar sengaja tetap: ini tingkat normal tiap bank. Efek stres masuk lewat (2) kenaikan NPL dan (3) overlay, yaitu tambahan cadangan saat ekonomi di bawah baseline sebelum NPL naik (sejalan dengan ECL forward-looking PSAK 71). k = 0,03 dikalibrasi supaya credit loss Adverse 2 setara puncak provisi 4 kuartal di data (2021Q1); bila komponen 1 ikut dinaikkan, guncangan yang sama terhitung dua kali. Overlay menyumbang 46% credit loss Adverse 2 dan 29% Adverse 1. Keterbatasan: overlay dipicu gap GDP, bukan BI rate secara langsung. Total sedikit di atas jumlah komponen karena (1) + (2) dibatasi minimal nol per bank.</a:t>
            </a:r>
            <a:endParaRPr lang="id-ID" sz="1150" dirty="0">
              <a:solidFill>
                <a:srgbClr val="000000"/>
              </a:solidFill>
              <a:latin typeface="Arial"/>
              <a:cs typeface="Arial"/>
            </a:endParaRPr>
          </a:p>
        </p:txBody>
      </p:sp>
    </p:spTree>
    <p:extLst>
      <p:ext uri="{BB962C8B-B14F-4D97-AF65-F5344CB8AC3E}">
        <p14:creationId xmlns:p14="http://schemas.microsoft.com/office/powerpoint/2010/main" val="95447272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Kanal pasar: kenaikan yield SBN menurunkan nilai surat berharga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99266168"/>
              </p:ext>
            </p:extLst>
          </p:nvPr>
        </p:nvGraphicFramePr>
        <p:xfrm>
          <a:off x="558800" y="1270000"/>
          <a:ext cx="11074400" cy="221742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5715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Langkah</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 (kumulatif)</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s-ES" sz="1200" b="1">
                          <a:solidFill>
                            <a:srgbClr val="000000"/>
                          </a:solidFill>
                          <a:latin typeface="Arial"/>
                          <a:cs typeface="Arial"/>
                        </a:rPr>
                        <a:t>1. Yield SBN 10Y naik</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Digerakkan yield AS (UST), BI rate, dan pelemahan rupiah</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7,16% → 9,45% (+2,3 pp)</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2. Harga obligasi turun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Perubahan harga = −durasi (5 tahun) × kenaikan yield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Turun ±11,5%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3. Eksposur yang direvaluasi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Surat berharga FVTPL dan FVOCI, hanya porsi SBN; SRBI (36%) dimiliki hingga jatuh tempo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±64% portofolio nilai wajar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4. Pencatatan akuntansi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rugi masuk laba (mengurangi pajak); FVOCI: rugi langsung mengurangi modal lewat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t-IT" sz="1200" b="0">
                          <a:solidFill>
                            <a:srgbClr val="000000"/>
                          </a:solidFill>
                          <a:latin typeface="Arial"/>
                          <a:cs typeface="Arial"/>
                        </a:rPr>
                        <a:t>FVTPL 1,6% + FVOCI 5,1%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5. Total rugi MTM</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Tersebar luas: bank besar ikut menanggung (Himbara 6,9% modal, KBMI 3 9,1%); terbesar relatif terhadap modal di BINA dan BJBR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6,7% modal industri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7134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Di baseline yield SBN turun (7,16% → 6,85%), sehingga bank justru mencatat keuntungan revaluasi ±0,9% modal. Risiko kurs langsung (posisi devisa neto) belum dimodelkan.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33098579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Estimasi akuntansi</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04</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2533007909"/>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nb-NO" sz="2000"/>
              <a:t>Komponen lain dihitung dengan rule dan identitas akuntansi, bukan regresi</a:t>
            </a:r>
            <a:endParaRPr lang="id-ID" sz="2000" dirty="0"/>
          </a:p>
        </p:txBody>
      </p:sp>
      <p:graphicFrame>
        <p:nvGraphicFramePr>
          <p:cNvPr id="200" name="Table 201"/>
          <p:cNvGraphicFramePr>
            <a:graphicFrameLocks noGrp="1"/>
          </p:cNvGraphicFramePr>
          <p:nvPr/>
        </p:nvGraphicFramePr>
        <p:xfrm>
          <a:off x="558800" y="1270000"/>
          <a:ext cx="11074400" cy="300228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7518400">
                  <a:extLst>
                    <a:ext uri="{9D8B030D-6E8A-4147-A177-3AD203B41FA5}">
                      <a16:colId xmlns:a16="http://schemas.microsoft.com/office/drawing/2014/main" val="20001"/>
                    </a:ext>
                  </a:extLst>
                </a:gridCol>
                <a:gridCol w="1016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Cara dihitung</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Jenis</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Aset, kredit, deposito</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Tumbuh dengan GDP nominal skenario; rasio kredit dan deposito terhadap aset tetap (posisi 2026Q2)</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RWA / ATMR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Tumbuh dengan GDP nominal skenario</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 · Langkah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Bunga kredit dan dana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Rate 4 kuartal terakhir + </a:t>
                      </a:r>
                      <a:r>
                        <a:rPr lang="el-GR" sz="1200" b="0">
                          <a:solidFill>
                            <a:srgbClr val="000000"/>
                          </a:solidFill>
                          <a:latin typeface="Arial"/>
                          <a:cs typeface="Arial"/>
                        </a:rPr>
                        <a:t>β × </a:t>
                      </a:r>
                      <a:r>
                        <a:rPr lang="id-ID" sz="1200" b="0">
                          <a:solidFill>
                            <a:srgbClr val="000000"/>
                          </a:solidFill>
                          <a:latin typeface="Arial"/>
                          <a:cs typeface="Arial"/>
                        </a:rPr>
                        <a:t>perubahan BI rate ÷ 4 per kuartal; </a:t>
                      </a:r>
                      <a:r>
                        <a:rPr lang="el-GR" sz="1200" b="0">
                          <a:solidFill>
                            <a:srgbClr val="000000"/>
                          </a:solidFill>
                          <a:latin typeface="Arial"/>
                          <a:cs typeface="Arial"/>
                        </a:rPr>
                        <a:t>β </a:t>
                      </a:r>
                      <a:r>
                        <a:rPr lang="id-ID" sz="1200" b="0">
                          <a:solidFill>
                            <a:srgbClr val="000000"/>
                          </a:solidFill>
                          <a:latin typeface="Arial"/>
                          <a:cs typeface="Arial"/>
                        </a:rPr>
                        <a:t>kredit 0,145, </a:t>
                      </a:r>
                      <a:r>
                        <a:rPr lang="el-GR" sz="1200" b="0">
                          <a:solidFill>
                            <a:srgbClr val="000000"/>
                          </a:solidFill>
                          <a:latin typeface="Arial"/>
                          <a:cs typeface="Arial"/>
                        </a:rPr>
                        <a:t>β </a:t>
                      </a:r>
                      <a:r>
                        <a:rPr lang="id-ID" sz="1200" b="0">
                          <a:solidFill>
                            <a:srgbClr val="000000"/>
                          </a:solidFill>
                          <a:latin typeface="Arial"/>
                          <a:cs typeface="Arial"/>
                        </a:rPr>
                        <a:t>dana 0,694 (transmisi parsial)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Pendapatan dan biaya nonbunga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fi-FI" sz="1200" b="0">
                          <a:solidFill>
                            <a:srgbClr val="000000"/>
                          </a:solidFill>
                          <a:latin typeface="Arial"/>
                          <a:cs typeface="Arial"/>
                        </a:rPr>
                        <a:t>Rasio 4 kuartal terakhir × aset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Kerugian surat berharga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(FVTPL + FVOCI) × porsi SBN × (−5 × </a:t>
                      </a:r>
                      <a:r>
                        <a:rPr lang="el-GR" sz="1200" b="0">
                          <a:solidFill>
                            <a:srgbClr val="000000"/>
                          </a:solidFill>
                          <a:latin typeface="Arial"/>
                          <a:cs typeface="Arial"/>
                        </a:rPr>
                        <a:t>Δ</a:t>
                      </a:r>
                      <a:r>
                        <a:rPr lang="id-ID" sz="1200" b="0">
                          <a:solidFill>
                            <a:srgbClr val="000000"/>
                          </a:solidFill>
                          <a:latin typeface="Arial"/>
                          <a:cs typeface="Arial"/>
                        </a:rPr>
                        <a:t>yield SBN); FVTPL ke laba, FVOCI ke modal (OCI)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Rule</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EBT = bunga bersih + nonbunga − biaya − provisi − rugi FVTPL; pajak 22%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Modal dan CAR</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Modal = modal lalu + 50% laba (rugi penuh) − rugi OCI; CAR = modal ÷ RWA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Identitas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410138302"/>
                  </a:ext>
                </a:extLst>
              </a:tr>
            </a:tbl>
          </a:graphicData>
        </a:graphic>
      </p:graphicFrame>
    </p:spTree>
    <p:extLst>
      <p:ext uri="{BB962C8B-B14F-4D97-AF65-F5344CB8AC3E}">
        <p14:creationId xmlns:p14="http://schemas.microsoft.com/office/powerpoint/2010/main" val="14967049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Transmisi BI rate: biaya dana naik jauh lebih cepat dari bunga kredit</a:t>
            </a:r>
            <a:endParaRPr lang="id-ID" sz="2000" dirty="0"/>
          </a:p>
        </p:txBody>
      </p:sp>
      <p:graphicFrame>
        <p:nvGraphicFramePr>
          <p:cNvPr id="200" name="Table 201"/>
          <p:cNvGraphicFramePr>
            <a:graphicFrameLocks noGrp="1"/>
          </p:cNvGraphicFramePr>
          <p:nvPr/>
        </p:nvGraphicFramePr>
        <p:xfrm>
          <a:off x="558800" y="1270000"/>
          <a:ext cx="5080000" cy="2705100"/>
        </p:xfrm>
        <a:graphic>
          <a:graphicData uri="http://schemas.openxmlformats.org/drawingml/2006/table">
            <a:tbl>
              <a:tblPr firstRow="1"/>
              <a:tblGrid>
                <a:gridCol w="2286000">
                  <a:extLst>
                    <a:ext uri="{9D8B030D-6E8A-4147-A177-3AD203B41FA5}">
                      <a16:colId xmlns:a16="http://schemas.microsoft.com/office/drawing/2014/main" val="20000"/>
                    </a:ext>
                  </a:extLst>
                </a:gridCol>
                <a:gridCol w="1016000">
                  <a:extLst>
                    <a:ext uri="{9D8B030D-6E8A-4147-A177-3AD203B41FA5}">
                      <a16:colId xmlns:a16="http://schemas.microsoft.com/office/drawing/2014/main" val="20001"/>
                    </a:ext>
                  </a:extLst>
                </a:gridCol>
                <a:gridCol w="17780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Produk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Transmisi </a:t>
                      </a:r>
                      <a:r>
                        <a:rPr lang="el-GR" sz="1150" b="1">
                          <a:solidFill>
                            <a:srgbClr val="000000"/>
                          </a:solidFill>
                          <a:latin typeface="Arial"/>
                          <a:cs typeface="Arial"/>
                        </a:rPr>
                        <a:t>β</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Porsi</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Deposito 1 bulan</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35,7% DPK</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Tabungan</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30,6% DPK</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modal kerja (KMK)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0,144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42,3%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investasi (KI)</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0,194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30,5%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Kredit konsumsi (KK)</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0,091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27,2%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kredit (tertimbang)</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0,145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Dipakai</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l-GR" sz="1150" b="1">
                          <a:solidFill>
                            <a:srgbClr val="000000"/>
                          </a:solidFill>
                          <a:latin typeface="Arial"/>
                          <a:cs typeface="Arial"/>
                        </a:rPr>
                        <a:t>β </a:t>
                      </a:r>
                      <a:r>
                        <a:rPr lang="id-ID" sz="1150" b="1">
                          <a:solidFill>
                            <a:srgbClr val="000000"/>
                          </a:solidFill>
                          <a:latin typeface="Arial"/>
                          <a:cs typeface="Arial"/>
                        </a:rPr>
                        <a:t>dana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0,694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Dipakai (batas atas)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831801123"/>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l-GR" sz="1150">
                <a:solidFill>
                  <a:srgbClr val="000000"/>
                </a:solidFill>
                <a:latin typeface="Arial"/>
                <a:cs typeface="Arial"/>
              </a:rPr>
              <a:t>β =</a:t>
            </a:r>
            <a:r>
              <a:rPr lang="id-ID" sz="1150">
                <a:solidFill>
                  <a:srgbClr val="000000"/>
                </a:solidFill>
                <a:latin typeface="Arial"/>
                <a:cs typeface="Arial"/>
              </a:rPr>
              <a:t>perubahan suku bunga produk ÷ kenaikan BI rate, rata-rata episode kenaikan 2018–19 (175 bp), 2022–24 (275 bp), dan 2026 (100 bp). Porsi kredit: BI, posisi Mei 2026; porsi DPK: LPS, Desember 2025. </a:t>
            </a:r>
            <a:r>
              <a:rPr lang="el-GR" sz="1150">
                <a:solidFill>
                  <a:srgbClr val="000000"/>
                </a:solidFill>
                <a:latin typeface="Arial"/>
                <a:cs typeface="Arial"/>
              </a:rPr>
              <a:t>β </a:t>
            </a:r>
            <a:r>
              <a:rPr lang="id-ID" sz="1150">
                <a:solidFill>
                  <a:srgbClr val="000000"/>
                </a:solidFill>
                <a:latin typeface="Arial"/>
                <a:cs typeface="Arial"/>
              </a:rPr>
              <a:t>dana memakai transmisi deposito untuk seluruh dana (batas atas tekanan margin); bila giro dianggap setengah deposito, </a:t>
            </a:r>
            <a:r>
              <a:rPr lang="el-GR" sz="1150">
                <a:solidFill>
                  <a:srgbClr val="000000"/>
                </a:solidFill>
                <a:latin typeface="Arial"/>
                <a:cs typeface="Arial"/>
              </a:rPr>
              <a:t>β </a:t>
            </a:r>
            <a:r>
              <a:rPr lang="id-ID" sz="1150">
                <a:solidFill>
                  <a:srgbClr val="000000"/>
                </a:solidFill>
                <a:latin typeface="Arial"/>
                <a:cs typeface="Arial"/>
              </a:rPr>
              <a:t>dana ≈ 0,37. Efek dihitung terhadap suku bunga baseline.</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A018F4DA-B084-C5BE-CADD-BC79D7596B22}"/>
              </a:ext>
            </a:extLst>
          </p:cNvPr>
          <p:cNvGraphicFramePr>
            <a:graphicFrameLocks noGrp="1"/>
          </p:cNvGraphicFramePr>
          <p:nvPr/>
        </p:nvGraphicFramePr>
        <p:xfrm>
          <a:off x="5892800" y="1270000"/>
          <a:ext cx="5715000" cy="1333500"/>
        </p:xfrm>
        <a:graphic>
          <a:graphicData uri="http://schemas.openxmlformats.org/drawingml/2006/table">
            <a:tbl>
              <a:tblPr firstRow="1"/>
              <a:tblGrid>
                <a:gridCol w="3048000">
                  <a:extLst>
                    <a:ext uri="{9D8B030D-6E8A-4147-A177-3AD203B41FA5}">
                      <a16:colId xmlns:a16="http://schemas.microsoft.com/office/drawing/2014/main" val="20000"/>
                    </a:ext>
                  </a:extLst>
                </a:gridCol>
                <a:gridCol w="1333500">
                  <a:extLst>
                    <a:ext uri="{9D8B030D-6E8A-4147-A177-3AD203B41FA5}">
                      <a16:colId xmlns:a16="http://schemas.microsoft.com/office/drawing/2014/main" val="20001"/>
                    </a:ext>
                  </a:extLst>
                </a:gridCol>
                <a:gridCol w="13335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nn-NO" sz="1150" b="1">
                          <a:solidFill>
                            <a:srgbClr val="000000"/>
                          </a:solidFill>
                          <a:latin typeface="Arial"/>
                          <a:cs typeface="Arial"/>
                        </a:rPr>
                        <a:t>Efek ke bunga (% modal, 4 kuartal)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pendapatan bunga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+0,39</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+0,86</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Tambahan beban bunga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−4,36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Efek ke bunga bersih</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−3,50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84752821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Jembatan CAR: provisi, margin bunga, dan surat berharga yang membedakan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23064797"/>
              </p:ext>
            </p:extLst>
          </p:nvPr>
        </p:nvGraphicFramePr>
        <p:xfrm>
          <a:off x="558800" y="1270000"/>
          <a:ext cx="11074400" cy="33909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 (pp CAR)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Baseline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1</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Adverse 2</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awal 2026Q2</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22,53</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Laba operasional sebelum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+5,68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+5,33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+4,88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Provisi (credit loss)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−2,33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surat berharga FVTPL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−0,17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−0,36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Pajak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−1,03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−0,80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−0,55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Dividen (50% laba)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−1,42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−0,98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Rugi/untung FVOCI (OCI)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−0,56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−1,16</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012257648"/>
                  </a:ext>
                </a:extLst>
              </a:tr>
              <a:tr h="342900">
                <a:tc>
                  <a:txBody>
                    <a:bodyPr/>
                    <a:lstStyle/>
                    <a:p>
                      <a:pPr marL="0" indent="0" algn="l">
                        <a:lnSpc>
                          <a:spcPct val="100000"/>
                        </a:lnSpc>
                        <a:spcBef>
                          <a:spcPts val="0"/>
                        </a:spcBef>
                        <a:buNone/>
                      </a:pPr>
                      <a:r>
                        <a:rPr lang="id-ID" sz="1200" b="1">
                          <a:solidFill>
                            <a:srgbClr val="000000"/>
                          </a:solidFill>
                          <a:latin typeface="Arial"/>
                          <a:cs typeface="Arial"/>
                        </a:rPr>
                        <a:t>Efek pertumbuhan RWA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−1,77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00" b="0">
                          <a:solidFill>
                            <a:srgbClr val="000000"/>
                          </a:solidFill>
                          <a:latin typeface="Arial"/>
                          <a:cs typeface="Arial"/>
                        </a:rPr>
                        <a:t>−1,60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77233875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 akhir 2027Q2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22,62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21,53</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20,44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6901199"/>
                  </a:ext>
                </a:extLst>
              </a:tr>
            </a:tbl>
          </a:graphicData>
        </a:graphic>
      </p:graphicFrame>
      <p:sp>
        <p:nvSpPr>
          <p:cNvPr id="201" name="Text 202"/>
          <p:cNvSpPr txBox="1"/>
          <p:nvPr/>
        </p:nvSpPr>
        <p:spPr>
          <a:xfrm>
            <a:off x="558800" y="47879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Komponen modal dinyatakan dalam pp CAR terhadap RWA awal; efek RWA = penurunan CAR karena RWA tumbuh ±8% (GDP nominal). Laba operasional turun di skenario adverse karena biaya dana naik lebih cepat dari bunga kredit; ditambah provisi dan rugi surat berharga (terutama FVOCI lewat OCI, komponen terbesar kedua di Adverse 2), inilah yang membedakan CAR antarskenario. Pajak dan dividen ikut turun ketika laba turun, sehingga meredam sebagian kerugian.</a:t>
            </a:r>
            <a:endParaRPr lang="id-ID" sz="1150" dirty="0">
              <a:solidFill>
                <a:srgbClr val="000000"/>
              </a:solidFill>
              <a:latin typeface="Arial"/>
              <a:cs typeface="Arial"/>
            </a:endParaRPr>
          </a:p>
        </p:txBody>
      </p:sp>
    </p:spTree>
    <p:extLst>
      <p:ext uri="{BB962C8B-B14F-4D97-AF65-F5344CB8AC3E}">
        <p14:creationId xmlns:p14="http://schemas.microsoft.com/office/powerpoint/2010/main" val="27670291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Hasil stress test</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05</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3124599551"/>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industri tetap jauh di atas 8% di semua skenario</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30652701"/>
              </p:ext>
            </p:extLst>
          </p:nvPr>
        </p:nvGraphicFramePr>
        <p:xfrm>
          <a:off x="558800" y="1270000"/>
          <a:ext cx="11074400" cy="2705100"/>
        </p:xfrm>
        <a:graphic>
          <a:graphicData uri="http://schemas.openxmlformats.org/drawingml/2006/table">
            <a:tbl>
              <a:tblPr firstRow="1"/>
              <a:tblGrid>
                <a:gridCol w="4978400">
                  <a:extLst>
                    <a:ext uri="{9D8B030D-6E8A-4147-A177-3AD203B41FA5}">
                      <a16:colId xmlns:a16="http://schemas.microsoft.com/office/drawing/2014/main" val="20000"/>
                    </a:ext>
                  </a:extLst>
                </a:gridCol>
                <a:gridCol w="2032000">
                  <a:extLst>
                    <a:ext uri="{9D8B030D-6E8A-4147-A177-3AD203B41FA5}">
                      <a16:colId xmlns:a16="http://schemas.microsoft.com/office/drawing/2014/main" val="20001"/>
                    </a:ext>
                  </a:extLst>
                </a:gridCol>
                <a:gridCol w="2032000">
                  <a:extLst>
                    <a:ext uri="{9D8B030D-6E8A-4147-A177-3AD203B41FA5}">
                      <a16:colId xmlns:a16="http://schemas.microsoft.com/office/drawing/2014/main" val="20002"/>
                    </a:ext>
                  </a:extLst>
                </a:gridCol>
                <a:gridCol w="2032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Indikator (akhir 2027Q2)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CAR (%; awal 22,53)</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22,62</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21,53</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20,44</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Tier 1 (%)</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21,52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20,42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19,33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NPL (%; awal 2,10)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2,25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2,66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3,06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Credit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4,7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7,1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10,3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Market loss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−0,9</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6,7</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50" b="1">
                          <a:solidFill>
                            <a:srgbClr val="000000"/>
                          </a:solidFill>
                          <a:latin typeface="Arial"/>
                          <a:cs typeface="Arial"/>
                        </a:rPr>
                        <a:t>Laba bersih 4 kuartal (% modal)</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16,1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12,2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250" b="0">
                          <a:solidFill>
                            <a:srgbClr val="000000"/>
                          </a:solidFill>
                          <a:latin typeface="Arial"/>
                          <a:cs typeface="Arial"/>
                        </a:rPr>
                        <a:t>7,3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50" b="1">
                          <a:solidFill>
                            <a:srgbClr val="000000"/>
                          </a:solidFill>
                          <a:latin typeface="Arial"/>
                          <a:cs typeface="Arial"/>
                        </a:rPr>
                        <a:t>Bank dengan CAR &lt; 8%</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576567"/>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Kerugian dan laba kumulatif 4 kuartal, dalam % modal awal; 46 bank. Market loss negatif di baseline = keuntungan revaluasi karena yield SBN turun.</a:t>
            </a:r>
            <a:endParaRPr lang="id-ID" sz="1150" dirty="0">
              <a:solidFill>
                <a:srgbClr val="000000"/>
              </a:solidFill>
              <a:latin typeface="Arial"/>
              <a:cs typeface="Arial"/>
            </a:endParaRPr>
          </a:p>
        </p:txBody>
      </p:sp>
    </p:spTree>
    <p:extLst>
      <p:ext uri="{BB962C8B-B14F-4D97-AF65-F5344CB8AC3E}">
        <p14:creationId xmlns:p14="http://schemas.microsoft.com/office/powerpoint/2010/main" val="3076460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CAR turun bertahap; NPL naik paling tajam di Adverse 2 saat koreksi properti berjalan</a:t>
            </a:r>
            <a:endParaRPr lang="id-ID" sz="2000" dirty="0"/>
          </a:p>
        </p:txBody>
      </p:sp>
      <p:pic>
        <p:nvPicPr>
          <p:cNvPr id="5" name="Picture 3">
            <a:extLst>
              <a:ext uri="{FF2B5EF4-FFF2-40B4-BE49-F238E27FC236}">
                <a16:creationId xmlns:a16="http://schemas.microsoft.com/office/drawing/2014/main" id="{F1B9DE54-3F0C-33FD-31E8-7D00CA9049DA}"/>
              </a:ext>
            </a:extLst>
          </p:cNvPr>
          <p:cNvPicPr>
            <a:picLocks/>
          </p:cNvPicPr>
          <p:nvPr/>
        </p:nvPicPr>
        <p:blipFill>
          <a:blip r:embed="rId3"/>
          <a:stretch>
            <a:fillRect/>
          </a:stretch>
        </p:blipFill>
        <p:spPr>
          <a:xfrm>
            <a:off x="558800" y="1270000"/>
            <a:ext cx="5384800" cy="3230880"/>
          </a:xfrm>
          <a:prstGeom prst="rect">
            <a:avLst/>
          </a:prstGeom>
        </p:spPr>
      </p:pic>
      <p:pic>
        <p:nvPicPr>
          <p:cNvPr id="9" name="Picture 5">
            <a:extLst>
              <a:ext uri="{FF2B5EF4-FFF2-40B4-BE49-F238E27FC236}">
                <a16:creationId xmlns:a16="http://schemas.microsoft.com/office/drawing/2014/main" id="{25A1B516-E44E-F6D6-CFF2-061428C738C4}"/>
              </a:ext>
            </a:extLst>
          </p:cNvPr>
          <p:cNvPicPr>
            <a:picLocks/>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19BCF76D-F8C5-4B27-5D98-2728D3190DED}"/>
              </a:ext>
            </a:extLst>
          </p:cNvPr>
          <p:cNvSpPr txBox="1"/>
          <p:nvPr/>
        </p:nvSpPr>
        <p:spPr>
          <a:xfrm>
            <a:off x="558800" y="5080000"/>
            <a:ext cx="110744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CAR industri (kiri) dan NPL industri (kanan), tertimbang; garis putus-putus = data aktual terakhir (2026Q2).</a:t>
            </a:r>
          </a:p>
        </p:txBody>
      </p:sp>
    </p:spTree>
    <p:extLst>
      <p:ext uri="{BB962C8B-B14F-4D97-AF65-F5344CB8AC3E}">
        <p14:creationId xmlns:p14="http://schemas.microsoft.com/office/powerpoint/2010/main" val="355482671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Kerugian didominasi risiko kredit; laba industri tetap positif di semua skenario</a:t>
            </a:r>
            <a:endParaRPr lang="id-ID" sz="2000" dirty="0"/>
          </a:p>
        </p:txBody>
      </p:sp>
      <p:pic>
        <p:nvPicPr>
          <p:cNvPr id="5" name="Picture 3">
            <a:extLst>
              <a:ext uri="{FF2B5EF4-FFF2-40B4-BE49-F238E27FC236}">
                <a16:creationId xmlns:a16="http://schemas.microsoft.com/office/drawing/2014/main" id="{08EC0439-CE47-FD7A-AB5B-86A831B56DE6}"/>
              </a:ext>
            </a:extLst>
          </p:cNvPr>
          <p:cNvPicPr>
            <a:picLocks/>
          </p:cNvPicPr>
          <p:nvPr/>
        </p:nvPicPr>
        <p:blipFill>
          <a:blip r:embed="rId3"/>
          <a:stretch>
            <a:fillRect/>
          </a:stretch>
        </p:blipFill>
        <p:spPr>
          <a:xfrm>
            <a:off x="477982" y="1276926"/>
            <a:ext cx="5618018" cy="3810001"/>
          </a:xfrm>
          <a:prstGeom prst="rect">
            <a:avLst/>
          </a:prstGeom>
        </p:spPr>
      </p:pic>
      <p:pic>
        <p:nvPicPr>
          <p:cNvPr id="9" name="Picture 5">
            <a:extLst>
              <a:ext uri="{FF2B5EF4-FFF2-40B4-BE49-F238E27FC236}">
                <a16:creationId xmlns:a16="http://schemas.microsoft.com/office/drawing/2014/main" id="{464736D9-9511-3ECC-7AF2-DAAEB4040AC4}"/>
              </a:ext>
            </a:extLst>
          </p:cNvPr>
          <p:cNvPicPr>
            <a:picLocks/>
          </p:cNvPicPr>
          <p:nvPr/>
        </p:nvPicPr>
        <p:blipFill>
          <a:blip r:embed="rId4"/>
          <a:stretch>
            <a:fillRect/>
          </a:stretch>
        </p:blipFill>
        <p:spPr>
          <a:xfrm>
            <a:off x="6248400" y="1269999"/>
            <a:ext cx="5384800" cy="3863110"/>
          </a:xfrm>
          <a:prstGeom prst="rect">
            <a:avLst/>
          </a:prstGeom>
        </p:spPr>
      </p:pic>
      <p:sp>
        <p:nvSpPr>
          <p:cNvPr id="7" name="TextBox 6">
            <a:extLst>
              <a:ext uri="{FF2B5EF4-FFF2-40B4-BE49-F238E27FC236}">
                <a16:creationId xmlns:a16="http://schemas.microsoft.com/office/drawing/2014/main" id="{34FEED7E-1BE8-C19C-3BB9-9CE4F0107D4C}"/>
              </a:ext>
            </a:extLst>
          </p:cNvPr>
          <p:cNvSpPr txBox="1"/>
          <p:nvPr/>
        </p:nvSpPr>
        <p:spPr>
          <a:xfrm>
            <a:off x="558207" y="5377666"/>
            <a:ext cx="11074400" cy="430887"/>
          </a:xfrm>
          <a:prstGeom prst="rect">
            <a:avLst/>
          </a:prstGeom>
          <a:noFill/>
        </p:spPr>
        <p:txBody>
          <a:bodyPr vert="horz" wrap="square" rtlCol="0">
            <a:spAutoFit/>
          </a:bodyPr>
          <a:lstStyle/>
          <a:p>
            <a:r>
              <a:rPr lang="en-ID" sz="1100" dirty="0">
                <a:solidFill>
                  <a:srgbClr val="262626"/>
                </a:solidFill>
                <a:latin typeface="Arial" panose="020B0604020202020204" pitchFamily="34" charset="0"/>
              </a:rPr>
              <a:t>Kiri: </a:t>
            </a:r>
            <a:r>
              <a:rPr lang="en-ID" sz="1100" dirty="0" err="1">
                <a:solidFill>
                  <a:srgbClr val="262626"/>
                </a:solidFill>
                <a:latin typeface="Arial" panose="020B0604020202020204" pitchFamily="34" charset="0"/>
              </a:rPr>
              <a:t>komposisi</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kerugian</a:t>
            </a:r>
            <a:r>
              <a:rPr lang="en-ID" sz="1100" dirty="0">
                <a:solidFill>
                  <a:srgbClr val="262626"/>
                </a:solidFill>
                <a:latin typeface="Arial" panose="020B0604020202020204" pitchFamily="34" charset="0"/>
              </a:rPr>
              <a:t> per </a:t>
            </a:r>
            <a:r>
              <a:rPr lang="en-ID" sz="1100" dirty="0" err="1">
                <a:solidFill>
                  <a:srgbClr val="262626"/>
                </a:solidFill>
                <a:latin typeface="Arial" panose="020B0604020202020204" pitchFamily="34" charset="0"/>
              </a:rPr>
              <a:t>kuartal</a:t>
            </a:r>
            <a:r>
              <a:rPr lang="en-ID" sz="1100" dirty="0">
                <a:solidFill>
                  <a:srgbClr val="262626"/>
                </a:solidFill>
                <a:latin typeface="Arial" panose="020B0604020202020204" pitchFamily="34" charset="0"/>
              </a:rPr>
              <a:t> (% </a:t>
            </a:r>
            <a:r>
              <a:rPr lang="en-ID" sz="1100" dirty="0" err="1">
                <a:solidFill>
                  <a:srgbClr val="262626"/>
                </a:solidFill>
                <a:latin typeface="Arial" panose="020B0604020202020204" pitchFamily="34" charset="0"/>
              </a:rPr>
              <a:t>kredit</a:t>
            </a:r>
            <a:r>
              <a:rPr lang="en-ID" sz="1100" dirty="0">
                <a:solidFill>
                  <a:srgbClr val="262626"/>
                </a:solidFill>
                <a:latin typeface="Arial" panose="020B0604020202020204" pitchFamily="34" charset="0"/>
              </a:rPr>
              <a:t>). Kanan: </a:t>
            </a:r>
            <a:r>
              <a:rPr lang="en-ID" sz="1100" dirty="0" err="1">
                <a:solidFill>
                  <a:srgbClr val="262626"/>
                </a:solidFill>
                <a:latin typeface="Arial" panose="020B0604020202020204" pitchFamily="34" charset="0"/>
              </a:rPr>
              <a:t>laba</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bersih</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terhadap</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aset</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ROA </a:t>
            </a:r>
            <a:r>
              <a:rPr lang="en-ID" sz="1100" dirty="0" err="1">
                <a:solidFill>
                  <a:srgbClr val="262626"/>
                </a:solidFill>
                <a:latin typeface="Arial" panose="020B0604020202020204" pitchFamily="34" charset="0"/>
              </a:rPr>
              <a:t>disetahunkan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turun</a:t>
            </a:r>
            <a:r>
              <a:rPr lang="en-ID" sz="1100" dirty="0">
                <a:solidFill>
                  <a:srgbClr val="262626"/>
                </a:solidFill>
                <a:latin typeface="Arial" panose="020B0604020202020204" pitchFamily="34" charset="0"/>
              </a:rPr>
              <a:t> </a:t>
            </a:r>
            <a:r>
              <a:rPr lang="en-ID" sz="1100" dirty="0" err="1">
                <a:solidFill>
                  <a:srgbClr val="262626"/>
                </a:solidFill>
                <a:latin typeface="Arial" panose="020B0604020202020204" pitchFamily="34" charset="0"/>
              </a:rPr>
              <a:t>dari</a:t>
            </a:r>
            <a:r>
              <a:rPr lang="en-ID" sz="1100" dirty="0">
                <a:solidFill>
                  <a:srgbClr val="262626"/>
                </a:solidFill>
                <a:latin typeface="Arial" panose="020B0604020202020204" pitchFamily="34" charset="0"/>
              </a:rPr>
              <a:t> 2,1% </a:t>
            </a:r>
            <a:r>
              <a:rPr lang="en-ID" sz="1100" dirty="0" err="1">
                <a:solidFill>
                  <a:srgbClr val="262626"/>
                </a:solidFill>
                <a:latin typeface="Arial" panose="020B0604020202020204" pitchFamily="34" charset="0"/>
              </a:rPr>
              <a:t>ke</a:t>
            </a:r>
            <a:r>
              <a:rPr lang="en-ID" sz="1100" dirty="0">
                <a:solidFill>
                  <a:srgbClr val="262626"/>
                </a:solidFill>
                <a:latin typeface="Arial" panose="020B0604020202020204" pitchFamily="34" charset="0"/>
              </a:rPr>
              <a:t> 1,3% (Adverse 1</a:t>
            </a:r>
            <a:r>
              <a:rPr lang="en-ID" sz="1100">
                <a:solidFill>
                  <a:srgbClr val="262626"/>
                </a:solidFill>
                <a:latin typeface="Arial" panose="020B0604020202020204" pitchFamily="34" charset="0"/>
              </a:rPr>
              <a:t>) dan 0,3% (Adverse 2) </a:t>
            </a:r>
            <a:r>
              <a:rPr lang="en-ID" sz="1100" dirty="0">
                <a:solidFill>
                  <a:srgbClr val="262626"/>
                </a:solidFill>
                <a:latin typeface="Arial" panose="020B0604020202020204" pitchFamily="34" charset="0"/>
              </a:rPr>
              <a:t>pada 2027Q2.</a:t>
            </a:r>
          </a:p>
        </p:txBody>
      </p:sp>
    </p:spTree>
    <p:extLst>
      <p:ext uri="{BB962C8B-B14F-4D97-AF65-F5344CB8AC3E}">
        <p14:creationId xmlns:p14="http://schemas.microsoft.com/office/powerpoint/2010/main" val="32279766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KBMI 2 paling tertekan: merugi dan CAR </a:t>
            </a:r>
            <a:r>
              <a:rPr lang="it-IT" sz="2000"/>
              <a:t>turun ke 16,9% di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139088209"/>
              </p:ext>
            </p:extLst>
          </p:nvPr>
        </p:nvGraphicFramePr>
        <p:xfrm>
          <a:off x="6731000" y="1397000"/>
          <a:ext cx="4902200" cy="16764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219200">
                  <a:extLst>
                    <a:ext uri="{9D8B030D-6E8A-4147-A177-3AD203B41FA5}">
                      <a16:colId xmlns:a16="http://schemas.microsoft.com/office/drawing/2014/main" val="20002"/>
                    </a:ext>
                  </a:extLst>
                </a:gridCol>
                <a:gridCol w="1270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Kelompok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1 (24)</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33,7</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28,8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2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3 (10)</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25,2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KBMI 4 (4)</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21,0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bl>
          </a:graphicData>
        </a:graphic>
      </p:graphicFrame>
      <p:pic>
        <p:nvPicPr>
          <p:cNvPr id="6" name="Picture 3">
            <a:extLst>
              <a:ext uri="{FF2B5EF4-FFF2-40B4-BE49-F238E27FC236}">
                <a16:creationId xmlns:a16="http://schemas.microsoft.com/office/drawing/2014/main" id="{9423F865-3AA8-5EB8-BCA2-B3E39464A2EC}"/>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E412B150-32EC-C526-D6AB-78C3747AF517}"/>
              </a:ext>
            </a:extLst>
          </p:cNvPr>
          <p:cNvSpPr txBox="1"/>
          <p:nvPr/>
        </p:nvSpPr>
        <p:spPr>
          <a:xfrm>
            <a:off x="6731000" y="3200400"/>
            <a:ext cx="4902200" cy="600164"/>
          </a:xfrm>
          <a:prstGeom prst="rect">
            <a:avLst/>
          </a:prstGeom>
          <a:noFill/>
        </p:spPr>
        <p:txBody>
          <a:bodyPr vert="horz" wrap="square" rtlCol="0">
            <a:spAutoFit/>
          </a:bodyPr>
          <a:lstStyle/>
          <a:p>
            <a:r>
              <a:rPr lang="en-ID" sz="1100">
                <a:solidFill>
                  <a:srgbClr val="262626"/>
                </a:solidFill>
                <a:latin typeface="Arial" panose="020B0604020202020204" pitchFamily="34" charset="0"/>
              </a:rPr>
              <a:t>Laba = laba bersih kumulatif 4 kuartal di Adverse 2. KBMI 4 tetap mencetak laba besar sehingga CAR hanya turun ±1,2 pp meski rugi surat berharganya besar.</a:t>
            </a:r>
          </a:p>
        </p:txBody>
      </p:sp>
    </p:spTree>
    <p:extLst>
      <p:ext uri="{BB962C8B-B14F-4D97-AF65-F5344CB8AC3E}">
        <p14:creationId xmlns:p14="http://schemas.microsoft.com/office/powerpoint/2010/main" val="29061884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Himbara lebih tahan: laba besar menyerap credit loss yang lebih tinggi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113680587"/>
              </p:ext>
            </p:extLst>
          </p:nvPr>
        </p:nvGraphicFramePr>
        <p:xfrm>
          <a:off x="6731000" y="1397000"/>
          <a:ext cx="4902200" cy="27051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397000">
                  <a:extLst>
                    <a:ext uri="{9D8B030D-6E8A-4147-A177-3AD203B41FA5}">
                      <a16:colId xmlns:a16="http://schemas.microsoft.com/office/drawing/2014/main" val="20001"/>
                    </a:ext>
                  </a:extLst>
                </a:gridCol>
                <a:gridCol w="1600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Adverse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Himbara (5)</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Non-Himbara (41)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awal (%)</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19,4</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26,8</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CAR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23,8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NPL akhir (%)</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3,1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Credit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Market loss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50" b="1">
                          <a:solidFill>
                            <a:srgbClr val="000000"/>
                          </a:solidFill>
                          <a:latin typeface="Arial"/>
                          <a:cs typeface="Arial"/>
                        </a:rPr>
                        <a:t>Laba (% modal)</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9,9</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4,7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50" b="1">
                          <a:solidFill>
                            <a:srgbClr val="000000"/>
                          </a:solidFill>
                          <a:latin typeface="Arial"/>
                          <a:cs typeface="Arial"/>
                        </a:rPr>
                        <a:t>Bank CAR &lt; 8%</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168204199"/>
                  </a:ext>
                </a:extLst>
              </a:tr>
            </a:tbl>
          </a:graphicData>
        </a:graphic>
      </p:graphicFrame>
      <p:pic>
        <p:nvPicPr>
          <p:cNvPr id="6" name="Picture 3">
            <a:extLst>
              <a:ext uri="{FF2B5EF4-FFF2-40B4-BE49-F238E27FC236}">
                <a16:creationId xmlns:a16="http://schemas.microsoft.com/office/drawing/2014/main" id="{883AAE95-A415-8B73-41B2-3C1193345363}"/>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8F37DAB8-0D6E-3C00-137F-92E573AFF3CE}"/>
              </a:ext>
            </a:extLst>
          </p:cNvPr>
          <p:cNvSpPr txBox="1"/>
          <p:nvPr/>
        </p:nvSpPr>
        <p:spPr>
          <a:xfrm>
            <a:off x="6731000" y="4229100"/>
            <a:ext cx="4902200" cy="430887"/>
          </a:xfrm>
          <a:prstGeom prst="rect">
            <a:avLst/>
          </a:prstGeom>
          <a:noFill/>
        </p:spPr>
        <p:txBody>
          <a:bodyPr vert="horz" wrap="square" rtlCol="0">
            <a:spAutoFit/>
          </a:bodyPr>
          <a:lstStyle/>
          <a:p>
            <a:r>
              <a:rPr lang="en-ID" sz="1100">
                <a:solidFill>
                  <a:srgbClr val="262626"/>
                </a:solidFill>
                <a:latin typeface="Arial" panose="020B0604020202020204" pitchFamily="34" charset="0"/>
              </a:rPr>
              <a:t>Himbara: BRI, Mandiri, BNI, BTN, dan BSI (BSI dimasukkan sebagai bank milik negara melalui induknya).</a:t>
            </a:r>
          </a:p>
        </p:txBody>
      </p:sp>
    </p:spTree>
    <p:extLst>
      <p:ext uri="{BB962C8B-B14F-4D97-AF65-F5344CB8AC3E}">
        <p14:creationId xmlns:p14="http://schemas.microsoft.com/office/powerpoint/2010/main" val="162615281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Satu bank gagal di Adverse 2 (BINA); lima bank lain di bawah 14%</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41075548"/>
              </p:ext>
            </p:extLst>
          </p:nvPr>
        </p:nvGraphicFramePr>
        <p:xfrm>
          <a:off x="6731000" y="1397000"/>
          <a:ext cx="4902200" cy="1676400"/>
        </p:xfrm>
        <a:graphic>
          <a:graphicData uri="http://schemas.openxmlformats.org/drawingml/2006/table">
            <a:tbl>
              <a:tblPr firstRow="1"/>
              <a:tblGrid>
                <a:gridCol w="7112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965200">
                  <a:extLst>
                    <a:ext uri="{9D8B030D-6E8A-4147-A177-3AD203B41FA5}">
                      <a16:colId xmlns:a16="http://schemas.microsoft.com/office/drawing/2014/main" val="20002"/>
                    </a:ext>
                  </a:extLst>
                </a:gridCol>
                <a:gridCol w="965200">
                  <a:extLst>
                    <a:ext uri="{9D8B030D-6E8A-4147-A177-3AD203B41FA5}">
                      <a16:colId xmlns:a16="http://schemas.microsoft.com/office/drawing/2014/main" val="20003"/>
                    </a:ext>
                  </a:extLst>
                </a:gridCol>
                <a:gridCol w="1371600">
                  <a:extLst>
                    <a:ext uri="{9D8B030D-6E8A-4147-A177-3AD203B41FA5}">
                      <a16:colId xmlns:a16="http://schemas.microsoft.com/office/drawing/2014/main" val="4203552360"/>
                    </a:ext>
                  </a:extLst>
                </a:gridCol>
              </a:tblGrid>
              <a:tr h="304800">
                <a:tc>
                  <a:txBody>
                    <a:bodyPr/>
                    <a:lstStyle/>
                    <a:p>
                      <a:pPr marL="0" indent="0" algn="l">
                        <a:lnSpc>
                          <a:spcPct val="100000"/>
                        </a:lnSpc>
                        <a:spcBef>
                          <a:spcPts val="0"/>
                        </a:spcBef>
                        <a:buNone/>
                      </a:pPr>
                      <a:r>
                        <a:rPr lang="id-ID" sz="1150" b="1">
                          <a:solidFill>
                            <a:srgbClr val="000000"/>
                          </a:solidFill>
                          <a:latin typeface="Arial"/>
                          <a:cs typeface="Arial"/>
                        </a:rPr>
                        <a:t>Bank</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CAR awal</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1</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50" b="1">
                          <a:solidFill>
                            <a:srgbClr val="000000"/>
                          </a:solidFill>
                          <a:latin typeface="Arial"/>
                          <a:cs typeface="Arial"/>
                        </a:rPr>
                        <a:t>Min. Adv 2</a:t>
                      </a:r>
                      <a:endParaRPr lang="id-ID" sz="11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50" b="1">
                          <a:solidFill>
                            <a:srgbClr val="000000"/>
                          </a:solidFill>
                          <a:latin typeface="Arial"/>
                          <a:cs typeface="Arial"/>
                        </a:rPr>
                        <a:t>Penyebab</a:t>
                      </a:r>
                      <a:endParaRPr lang="id-ID" sz="11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50" b="1">
                          <a:solidFill>
                            <a:srgbClr val="000000"/>
                          </a:solidFill>
                          <a:latin typeface="Arial"/>
                          <a:cs typeface="Arial"/>
                        </a:rPr>
                        <a:t>BINA</a:t>
                      </a:r>
                      <a:endParaRPr lang="id-ID" sz="11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15,3</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10,0</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6,5</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50" b="1">
                          <a:solidFill>
                            <a:srgbClr val="000000"/>
                          </a:solidFill>
                          <a:latin typeface="Arial"/>
                          <a:cs typeface="Arial"/>
                        </a:rPr>
                        <a:t>MAYA</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11,1</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8,6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CAR awal tipis</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50" b="1">
                          <a:solidFill>
                            <a:srgbClr val="000000"/>
                          </a:solidFill>
                          <a:latin typeface="Arial"/>
                          <a:cs typeface="Arial"/>
                        </a:rPr>
                        <a:t>BBKP</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17,0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12,2</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9,7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50" b="1">
                          <a:solidFill>
                            <a:srgbClr val="000000"/>
                          </a:solidFill>
                          <a:latin typeface="Arial"/>
                          <a:cs typeface="Arial"/>
                        </a:rPr>
                        <a:t>BCIC</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14,5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13,0</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11,6</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50" b="1">
                          <a:solidFill>
                            <a:srgbClr val="000000"/>
                          </a:solidFill>
                          <a:latin typeface="Arial"/>
                          <a:cs typeface="Arial"/>
                        </a:rPr>
                        <a:t>PNBS</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17,4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13,5</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50" b="0">
                          <a:solidFill>
                            <a:srgbClr val="000000"/>
                          </a:solidFill>
                          <a:latin typeface="Arial"/>
                          <a:cs typeface="Arial"/>
                        </a:rPr>
                        <a:t>12,3</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50" b="0">
                          <a:solidFill>
                            <a:srgbClr val="000000"/>
                          </a:solidFill>
                          <a:latin typeface="Arial"/>
                          <a:cs typeface="Arial"/>
                        </a:rPr>
                        <a:t>Kredit + MTM</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22209239"/>
                  </a:ext>
                </a:extLst>
              </a:tr>
              <a:tr h="342900">
                <a:tc>
                  <a:txBody>
                    <a:bodyPr/>
                    <a:lstStyle/>
                    <a:p>
                      <a:pPr marL="0" indent="0" algn="l">
                        <a:lnSpc>
                          <a:spcPct val="100000"/>
                        </a:lnSpc>
                        <a:spcBef>
                          <a:spcPts val="0"/>
                        </a:spcBef>
                        <a:buNone/>
                      </a:pPr>
                      <a:r>
                        <a:rPr lang="id-ID" sz="1150" b="1">
                          <a:solidFill>
                            <a:srgbClr val="000000"/>
                          </a:solidFill>
                          <a:latin typeface="Arial"/>
                          <a:cs typeface="Arial"/>
                        </a:rPr>
                        <a:t>BJBR</a:t>
                      </a:r>
                      <a:endParaRPr lang="id-ID" sz="11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18,7</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16,4</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50" b="0">
                          <a:solidFill>
                            <a:srgbClr val="000000"/>
                          </a:solidFill>
                          <a:latin typeface="Arial"/>
                          <a:cs typeface="Arial"/>
                        </a:rPr>
                        <a:t>13,8</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50" b="0">
                          <a:solidFill>
                            <a:srgbClr val="000000"/>
                          </a:solidFill>
                          <a:latin typeface="Arial"/>
                          <a:cs typeface="Arial"/>
                        </a:rPr>
                        <a:t>MTM + kredit</a:t>
                      </a:r>
                      <a:endParaRPr lang="id-ID" sz="11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4282633176"/>
                  </a:ext>
                </a:extLst>
              </a:tr>
            </a:tbl>
          </a:graphicData>
        </a:graphic>
      </p:graphicFrame>
      <p:pic>
        <p:nvPicPr>
          <p:cNvPr id="6" name="Picture 3">
            <a:extLst>
              <a:ext uri="{FF2B5EF4-FFF2-40B4-BE49-F238E27FC236}">
                <a16:creationId xmlns:a16="http://schemas.microsoft.com/office/drawing/2014/main" id="{F78D68C3-3D23-50D3-54B3-5D1C45489785}"/>
              </a:ext>
            </a:extLst>
          </p:cNvPr>
          <p:cNvPicPr>
            <a:picLocks/>
          </p:cNvPicPr>
          <p:nvPr/>
        </p:nvPicPr>
        <p:blipFill>
          <a:blip r:embed="rId3"/>
          <a:stretch>
            <a:fillRect/>
          </a:stretch>
        </p:blipFill>
        <p:spPr>
          <a:xfrm>
            <a:off x="558800" y="1270000"/>
            <a:ext cx="5969000" cy="3581400"/>
          </a:xfrm>
          <a:prstGeom prst="rect">
            <a:avLst/>
          </a:prstGeom>
        </p:spPr>
      </p:pic>
      <p:sp>
        <p:nvSpPr>
          <p:cNvPr id="5" name="TextBox 4">
            <a:extLst>
              <a:ext uri="{FF2B5EF4-FFF2-40B4-BE49-F238E27FC236}">
                <a16:creationId xmlns:a16="http://schemas.microsoft.com/office/drawing/2014/main" id="{BE5279EE-42E1-6A3E-7F41-940D2BFC17B4}"/>
              </a:ext>
            </a:extLst>
          </p:cNvPr>
          <p:cNvSpPr txBox="1"/>
          <p:nvPr/>
        </p:nvSpPr>
        <p:spPr>
          <a:xfrm>
            <a:off x="6731000" y="3886200"/>
            <a:ext cx="4902200" cy="769441"/>
          </a:xfrm>
          <a:prstGeom prst="rect">
            <a:avLst/>
          </a:prstGeom>
          <a:noFill/>
        </p:spPr>
        <p:txBody>
          <a:bodyPr vert="horz" wrap="square" rtlCol="0">
            <a:spAutoFit/>
          </a:bodyPr>
          <a:lstStyle/>
          <a:p>
            <a:r>
              <a:rPr lang="en-ID" sz="1100">
                <a:solidFill>
                  <a:srgbClr val="262626"/>
                </a:solidFill>
                <a:latin typeface="Arial" panose="020B0604020202020204" pitchFamily="34" charset="0"/>
              </a:rPr>
              <a:t>BINA memegang surat berharga FV ±4 kali modal (modal turun ke Rp2,8 T setelah rugi 2025), sehingga rugi MTM Adverse 2 setara 30% modal; tanpa overlay dan komponen properti pun BINA tetap gagal (7,9%). Data FV sesuai laporan keuangan (kolom kuartalan Bloomberg).</a:t>
            </a:r>
          </a:p>
        </p:txBody>
      </p:sp>
    </p:spTree>
    <p:extLst>
      <p:ext uri="{BB962C8B-B14F-4D97-AF65-F5344CB8AC3E}">
        <p14:creationId xmlns:p14="http://schemas.microsoft.com/office/powerpoint/2010/main" val="538501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Dengan batas CAR per profil risiko, 1 sampai 6 bank di bawah batas pada Adverse 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723890618"/>
              </p:ext>
            </p:extLst>
          </p:nvPr>
        </p:nvGraphicFramePr>
        <p:xfrm>
          <a:off x="558800" y="1270000"/>
          <a:ext cx="11074400" cy="27051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3454400">
                  <a:extLst>
                    <a:ext uri="{9D8B030D-6E8A-4147-A177-3AD203B41FA5}">
                      <a16:colId xmlns:a16="http://schemas.microsoft.com/office/drawing/2014/main" val="20001"/>
                    </a:ext>
                  </a:extLst>
                </a:gridCol>
                <a:gridCol w="1651000">
                  <a:extLst>
                    <a:ext uri="{9D8B030D-6E8A-4147-A177-3AD203B41FA5}">
                      <a16:colId xmlns:a16="http://schemas.microsoft.com/office/drawing/2014/main" val="20002"/>
                    </a:ext>
                  </a:extLst>
                </a:gridCol>
                <a:gridCol w="1651000">
                  <a:extLst>
                    <a:ext uri="{9D8B030D-6E8A-4147-A177-3AD203B41FA5}">
                      <a16:colId xmlns:a16="http://schemas.microsoft.com/office/drawing/2014/main" val="20003"/>
                    </a:ext>
                  </a:extLst>
                </a:gridCol>
                <a:gridCol w="1778000">
                  <a:extLst>
                    <a:ext uri="{9D8B030D-6E8A-4147-A177-3AD203B41FA5}">
                      <a16:colId xmlns:a16="http://schemas.microsoft.com/office/drawing/2014/main" val="4254347453"/>
                    </a:ext>
                  </a:extLst>
                </a:gridCol>
              </a:tblGrid>
              <a:tr h="304800">
                <a:tc>
                  <a:txBody>
                    <a:bodyPr/>
                    <a:lstStyle/>
                    <a:p>
                      <a:pPr marL="0" indent="0" algn="l">
                        <a:lnSpc>
                          <a:spcPct val="100000"/>
                        </a:lnSpc>
                        <a:spcBef>
                          <a:spcPts val="0"/>
                        </a:spcBef>
                        <a:buNone/>
                      </a:pPr>
                      <a:r>
                        <a:rPr lang="id-ID" sz="1250" b="1">
                          <a:solidFill>
                            <a:srgbClr val="000000"/>
                          </a:solidFill>
                          <a:latin typeface="Arial"/>
                          <a:cs typeface="Arial"/>
                        </a:rPr>
                        <a:t>Batas CAR (POJK 11/2016)</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50" b="1">
                          <a:solidFill>
                            <a:srgbClr val="000000"/>
                          </a:solidFill>
                          <a:latin typeface="Arial"/>
                          <a:cs typeface="Arial"/>
                        </a:rPr>
                        <a:t>Berlaku untuk</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Baseline</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1</a:t>
                      </a:r>
                      <a:endParaRPr lang="id-ID" sz="125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50" b="1">
                          <a:solidFill>
                            <a:srgbClr val="000000"/>
                          </a:solidFill>
                          <a:latin typeface="Arial"/>
                          <a:cs typeface="Arial"/>
                        </a:rPr>
                        <a:t>Adverse 2</a:t>
                      </a:r>
                      <a:endParaRPr lang="id-ID" sz="125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50" b="1">
                          <a:solidFill>
                            <a:srgbClr val="000000"/>
                          </a:solidFill>
                          <a:latin typeface="Arial"/>
                          <a:cs typeface="Arial"/>
                        </a:rPr>
                        <a:t>&lt; 8%</a:t>
                      </a:r>
                      <a:endParaRPr lang="id-ID" sz="125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risiko 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50" b="1">
                          <a:solidFill>
                            <a:srgbClr val="000000"/>
                          </a:solidFill>
                          <a:latin typeface="Arial"/>
                          <a:cs typeface="Arial"/>
                        </a:rPr>
                        <a:t>&lt; 9%</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2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10%</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3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0</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11%</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bawah)</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1</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2</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50" b="1">
                          <a:solidFill>
                            <a:srgbClr val="000000"/>
                          </a:solidFill>
                          <a:latin typeface="Arial"/>
                          <a:cs typeface="Arial"/>
                        </a:rPr>
                        <a:t>&lt; 14%</a:t>
                      </a:r>
                      <a:endParaRPr lang="id-ID" sz="125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50" b="0">
                          <a:solidFill>
                            <a:srgbClr val="000000"/>
                          </a:solidFill>
                          <a:latin typeface="Arial"/>
                          <a:cs typeface="Arial"/>
                        </a:rPr>
                        <a:t>Profil 4–5 (batas atas)</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3</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5</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50" b="0">
                          <a:solidFill>
                            <a:srgbClr val="000000"/>
                          </a:solidFill>
                          <a:latin typeface="Arial"/>
                          <a:cs typeface="Arial"/>
                        </a:rPr>
                        <a:t>6</a:t>
                      </a:r>
                      <a:endParaRPr lang="id-ID" sz="125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bl>
          </a:graphicData>
        </a:graphic>
      </p:graphicFrame>
      <p:sp>
        <p:nvSpPr>
          <p:cNvPr id="201" name="Text 202"/>
          <p:cNvSpPr txBox="1"/>
          <p:nvPr/>
        </p:nvSpPr>
        <p:spPr>
          <a:xfrm>
            <a:off x="558800" y="34163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Jumlah bank dengan CAR minimum selama horizon di bawah tiap batas. Minimum CAR menurut peringkat profil risiko: 1 = 8%; 2 = 9% s.d. &lt;10%; 3 = 10% s.d. &lt;11%; 4–5 = 11% s.d. 14%. Peringkat tiap bank tidak tersedia di data. Di bawah 14% pada Adverse 2: BINA 6,5; MAYA 8,6; BBKP 9,7; BCIC 11,6; PNBS 12,3; BJBR 13,8. Bank lain (40) tetap di atas 14% di semua skenario.</a:t>
            </a:r>
            <a:endParaRPr lang="id-ID" sz="1150" dirty="0">
              <a:solidFill>
                <a:srgbClr val="000000"/>
              </a:solidFill>
              <a:latin typeface="Arial"/>
              <a:cs typeface="Arial"/>
            </a:endParaRPr>
          </a:p>
        </p:txBody>
      </p:sp>
    </p:spTree>
    <p:extLst>
      <p:ext uri="{BB962C8B-B14F-4D97-AF65-F5344CB8AC3E}">
        <p14:creationId xmlns:p14="http://schemas.microsoft.com/office/powerpoint/2010/main" val="344379294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Bank di bawah batas profil risiko dan faktor penyebabnya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30184558"/>
              </p:ext>
            </p:extLst>
          </p:nvPr>
        </p:nvGraphicFramePr>
        <p:xfrm>
          <a:off x="558800" y="1270000"/>
          <a:ext cx="11074400" cy="2705100"/>
        </p:xfrm>
        <a:graphic>
          <a:graphicData uri="http://schemas.openxmlformats.org/drawingml/2006/table">
            <a:tbl>
              <a:tblPr firstRow="1"/>
              <a:tblGrid>
                <a:gridCol w="660400">
                  <a:extLst>
                    <a:ext uri="{9D8B030D-6E8A-4147-A177-3AD203B41FA5}">
                      <a16:colId xmlns:a16="http://schemas.microsoft.com/office/drawing/2014/main" val="20000"/>
                    </a:ext>
                  </a:extLst>
                </a:gridCol>
                <a:gridCol w="78740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787400">
                  <a:extLst>
                    <a:ext uri="{9D8B030D-6E8A-4147-A177-3AD203B41FA5}">
                      <a16:colId xmlns:a16="http://schemas.microsoft.com/office/drawing/2014/main" val="20003"/>
                    </a:ext>
                  </a:extLst>
                </a:gridCol>
                <a:gridCol w="1066800">
                  <a:extLst>
                    <a:ext uri="{9D8B030D-6E8A-4147-A177-3AD203B41FA5}">
                      <a16:colId xmlns:a16="http://schemas.microsoft.com/office/drawing/2014/main" val="4254347453"/>
                    </a:ext>
                  </a:extLst>
                </a:gridCol>
                <a:gridCol w="787400">
                  <a:extLst>
                    <a:ext uri="{9D8B030D-6E8A-4147-A177-3AD203B41FA5}">
                      <a16:colId xmlns:a16="http://schemas.microsoft.com/office/drawing/2014/main" val="4198724363"/>
                    </a:ext>
                  </a:extLst>
                </a:gridCol>
                <a:gridCol w="787400">
                  <a:extLst>
                    <a:ext uri="{9D8B030D-6E8A-4147-A177-3AD203B41FA5}">
                      <a16:colId xmlns:a16="http://schemas.microsoft.com/office/drawing/2014/main" val="842091331"/>
                    </a:ext>
                  </a:extLst>
                </a:gridCol>
                <a:gridCol w="5130800">
                  <a:extLst>
                    <a:ext uri="{9D8B030D-6E8A-4147-A177-3AD203B41FA5}">
                      <a16:colId xmlns:a16="http://schemas.microsoft.com/office/drawing/2014/main" val="1833639767"/>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Bank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1</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Min. Adv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100" b="1">
                          <a:solidFill>
                            <a:srgbClr val="000000"/>
                          </a:solidFill>
                          <a:latin typeface="Arial"/>
                          <a:cs typeface="Arial"/>
                        </a:rPr>
                        <a:t>Gagal bila profil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Credit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Market loss</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100" b="1">
                          <a:solidFill>
                            <a:srgbClr val="000000"/>
                          </a:solidFill>
                          <a:latin typeface="Arial"/>
                          <a:cs typeface="Arial"/>
                        </a:rPr>
                        <a:t>Faktor utama (Adverse 2)</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BINA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9,999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6,52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Semua (1–5)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30,5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Surat berharga FV ±4× modal; modal tipis (Rp2,8 T) setelah rugi 2025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MAYA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2–5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tipis (11,1%); credit loss menggerus sisa buffer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BBKP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12,23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9,71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100" b="0">
                          <a:solidFill>
                            <a:srgbClr val="000000"/>
                          </a:solidFill>
                          <a:latin typeface="Arial"/>
                          <a:cs typeface="Arial"/>
                        </a:rPr>
                        <a:t>Kredit: NPL awal 9,7%, credit loss tertinggi di daftar</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BCIC</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12,97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9,9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100" b="0">
                          <a:solidFill>
                            <a:srgbClr val="000000"/>
                          </a:solidFill>
                          <a:latin typeface="Arial"/>
                          <a:cs typeface="Arial"/>
                        </a:rPr>
                        <a:t>CAR awal rendah (14,5%) ditambah credit loss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PNBS</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13,52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12,34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100" b="0">
                          <a:solidFill>
                            <a:srgbClr val="000000"/>
                          </a:solidFill>
                          <a:latin typeface="Arial"/>
                          <a:cs typeface="Arial"/>
                        </a:rPr>
                        <a:t>Kredit (7,3% modal) dan MTM (6,4%) berimbang; CAR awal 17,4%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BJBR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Lolos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100" b="0">
                          <a:solidFill>
                            <a:srgbClr val="000000"/>
                          </a:solidFill>
                          <a:latin typeface="Arial"/>
                          <a:cs typeface="Arial"/>
                        </a:rPr>
                        <a:t>4–5 (atas)</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19,2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n-NO" sz="1100" b="0">
                          <a:solidFill>
                            <a:srgbClr val="000000"/>
                          </a:solidFill>
                          <a:latin typeface="Arial"/>
                          <a:cs typeface="Arial"/>
                        </a:rPr>
                        <a:t>Surat berharga FV ±2,5× modal (MTM) dan NPL awal 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3680392355"/>
                  </a:ext>
                </a:extLst>
              </a:tr>
            </a:tbl>
          </a:graphicData>
        </a:graphic>
      </p:graphicFrame>
      <p:sp>
        <p:nvSpPr>
          <p:cNvPr id="201" name="Text 202"/>
          <p:cNvSpPr txBox="1"/>
          <p:nvPr/>
        </p:nvSpPr>
        <p:spPr>
          <a:xfrm>
            <a:off x="558800" y="38658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Gagal bila profil = peringkat profil risiko yang membuat CAR minimum bank jatuh di bawah batasnya (POJK 11/2016: 1 = 8%; 2 = 9% s.d. &lt;10%; 3 = 10% s.d. &lt;11%; 4–5 = 11% s.d. 14%); (atas) = hanya bila bank memakai batas tertinggi 14%. Credit dan market loss = kumulatif 4 kuartal Adverse 2, % modal awal. Di baseline, MAYA (10,3%), BINA (13,7%), dan BCIC (13,8%) sudah di bawah 14%.</a:t>
            </a:r>
            <a:endParaRPr lang="id-ID" sz="1150" dirty="0">
              <a:solidFill>
                <a:srgbClr val="000000"/>
              </a:solidFill>
              <a:latin typeface="Arial"/>
              <a:cs typeface="Arial"/>
            </a:endParaRPr>
          </a:p>
        </p:txBody>
      </p:sp>
    </p:spTree>
    <p:extLst>
      <p:ext uri="{BB962C8B-B14F-4D97-AF65-F5344CB8AC3E}">
        <p14:creationId xmlns:p14="http://schemas.microsoft.com/office/powerpoint/2010/main" val="24605322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Kesimpulan dan tindak lanjut</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Sistem perbankan tahan terhadap skenario berat</a:t>
            </a:r>
          </a:p>
          <a:p>
            <a:pPr marL="0" indent="0" algn="l">
              <a:lnSpc>
                <a:spcPct val="100000"/>
              </a:lnSpc>
              <a:spcBef>
                <a:spcPts val="0"/>
              </a:spcBef>
              <a:buNone/>
            </a:pPr>
            <a:r>
              <a:rPr lang="it-IT" sz="1300">
                <a:solidFill>
                  <a:srgbClr val="262626"/>
                </a:solidFill>
                <a:latin typeface="Arial"/>
                <a:cs typeface="Arial"/>
              </a:rPr>
              <a:t>CAR industri tetap di atas 20%</a:t>
            </a:r>
            <a:r>
              <a:rPr lang="id-ID" sz="1300">
                <a:solidFill>
                  <a:srgbClr val="262626"/>
                </a:solidFill>
                <a:latin typeface="Arial"/>
                <a:cs typeface="Arial"/>
              </a:rPr>
              <a:t> dan tidak ada bank besar yang mendekati batas minimum.</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Risiko kredit adalah kanal utama; risiko pasar kedua dan juga mengenai bank besar</a:t>
            </a:r>
          </a:p>
          <a:p>
            <a:pPr marL="0" indent="0" algn="l">
              <a:lnSpc>
                <a:spcPct val="100000"/>
              </a:lnSpc>
              <a:spcBef>
                <a:spcPts val="0"/>
              </a:spcBef>
              <a:buNone/>
            </a:pPr>
            <a:r>
              <a:rPr lang="id-ID" sz="1300">
                <a:solidFill>
                  <a:srgbClr val="262626"/>
                </a:solidFill>
                <a:latin typeface="Arial"/>
                <a:cs typeface="Arial"/>
              </a:rPr>
              <a:t>Credit loss 61% dan rugi MTM 39% dari total kerugian Adverse 2; margin bunga tertekan saat BI rate naik; rugi FVOCI langsung menekan modal Himbara dan KBMI 3.</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es-ES" sz="1500" b="1">
                <a:solidFill>
                  <a:srgbClr val="000000"/>
                </a:solidFill>
                <a:latin typeface="Arial"/>
                <a:cs typeface="Arial"/>
              </a:rPr>
              <a:t>Hasil sensitif terhadap tiga asumsi judgment</a:t>
            </a:r>
          </a:p>
          <a:p>
            <a:pPr marL="0" indent="0" algn="l">
              <a:lnSpc>
                <a:spcPct val="100000"/>
              </a:lnSpc>
              <a:spcBef>
                <a:spcPts val="0"/>
              </a:spcBef>
              <a:buNone/>
            </a:pPr>
            <a:r>
              <a:rPr lang="es-ES" sz="1300">
                <a:solidFill>
                  <a:srgbClr val="262626"/>
                </a:solidFill>
                <a:latin typeface="Arial"/>
                <a:cs typeface="Arial"/>
              </a:rPr>
              <a:t>Overlay provisi (0,03 vs estimasi data 0,02), elastisitas harga properti, dan transmisi biaya dana (0,694 = batas atas); dampaknya pada NPL, credit loss, dan bunga bersih.</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Tindak lanjut</a:t>
            </a:r>
          </a:p>
          <a:p>
            <a:pPr marL="0" indent="0" algn="l">
              <a:lnSpc>
                <a:spcPct val="100000"/>
              </a:lnSpc>
              <a:spcBef>
                <a:spcPts val="0"/>
              </a:spcBef>
              <a:buNone/>
            </a:pPr>
            <a:r>
              <a:rPr lang="id-ID" sz="1300">
                <a:solidFill>
                  <a:srgbClr val="262626"/>
                </a:solidFill>
                <a:latin typeface="Arial"/>
                <a:cs typeface="Arial"/>
              </a:rPr>
              <a:t>Konfirmasi peringkat profil risiko bank di bawah 14%, perbaiki bias model NPL, dan perpanjang horizon ke 6–8 kuartal.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Pesan utama:</a:t>
            </a:r>
            <a:r>
              <a:rPr lang="id-ID" sz="1300">
                <a:solidFill>
                  <a:srgbClr val="000000"/>
                </a:solidFill>
                <a:latin typeface="Arial"/>
                <a:cs typeface="Arial"/>
              </a:rPr>
              <a:t> tidak ada risiko solvabilitas sistemik; perhatian difokuskan pada BINA, bank yang mendekati batas profil risiko, KBMI 2, dan sensitivitas portofolio FVOCI terhadap kenaikan yield.</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4048118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043403365"/>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BC95C560-CBEC-71B2-446B-8ABC40A2A791}"/>
              </a:ext>
            </a:extLst>
          </p:cNvPr>
          <p:cNvSpPr>
            <a:spLocks noGrp="1"/>
          </p:cNvSpPr>
          <p:nvPr>
            <p:ph type="subTitle" idx="1"/>
          </p:nvPr>
        </p:nvSpPr>
        <p:spPr>
          <a:xfrm>
            <a:off x="571500" y="3327400"/>
            <a:ext cx="5080000" cy="1143000"/>
          </a:xfrm>
        </p:spPr>
        <p:txBody>
          <a:bodyPr/>
          <a:lstStyle/>
          <a:p>
            <a:r>
              <a:rPr lang="id-ID" sz="2600" b="1"/>
              <a:t>Lampiran: detail statistik satellite model</a:t>
            </a:r>
            <a:endParaRPr lang="id-ID" sz="2600" b="1" dirty="0"/>
          </a:p>
        </p:txBody>
      </p:sp>
      <p:sp>
        <p:nvSpPr>
          <p:cNvPr id="300" name="Section number"/>
          <p:cNvSpPr txBox="1"/>
          <p:nvPr/>
        </p:nvSpPr>
        <p:spPr>
          <a:xfrm>
            <a:off x="571500" y="2286000"/>
            <a:ext cx="2540000" cy="965200"/>
          </a:xfrm>
          <a:prstGeom prst="rect">
            <a:avLst/>
          </a:prstGeom>
          <a:noFill/>
        </p:spPr>
        <p:txBody>
          <a:bodyPr wrap="square" lIns="91440" tIns="0" rIns="0" bIns="0" anchor="b">
            <a:noAutofit/>
          </a:bodyPr>
          <a:lstStyle/>
          <a:p>
            <a:r>
              <a:rPr lang="id-ID" sz="6000" b="1">
                <a:solidFill>
                  <a:srgbClr val="C3986D"/>
                </a:solidFill>
                <a:latin typeface="Arial"/>
                <a:cs typeface="Arial"/>
              </a:rPr>
              <a:t>A</a:t>
            </a:r>
            <a:endParaRPr lang="id-ID" sz="6000" b="1" dirty="0">
              <a:solidFill>
                <a:srgbClr val="C3986D"/>
              </a:solidFill>
              <a:latin typeface="Arial"/>
              <a:cs typeface="Arial"/>
            </a:endParaRPr>
          </a:p>
        </p:txBody>
      </p:sp>
    </p:spTree>
    <p:extLst>
      <p:ext uri="{BB962C8B-B14F-4D97-AF65-F5344CB8AC3E}">
        <p14:creationId xmlns:p14="http://schemas.microsoft.com/office/powerpoint/2010/main" val="1631833523"/>
      </p:ext>
    </p:extLst>
  </p:cSld>
  <p:clrMapOvr>
    <a:masterClrMapping/>
  </p:clrMapOvr>
  <mc:AlternateContent xmlns:mc="http://schemas.openxmlformats.org/markup-compatibility/2006" xmlns:p14="http://schemas.microsoft.com/office/powerpoint/2010/main">
    <mc:Choice Requires="p14">
      <p:transition p14:dur="10"/>
    </mc:Choice>
    <mc:Fallback xmlns="">
      <p:transition/>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Satellite model menerjemahkan skenario makro menjadi risiko kredit bank</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Apa itu satellite model</a:t>
            </a:r>
          </a:p>
          <a:p>
            <a:pPr marL="0" indent="0" algn="l">
              <a:lnSpc>
                <a:spcPct val="100000"/>
              </a:lnSpc>
              <a:spcBef>
                <a:spcPts val="0"/>
              </a:spcBef>
              <a:buNone/>
            </a:pPr>
            <a:r>
              <a:rPr lang="id-ID" sz="1300">
                <a:solidFill>
                  <a:srgbClr val="262626"/>
                </a:solidFill>
                <a:latin typeface="Arial"/>
                <a:cs typeface="Arial"/>
              </a:rPr>
              <a:t>Persamaan yang menghubungkan variabel makro (GDP, BI rate, harga properti) dengan variabel risiko bank (NPL dan provisi), yang kemudian masuk ke laba dan modal.</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1: NPL (regresi panel, 46 bank)</a:t>
            </a:r>
          </a:p>
          <a:p>
            <a:pPr marL="0" indent="0" algn="l">
              <a:lnSpc>
                <a:spcPct val="100000"/>
              </a:lnSpc>
              <a:spcBef>
                <a:spcPts val="0"/>
              </a:spcBef>
              <a:buNone/>
            </a:pPr>
            <a:r>
              <a:rPr lang="id-ID" sz="1300">
                <a:solidFill>
                  <a:srgbClr val="262626"/>
                </a:solidFill>
                <a:latin typeface="Arial"/>
                <a:cs typeface="Arial"/>
              </a:rPr>
              <a:t>NPL tiap bank dijelaskan oleh NPL kuartal lalu, pertumbuhan GDP, dan BI rate; ditambah komponen harga properti dari model Prospera.</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Model 2: respons provisi (regresi panel, 46 bank)</a:t>
            </a:r>
          </a:p>
          <a:p>
            <a:pPr marL="0" indent="0" algn="l">
              <a:lnSpc>
                <a:spcPct val="100000"/>
              </a:lnSpc>
              <a:spcBef>
                <a:spcPts val="0"/>
              </a:spcBef>
              <a:buNone/>
            </a:pPr>
            <a:r>
              <a:rPr lang="id-ID" sz="1300">
                <a:solidFill>
                  <a:srgbClr val="262626"/>
                </a:solidFill>
                <a:latin typeface="Arial"/>
                <a:cs typeface="Arial"/>
              </a:rPr>
              <a:t>Mengukur seberapa besar provisi naik ketika NPL naik; ditambah overlay stres yang dikaitkan dengan penurunan GDP.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Komponen lain tidak memakai regresi</a:t>
            </a:r>
          </a:p>
          <a:p>
            <a:pPr marL="0" indent="0" algn="l">
              <a:lnSpc>
                <a:spcPct val="100000"/>
              </a:lnSpc>
              <a:spcBef>
                <a:spcPts val="0"/>
              </a:spcBef>
              <a:buNone/>
            </a:pPr>
            <a:r>
              <a:rPr lang="id-ID" sz="1300">
                <a:solidFill>
                  <a:srgbClr val="262626"/>
                </a:solidFill>
                <a:latin typeface="Arial"/>
                <a:cs typeface="Arial"/>
              </a:rPr>
              <a:t>Neraca, bunga, surat berharga, pajak, dan modal dihitung dengan rule dan identitas akuntansi (dibahas di bagian 04).</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Cara membaca regresi:</a:t>
            </a:r>
            <a:r>
              <a:rPr lang="id-ID" sz="1300">
                <a:solidFill>
                  <a:srgbClr val="000000"/>
                </a:solidFill>
                <a:latin typeface="Arial"/>
                <a:cs typeface="Arial"/>
              </a:rPr>
              <a:t> koefisien = perubahan variabel dependen (pp) bila prediktor naik 1 unit; p-value &lt; 0,05 = signifikan; R² within = porsi naik-turun NPL tiap bank dari waktu ke waktu yang dijelaskan model.</a:t>
            </a:r>
            <a:endParaRPr lang="id-ID" sz="1300" dirty="0">
              <a:solidFill>
                <a:srgbClr val="000000"/>
              </a:solidFill>
              <a:latin typeface="Arial"/>
              <a:cs typeface="Arial"/>
            </a:endParaRPr>
          </a:p>
        </p:txBody>
      </p:sp>
    </p:spTree>
    <p:extLst>
      <p:ext uri="{BB962C8B-B14F-4D97-AF65-F5344CB8AC3E}">
        <p14:creationId xmlns:p14="http://schemas.microsoft.com/office/powerpoint/2010/main" val="105151025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spesifikasi dan definisi variabel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551163105"/>
              </p:ext>
            </p:extLst>
          </p:nvPr>
        </p:nvGraphicFramePr>
        <p:xfrm>
          <a:off x="558800" y="1270000"/>
          <a:ext cx="11074400" cy="2461260"/>
        </p:xfrm>
        <a:graphic>
          <a:graphicData uri="http://schemas.openxmlformats.org/drawingml/2006/table">
            <a:tbl>
              <a:tblPr firstRow="1"/>
              <a:tblGrid>
                <a:gridCol w="2159000">
                  <a:extLst>
                    <a:ext uri="{9D8B030D-6E8A-4147-A177-3AD203B41FA5}">
                      <a16:colId xmlns:a16="http://schemas.microsoft.com/office/drawing/2014/main" val="20000"/>
                    </a:ext>
                  </a:extLst>
                </a:gridCol>
                <a:gridCol w="3810000">
                  <a:extLst>
                    <a:ext uri="{9D8B030D-6E8A-4147-A177-3AD203B41FA5}">
                      <a16:colId xmlns:a16="http://schemas.microsoft.com/office/drawing/2014/main" val="20001"/>
                    </a:ext>
                  </a:extLst>
                </a:gridCol>
                <a:gridCol w="762000">
                  <a:extLst>
                    <a:ext uri="{9D8B030D-6E8A-4147-A177-3AD203B41FA5}">
                      <a16:colId xmlns:a16="http://schemas.microsoft.com/office/drawing/2014/main" val="20002"/>
                    </a:ext>
                  </a:extLst>
                </a:gridCol>
                <a:gridCol w="1397000">
                  <a:extLst>
                    <a:ext uri="{9D8B030D-6E8A-4147-A177-3AD203B41FA5}">
                      <a16:colId xmlns:a16="http://schemas.microsoft.com/office/drawing/2014/main" val="20003"/>
                    </a:ext>
                  </a:extLst>
                </a:gridCol>
                <a:gridCol w="2946400">
                  <a:extLst>
                    <a:ext uri="{9D8B030D-6E8A-4147-A177-3AD203B41FA5}">
                      <a16:colId xmlns:a16="http://schemas.microsoft.com/office/drawing/2014/main" val="2682850804"/>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Variabel</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Definisi</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Satuan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Waktu</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Sumber</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(dependen)</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Kredit bermasalah ÷ total kredit, per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 (laporan keuangan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NPL kuartal lalu</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bank yang sama satu kuartal sebelumnya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Bloomberg</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Pertumbuhan GDP riil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Pertumbuhan PDB riil, year-on-year</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BPS</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Suku bunga kebijakan 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Bank Indonesia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Indeks harga properti residensial, perubahan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t−1 s.d. t−4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BI; elastisitas dari model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Fixed effect bank</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Konstanta khusus tiap bank = tingkat NPL normalnya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Diestimasi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
        <p:nvSpPr>
          <p:cNvPr id="201" name="Text 202"/>
          <p:cNvSpPr txBox="1"/>
          <p:nvPr/>
        </p:nvSpPr>
        <p:spPr>
          <a:xfrm>
            <a:off x="558800" y="385826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NPL(i,t) = </a:t>
            </a:r>
            <a:r>
              <a:rPr lang="el-GR" sz="1150">
                <a:solidFill>
                  <a:srgbClr val="000000"/>
                </a:solidFill>
                <a:latin typeface="Arial"/>
                <a:cs typeface="Arial"/>
              </a:rPr>
              <a:t>α(</a:t>
            </a:r>
            <a:r>
              <a:rPr lang="id-ID" sz="1150">
                <a:solidFill>
                  <a:srgbClr val="000000"/>
                </a:solidFill>
                <a:latin typeface="Arial"/>
                <a:cs typeface="Arial"/>
              </a:rPr>
              <a:t>i) + </a:t>
            </a:r>
            <a:r>
              <a:rPr lang="el-GR" sz="1150">
                <a:solidFill>
                  <a:srgbClr val="000000"/>
                </a:solidFill>
                <a:latin typeface="Arial"/>
                <a:cs typeface="Arial"/>
              </a:rPr>
              <a:t>ρ·</a:t>
            </a:r>
            <a:r>
              <a:rPr lang="id-ID" sz="1150">
                <a:solidFill>
                  <a:srgbClr val="000000"/>
                </a:solidFill>
                <a:latin typeface="Arial"/>
                <a:cs typeface="Arial"/>
              </a:rPr>
              <a:t>NPL(i,t−1) + </a:t>
            </a:r>
            <a:r>
              <a:rPr lang="el-GR" sz="1150">
                <a:solidFill>
                  <a:srgbClr val="000000"/>
                </a:solidFill>
                <a:latin typeface="Arial"/>
                <a:cs typeface="Arial"/>
              </a:rPr>
              <a:t>Σ β(</a:t>
            </a:r>
            <a:r>
              <a:rPr lang="id-ID" sz="1150">
                <a:solidFill>
                  <a:srgbClr val="000000"/>
                </a:solidFill>
                <a:latin typeface="Arial"/>
                <a:cs typeface="Arial"/>
              </a:rPr>
              <a:t>k)·GDP(t−k) + </a:t>
            </a:r>
            <a:r>
              <a:rPr lang="el-GR" sz="1150">
                <a:solidFill>
                  <a:srgbClr val="000000"/>
                </a:solidFill>
                <a:latin typeface="Arial"/>
                <a:cs typeface="Arial"/>
              </a:rPr>
              <a:t>Σ γ(</a:t>
            </a:r>
            <a:r>
              <a:rPr lang="id-ID" sz="1150">
                <a:solidFill>
                  <a:srgbClr val="000000"/>
                </a:solidFill>
                <a:latin typeface="Arial"/>
                <a:cs typeface="Arial"/>
              </a:rPr>
              <a:t>k)·BI rate(t−k) + komponen properti + error, dengan k = 1 s.d. 4. Komponen properti = −0,429 ÷ 4 × </a:t>
            </a:r>
            <a:r>
              <a:rPr lang="el-GR" sz="1150">
                <a:solidFill>
                  <a:srgbClr val="000000"/>
                </a:solidFill>
                <a:latin typeface="Arial"/>
                <a:cs typeface="Arial"/>
              </a:rPr>
              <a:t>Σ Δ</a:t>
            </a:r>
            <a:r>
              <a:rPr lang="id-ID" sz="1150">
                <a:solidFill>
                  <a:srgbClr val="000000"/>
                </a:solidFill>
                <a:latin typeface="Arial"/>
                <a:cs typeface="Arial"/>
              </a:rPr>
              <a:t>Harga properti(t−k), dihitung di luar regresi: NPL dikurangi komponen ini sebelum diestimasi. i = bank, t = kuartal.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1815970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NPL: hasil regresi lengkap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511543869"/>
              </p:ext>
            </p:extLst>
          </p:nvPr>
        </p:nvGraphicFramePr>
        <p:xfrm>
          <a:off x="558800" y="1270000"/>
          <a:ext cx="6197600" cy="3733800"/>
        </p:xfrm>
        <a:graphic>
          <a:graphicData uri="http://schemas.openxmlformats.org/drawingml/2006/table">
            <a:tbl>
              <a:tblPr firstRow="1"/>
              <a:tblGrid>
                <a:gridCol w="1397000">
                  <a:extLst>
                    <a:ext uri="{9D8B030D-6E8A-4147-A177-3AD203B41FA5}">
                      <a16:colId xmlns:a16="http://schemas.microsoft.com/office/drawing/2014/main" val="20000"/>
                    </a:ext>
                  </a:extLst>
                </a:gridCol>
                <a:gridCol w="812800">
                  <a:extLst>
                    <a:ext uri="{9D8B030D-6E8A-4147-A177-3AD203B41FA5}">
                      <a16:colId xmlns:a16="http://schemas.microsoft.com/office/drawing/2014/main" val="20001"/>
                    </a:ext>
                  </a:extLst>
                </a:gridCol>
                <a:gridCol w="736600">
                  <a:extLst>
                    <a:ext uri="{9D8B030D-6E8A-4147-A177-3AD203B41FA5}">
                      <a16:colId xmlns:a16="http://schemas.microsoft.com/office/drawing/2014/main" val="20002"/>
                    </a:ext>
                  </a:extLst>
                </a:gridCol>
                <a:gridCol w="736600">
                  <a:extLst>
                    <a:ext uri="{9D8B030D-6E8A-4147-A177-3AD203B41FA5}">
                      <a16:colId xmlns:a16="http://schemas.microsoft.com/office/drawing/2014/main" val="20003"/>
                    </a:ext>
                  </a:extLst>
                </a:gridCol>
                <a:gridCol w="736600">
                  <a:extLst>
                    <a:ext uri="{9D8B030D-6E8A-4147-A177-3AD203B41FA5}">
                      <a16:colId xmlns:a16="http://schemas.microsoft.com/office/drawing/2014/main" val="2633813107"/>
                    </a:ext>
                  </a:extLst>
                </a:gridCol>
                <a:gridCol w="1778000">
                  <a:extLst>
                    <a:ext uri="{9D8B030D-6E8A-4147-A177-3AD203B41FA5}">
                      <a16:colId xmlns:a16="http://schemas.microsoft.com/office/drawing/2014/main" val="40383842"/>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NPL t−1</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0,674</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13,90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[0,577; 0,772]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0,837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[−0,031; 0,038]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[−0,163; 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0,252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[−0,015; 0,054]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GDP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0,584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[−0,029; 0,050]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[−0,119; 0,358]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[−0,495; 0,228]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8820328"/>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[−0,283; 0,319]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1051532"/>
                  </a:ext>
                </a:extLst>
              </a:tr>
              <a:tr h="342900">
                <a:tc>
                  <a:txBody>
                    <a:bodyPr/>
                    <a:lstStyle/>
                    <a:p>
                      <a:pPr marL="0" indent="0" algn="l">
                        <a:lnSpc>
                          <a:spcPct val="100000"/>
                        </a:lnSpc>
                        <a:spcBef>
                          <a:spcPts val="0"/>
                        </a:spcBef>
                        <a:buNone/>
                      </a:pPr>
                      <a:r>
                        <a:rPr lang="id-ID" sz="1100" b="1">
                          <a:solidFill>
                            <a:srgbClr val="000000"/>
                          </a:solidFill>
                          <a:latin typeface="Arial"/>
                          <a:cs typeface="Arial"/>
                        </a:rPr>
                        <a:t>BI rate t−4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0,069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0,896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[−0,129; 0,147]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22681944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1,138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0,201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[0,732; 1,543]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638742109"/>
                  </a:ext>
                </a:extLst>
              </a:tr>
            </a:tbl>
          </a:graphicData>
        </a:graphic>
      </p:graphicFrame>
      <p:sp>
        <p:nvSpPr>
          <p:cNvPr id="201" name="Text 202"/>
          <p:cNvSpPr txBox="1"/>
          <p:nvPr/>
        </p:nvSpPr>
        <p:spPr>
          <a:xfrm>
            <a:off x="558800" y="51308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Metode: regresi panel fixed effects; standar error clustered per bank. Yang signifikan hanya persistensi NPL. Koefisien GDP dan BI rate tidak signifikan, baik satu per satu maupun bersama-sama: arah GDP (total −0,04) sesuai teori, tetapi besarnya tidak presisi. SE = standar error; IK = interval kepercayaan.</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14FD6BD0-D141-93CB-7F05-B92DE9D8FF81}"/>
              </a:ext>
            </a:extLst>
          </p:cNvPr>
          <p:cNvGraphicFramePr>
            <a:graphicFrameLocks noGrp="1"/>
          </p:cNvGraphicFramePr>
          <p:nvPr>
            <p:extLst>
              <p:ext uri="{D42A27DB-BD31-4B8C-83A1-F6EECF244321}">
                <p14:modId xmlns:p14="http://schemas.microsoft.com/office/powerpoint/2010/main" val="1850042964"/>
              </p:ext>
            </p:extLst>
          </p:nvPr>
        </p:nvGraphicFramePr>
        <p:xfrm>
          <a:off x="7010400" y="1270000"/>
          <a:ext cx="3759200" cy="37338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18542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1.619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2016Q3–2026Q2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Obs. per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17–40 (rata-rata 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between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0,996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937163952"/>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F (semua koef.)</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55,0 (p &lt;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34086940"/>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GDP</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p = 0,60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62576947"/>
                  </a:ext>
                </a:extLst>
              </a:tr>
              <a:tr h="342900">
                <a:tc>
                  <a:txBody>
                    <a:bodyPr/>
                    <a:lstStyle/>
                    <a:p>
                      <a:pPr marL="0" indent="0" algn="l">
                        <a:lnSpc>
                          <a:spcPct val="100000"/>
                        </a:lnSpc>
                        <a:spcBef>
                          <a:spcPts val="0"/>
                        </a:spcBef>
                        <a:buNone/>
                      </a:pPr>
                      <a:r>
                        <a:rPr lang="id-ID" sz="1100" b="1">
                          <a:solidFill>
                            <a:srgbClr val="000000"/>
                          </a:solidFill>
                          <a:latin typeface="Arial"/>
                          <a:cs typeface="Arial"/>
                        </a:rPr>
                        <a:t>Uji gabungan BI rate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 = 0,87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664017291"/>
                  </a:ext>
                </a:extLst>
              </a:tr>
            </a:tbl>
          </a:graphicData>
        </a:graphic>
      </p:graphicFrame>
    </p:spTree>
    <p:extLst>
      <p:ext uri="{BB962C8B-B14F-4D97-AF65-F5344CB8AC3E}">
        <p14:creationId xmlns:p14="http://schemas.microsoft.com/office/powerpoint/2010/main" val="370892772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Cara membaca hasil model NPL</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Persistensi 0,67: NPL berubah bertahap, tidak melompat</a:t>
            </a:r>
          </a:p>
          <a:p>
            <a:pPr marL="0" indent="0" algn="l">
              <a:lnSpc>
                <a:spcPct val="100000"/>
              </a:lnSpc>
              <a:spcBef>
                <a:spcPts val="0"/>
              </a:spcBef>
              <a:buNone/>
            </a:pPr>
            <a:r>
              <a:rPr lang="id-ID" sz="1300">
                <a:solidFill>
                  <a:srgbClr val="262626"/>
                </a:solidFill>
                <a:latin typeface="Arial"/>
                <a:cs typeface="Arial"/>
              </a:rPr>
              <a:t>67% posisi NPL kuartal lalu terbawa ke kuartal ini; separuh guncangan hilang dalam ±1,8 kuartal, dan NPL tiap bank kembali ke tingkat normalnya (fixed effect).</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GDP: arah sesuai teori, efeknya kecil</a:t>
            </a:r>
          </a:p>
          <a:p>
            <a:pPr marL="0" indent="0" algn="l">
              <a:lnSpc>
                <a:spcPct val="100000"/>
              </a:lnSpc>
              <a:spcBef>
                <a:spcPts val="0"/>
              </a:spcBef>
              <a:buNone/>
            </a:pPr>
            <a:r>
              <a:rPr lang="id-ID" sz="1300">
                <a:solidFill>
                  <a:srgbClr val="262626"/>
                </a:solidFill>
                <a:latin typeface="Arial"/>
                <a:cs typeface="Arial"/>
              </a:rPr>
              <a:t>Total koefisien −0,04 per kuartal; efek jangka panjang = −0,04 ÷ (1 − 0,67) ≈ −0,12. Artinya GDP turun 1 pp → NPL akhirnya naik ±0,12 pp.</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BI rate: praktis tidak berpengaruh ke NPL</a:t>
            </a:r>
          </a:p>
          <a:p>
            <a:pPr marL="0" indent="0" algn="l">
              <a:lnSpc>
                <a:spcPct val="100000"/>
              </a:lnSpc>
              <a:spcBef>
                <a:spcPts val="0"/>
              </a:spcBef>
              <a:buNone/>
            </a:pPr>
            <a:r>
              <a:rPr lang="id-ID" sz="1300">
                <a:solidFill>
                  <a:srgbClr val="262626"/>
                </a:solidFill>
                <a:latin typeface="Arial"/>
                <a:cs typeface="Arial"/>
              </a:rPr>
              <a:t>Total +0,01 (jangka panjang +0,04 per 1 pp), tidak signifikan. Dampak suku bunga ke bank lebih banyak lewat pendapatan bunga dan harga surat berharga.</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Mengapa efek makro terlihat kecil</a:t>
            </a:r>
          </a:p>
          <a:p>
            <a:pPr marL="0" indent="0" algn="l">
              <a:lnSpc>
                <a:spcPct val="100000"/>
              </a:lnSpc>
              <a:spcBef>
                <a:spcPts val="0"/>
              </a:spcBef>
              <a:buNone/>
            </a:pPr>
            <a:r>
              <a:rPr lang="id-ID" sz="1300">
                <a:solidFill>
                  <a:srgbClr val="262626"/>
                </a:solidFill>
                <a:latin typeface="Arial"/>
                <a:cs typeface="Arial"/>
              </a:rPr>
              <a:t>Periode estimasi didominasi pertumbuhan stabil ±5%, dan restrukturisasi kredit era COVID (POJK 11/2020) menahan NPL saat GDP jatuh, sehingga sensitivitasnya tampak rendah.</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sv-SE" sz="1300" b="1">
                <a:solidFill>
                  <a:srgbClr val="000000"/>
                </a:solidFill>
                <a:latin typeface="Arial"/>
                <a:cs typeface="Arial"/>
              </a:rPr>
              <a:t>Implikasi:</a:t>
            </a:r>
            <a:r>
              <a:rPr lang="sv-SE" sz="1300">
                <a:solidFill>
                  <a:srgbClr val="000000"/>
                </a:solidFill>
                <a:latin typeface="Arial"/>
                <a:cs typeface="Arial"/>
              </a:rPr>
              <a:t> model NPL saja hampir tidak membedakan skenario. Karena itu ditambahkan komponen harga properti (judgment) di NPL dan overlay stres di provisi.</a:t>
            </a:r>
            <a:endParaRPr lang="id-ID" sz="1300" dirty="0">
              <a:solidFill>
                <a:srgbClr val="000000"/>
              </a:solidFill>
              <a:latin typeface="Arial"/>
              <a:cs typeface="Arial"/>
            </a:endParaRPr>
          </a:p>
        </p:txBody>
      </p:sp>
    </p:spTree>
    <p:extLst>
      <p:ext uri="{BB962C8B-B14F-4D97-AF65-F5344CB8AC3E}">
        <p14:creationId xmlns:p14="http://schemas.microsoft.com/office/powerpoint/2010/main" val="170498700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Komponen harga properti diambil dari Prospera karena tidak bisa diestimasi</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259683759"/>
              </p:ext>
            </p:extLst>
          </p:nvPr>
        </p:nvGraphicFramePr>
        <p:xfrm>
          <a:off x="558800" y="1270000"/>
          <a:ext cx="11074400" cy="2560320"/>
        </p:xfrm>
        <a:graphic>
          <a:graphicData uri="http://schemas.openxmlformats.org/drawingml/2006/table">
            <a:tbl>
              <a:tblPr firstRow="1"/>
              <a:tblGrid>
                <a:gridCol w="2413000">
                  <a:extLst>
                    <a:ext uri="{9D8B030D-6E8A-4147-A177-3AD203B41FA5}">
                      <a16:colId xmlns:a16="http://schemas.microsoft.com/office/drawing/2014/main" val="20000"/>
                    </a:ext>
                  </a:extLst>
                </a:gridCol>
                <a:gridCol w="8661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Masalah data</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Indeks harga properti tidak pernah turun dalam sampel (pertumbuhan +0,04% s.d. +1,39% per kuartal), padahal skenario Adverse 2 −2,5% per kuartal</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Hasil estimasi sendiri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Koefisien bertanda salah (total +0,18): harga properti turun justru membuat NPL turun. Tidak dipakai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Pendekatan yang dipakai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Elastisitas total −0,429 dari model NPL Prospera (data 2014–2024Q2), dibagi rata ke lag 1–4; di model Prospera sendiri jumlah ini tidak signifikan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Cara masuk ke model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Komponen statis di atas inti model NPL, sehingga tidak dilipatgandakan oleh persistensi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Contoh</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Harga properti turun 2,5% per kuartal selama 4 kuartal → NPL lebih tinggi ±1,1 pp dibanding harga tidak berubah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Status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ditampilkan sebagai asumsi (e_prop = −0,429) dan bisa dimatikan untuk melihat hasil model murni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13949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dirty="0"/>
              <a:t>Model NPL mengikuti pola historis, </a:t>
            </a:r>
            <a:r>
              <a:rPr lang="en-US" sz="2000" dirty="0" err="1"/>
              <a:t>walaupun</a:t>
            </a:r>
            <a:r>
              <a:rPr lang="en-US" sz="2000" dirty="0"/>
              <a:t> </a:t>
            </a:r>
            <a:r>
              <a:rPr lang="en-US" sz="2000" dirty="0" err="1"/>
              <a:t>memiliki</a:t>
            </a:r>
            <a:r>
              <a:rPr lang="en-US" sz="2000" dirty="0"/>
              <a:t> </a:t>
            </a:r>
            <a:r>
              <a:rPr lang="en-US" sz="2000" dirty="0" err="1"/>
              <a:t>kecenderungan</a:t>
            </a:r>
            <a:r>
              <a:rPr lang="en-US" sz="2000" dirty="0"/>
              <a:t> </a:t>
            </a:r>
            <a:r>
              <a:rPr lang="en-US" sz="2000" dirty="0" err="1"/>
              <a:t>lebih</a:t>
            </a:r>
            <a:r>
              <a:rPr lang="en-US" sz="2000" dirty="0"/>
              <a:t> Tinggi</a:t>
            </a:r>
            <a:endParaRPr lang="id-ID" sz="2000" dirty="0"/>
          </a:p>
        </p:txBody>
      </p:sp>
      <p:pic>
        <p:nvPicPr>
          <p:cNvPr id="4" name="Picture 3">
            <a:extLst>
              <a:ext uri="{FF2B5EF4-FFF2-40B4-BE49-F238E27FC236}">
                <a16:creationId xmlns:a16="http://schemas.microsoft.com/office/drawing/2014/main" id="{AA2C4304-278C-47A5-BD7E-CB04FD15EEB9}"/>
              </a:ext>
            </a:extLst>
          </p:cNvPr>
          <p:cNvPicPr>
            <a:picLocks noChangeAspect="1"/>
          </p:cNvPicPr>
          <p:nvPr/>
        </p:nvPicPr>
        <p:blipFill>
          <a:blip r:embed="rId3"/>
          <a:stretch>
            <a:fillRect/>
          </a:stretch>
        </p:blipFill>
        <p:spPr>
          <a:xfrm>
            <a:off x="558800" y="1270000"/>
            <a:ext cx="5384800" cy="3230880"/>
          </a:xfrm>
          <a:prstGeom prst="rect">
            <a:avLst/>
          </a:prstGeom>
        </p:spPr>
      </p:pic>
      <p:pic>
        <p:nvPicPr>
          <p:cNvPr id="6" name="Picture 5">
            <a:extLst>
              <a:ext uri="{FF2B5EF4-FFF2-40B4-BE49-F238E27FC236}">
                <a16:creationId xmlns:a16="http://schemas.microsoft.com/office/drawing/2014/main" id="{0302A70C-2DD6-40D9-7CDE-2483C2921774}"/>
              </a:ext>
            </a:extLst>
          </p:cNvPr>
          <p:cNvPicPr>
            <a:picLocks noChangeAspect="1"/>
          </p:cNvPicPr>
          <p:nvPr/>
        </p:nvPicPr>
        <p:blipFill>
          <a:blip r:embed="rId4"/>
          <a:stretch>
            <a:fillRect/>
          </a:stretch>
        </p:blipFill>
        <p:spPr>
          <a:xfrm>
            <a:off x="6248400" y="1270000"/>
            <a:ext cx="5384800" cy="3230880"/>
          </a:xfrm>
          <a:prstGeom prst="rect">
            <a:avLst/>
          </a:prstGeom>
        </p:spPr>
      </p:pic>
      <p:sp>
        <p:nvSpPr>
          <p:cNvPr id="7" name="TextBox 6">
            <a:extLst>
              <a:ext uri="{FF2B5EF4-FFF2-40B4-BE49-F238E27FC236}">
                <a16:creationId xmlns:a16="http://schemas.microsoft.com/office/drawing/2014/main" id="{34CA0FBD-6DC1-DA14-408E-1F9C3E5CC4DF}"/>
              </a:ext>
            </a:extLst>
          </p:cNvPr>
          <p:cNvSpPr txBox="1"/>
          <p:nvPr/>
        </p:nvSpPr>
        <p:spPr>
          <a:xfrm>
            <a:off x="5588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Kiri: fitted vs aktual (in-sample, tertimbang kredit)</a:t>
            </a:r>
          </a:p>
        </p:txBody>
      </p:sp>
      <p:sp>
        <p:nvSpPr>
          <p:cNvPr id="8" name="TextBox 7">
            <a:extLst>
              <a:ext uri="{FF2B5EF4-FFF2-40B4-BE49-F238E27FC236}">
                <a16:creationId xmlns:a16="http://schemas.microsoft.com/office/drawing/2014/main" id="{CB90CDE5-E515-84C0-4520-DEB954398742}"/>
              </a:ext>
            </a:extLst>
          </p:cNvPr>
          <p:cNvSpPr txBox="1"/>
          <p:nvPr/>
        </p:nvSpPr>
        <p:spPr>
          <a:xfrm>
            <a:off x="6248400" y="4572000"/>
            <a:ext cx="5384800" cy="261610"/>
          </a:xfrm>
          <a:prstGeom prst="rect">
            <a:avLst/>
          </a:prstGeom>
          <a:noFill/>
        </p:spPr>
        <p:txBody>
          <a:bodyPr vert="horz" wrap="square" rtlCol="0">
            <a:spAutoFit/>
          </a:bodyPr>
          <a:lstStyle/>
          <a:p>
            <a:r>
              <a:rPr lang="en-ID" sz="1100">
                <a:solidFill>
                  <a:srgbClr val="262626"/>
                </a:solidFill>
                <a:latin typeface="Arial" panose="020B0604020202020204" pitchFamily="34" charset="0"/>
              </a:rPr>
              <a:t>Kanan: estimasi s.d. 2024Q2, forecast 8 kuartal dengan makro aktual</a:t>
            </a:r>
          </a:p>
        </p:txBody>
      </p:sp>
      <p:sp>
        <p:nvSpPr>
          <p:cNvPr id="9" name="TextBox 8">
            <a:extLst>
              <a:ext uri="{FF2B5EF4-FFF2-40B4-BE49-F238E27FC236}">
                <a16:creationId xmlns:a16="http://schemas.microsoft.com/office/drawing/2014/main" id="{6FE4A533-07FE-F5A4-0796-807A99D6228C}"/>
              </a:ext>
            </a:extLst>
          </p:cNvPr>
          <p:cNvSpPr txBox="1"/>
          <p:nvPr/>
        </p:nvSpPr>
        <p:spPr>
          <a:xfrm>
            <a:off x="558800" y="5080000"/>
            <a:ext cx="11074400" cy="461665"/>
          </a:xfrm>
          <a:prstGeom prst="rect">
            <a:avLst/>
          </a:prstGeom>
          <a:noFill/>
        </p:spPr>
        <p:txBody>
          <a:bodyPr vert="horz" wrap="square" rtlCol="0">
            <a:spAutoFit/>
          </a:bodyPr>
          <a:lstStyle/>
          <a:p>
            <a:r>
              <a:rPr lang="en-ID" sz="1200">
                <a:solidFill>
                  <a:srgbClr val="262626"/>
                </a:solidFill>
                <a:latin typeface="Arial" panose="020B0604020202020204" pitchFamily="34" charset="0"/>
              </a:rPr>
              <a:t>Back-test: rata-rata selisih 0,29 pp (maks. 0,40 pp). Model memprediksi NPL ±2,45%, aktual ±2,1%, karena tiap bank ditarik ke rata-rata jangka panjangnya. Sebagian kenaikan NPL di proyeksi (±0,15 pp di baseline) berasal dari efek ini.</a:t>
            </a:r>
          </a:p>
        </p:txBody>
      </p:sp>
    </p:spTree>
    <p:extLst>
      <p:ext uri="{BB962C8B-B14F-4D97-AF65-F5344CB8AC3E}">
        <p14:creationId xmlns:p14="http://schemas.microsoft.com/office/powerpoint/2010/main" val="183027273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Model provisi: provisi naik ±0,31% kredit untuk setiap kenaikan NPL 1 pp</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677391114"/>
              </p:ext>
            </p:extLst>
          </p:nvPr>
        </p:nvGraphicFramePr>
        <p:xfrm>
          <a:off x="558800" y="1270000"/>
          <a:ext cx="6197600" cy="1676400"/>
        </p:xfrm>
        <a:graphic>
          <a:graphicData uri="http://schemas.openxmlformats.org/drawingml/2006/table">
            <a:tbl>
              <a:tblPr firstRow="1"/>
              <a:tblGrid>
                <a:gridCol w="1778000">
                  <a:extLst>
                    <a:ext uri="{9D8B030D-6E8A-4147-A177-3AD203B41FA5}">
                      <a16:colId xmlns:a16="http://schemas.microsoft.com/office/drawing/2014/main" val="20000"/>
                    </a:ext>
                  </a:extLst>
                </a:gridCol>
                <a:gridCol w="762000">
                  <a:extLst>
                    <a:ext uri="{9D8B030D-6E8A-4147-A177-3AD203B41FA5}">
                      <a16:colId xmlns:a16="http://schemas.microsoft.com/office/drawing/2014/main" val="20001"/>
                    </a:ext>
                  </a:extLst>
                </a:gridCol>
                <a:gridCol w="711200">
                  <a:extLst>
                    <a:ext uri="{9D8B030D-6E8A-4147-A177-3AD203B41FA5}">
                      <a16:colId xmlns:a16="http://schemas.microsoft.com/office/drawing/2014/main" val="20002"/>
                    </a:ext>
                  </a:extLst>
                </a:gridCol>
                <a:gridCol w="660400">
                  <a:extLst>
                    <a:ext uri="{9D8B030D-6E8A-4147-A177-3AD203B41FA5}">
                      <a16:colId xmlns:a16="http://schemas.microsoft.com/office/drawing/2014/main" val="20003"/>
                    </a:ext>
                  </a:extLst>
                </a:gridCol>
                <a:gridCol w="711200">
                  <a:extLst>
                    <a:ext uri="{9D8B030D-6E8A-4147-A177-3AD203B41FA5}">
                      <a16:colId xmlns:a16="http://schemas.microsoft.com/office/drawing/2014/main" val="775353662"/>
                    </a:ext>
                  </a:extLst>
                </a:gridCol>
                <a:gridCol w="1574800">
                  <a:extLst>
                    <a:ext uri="{9D8B030D-6E8A-4147-A177-3AD203B41FA5}">
                      <a16:colId xmlns:a16="http://schemas.microsoft.com/office/drawing/2014/main" val="209842802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t</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IK 95%</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1,72</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0,093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[−0,033; 0,411]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Kenaikan NPL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0,117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0,124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[−0,133; 0,368]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Total (t + 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0,306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0,042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[0,012; 0,600]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0,189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5,64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[0,121; 0,256]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41021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Provisi(i,t) = </a:t>
            </a:r>
            <a:r>
              <a:rPr lang="el-GR" sz="1150">
                <a:solidFill>
                  <a:srgbClr val="000000"/>
                </a:solidFill>
                <a:latin typeface="Arial"/>
                <a:cs typeface="Arial"/>
              </a:rPr>
              <a:t>α(</a:t>
            </a:r>
            <a:r>
              <a:rPr lang="id-ID" sz="1150">
                <a:solidFill>
                  <a:srgbClr val="000000"/>
                </a:solidFill>
                <a:latin typeface="Arial"/>
                <a:cs typeface="Arial"/>
              </a:rPr>
              <a:t>i) + 0,19·</a:t>
            </a:r>
            <a:r>
              <a:rPr lang="el-GR" sz="1150">
                <a:solidFill>
                  <a:srgbClr val="000000"/>
                </a:solidFill>
                <a:latin typeface="Arial"/>
                <a:cs typeface="Arial"/>
              </a:rPr>
              <a:t>Δ</a:t>
            </a:r>
            <a:r>
              <a:rPr lang="id-ID" sz="1150">
                <a:solidFill>
                  <a:srgbClr val="000000"/>
                </a:solidFill>
                <a:latin typeface="Arial"/>
                <a:cs typeface="Arial"/>
              </a:rPr>
              <a:t>NPL⁺(i,t) + 0,12·</a:t>
            </a:r>
            <a:r>
              <a:rPr lang="el-GR" sz="1150">
                <a:solidFill>
                  <a:srgbClr val="000000"/>
                </a:solidFill>
                <a:latin typeface="Arial"/>
                <a:cs typeface="Arial"/>
              </a:rPr>
              <a:t>Δ</a:t>
            </a:r>
            <a:r>
              <a:rPr lang="id-ID" sz="1150">
                <a:solidFill>
                  <a:srgbClr val="000000"/>
                </a:solidFill>
                <a:latin typeface="Arial"/>
                <a:cs typeface="Arial"/>
              </a:rPr>
              <a:t>NPL⁺(i,t−1). </a:t>
            </a:r>
            <a:r>
              <a:rPr lang="el-GR" sz="1150">
                <a:solidFill>
                  <a:srgbClr val="000000"/>
                </a:solidFill>
                <a:latin typeface="Arial"/>
                <a:cs typeface="Arial"/>
              </a:rPr>
              <a:t>Δ</a:t>
            </a:r>
            <a:r>
              <a:rPr lang="id-ID" sz="1150">
                <a:solidFill>
                  <a:srgbClr val="000000"/>
                </a:solidFill>
                <a:latin typeface="Arial"/>
                <a:cs typeface="Arial"/>
              </a:rPr>
              <a:t>NPL⁺ = kenaikan NPL (penurunan dihitung nol); lonjakan ≥ 5 pp (kesalahan data) dikeluarkan. Respons total signifikan pada 5%. R² sangat rendah karena provisi bank naik-turun tajam antarkuartal, sehingga model ini hanya dipakai untuk respons; level provisi memakai rata-rata 8 kuartal terakhir tiap bank.</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3290791398"/>
              </p:ext>
            </p:extLst>
          </p:nvPr>
        </p:nvGraphicFramePr>
        <p:xfrm>
          <a:off x="7010400" y="1270000"/>
          <a:ext cx="3606800" cy="27051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9558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Statistik</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Nilai</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Dependen</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Provisi ÷ kredit (%/kuartal)</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Observasi</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1.420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Jumlah bank</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46</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Periode</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2016Q4–2026Q2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within</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R² overall</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Standar error</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Clustered per bank</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12461330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Overlay stres: dasar kalibrasi dan seberapa besar pengaruhnya ke hasil</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919697629"/>
              </p:ext>
            </p:extLst>
          </p:nvPr>
        </p:nvGraphicFramePr>
        <p:xfrm>
          <a:off x="558800" y="1270000"/>
          <a:ext cx="11074400" cy="2903220"/>
        </p:xfrm>
        <a:graphic>
          <a:graphicData uri="http://schemas.openxmlformats.org/drawingml/2006/table">
            <a:tbl>
              <a:tblPr firstRow="1"/>
              <a:tblGrid>
                <a:gridCol w="2921000">
                  <a:extLst>
                    <a:ext uri="{9D8B030D-6E8A-4147-A177-3AD203B41FA5}">
                      <a16:colId xmlns:a16="http://schemas.microsoft.com/office/drawing/2014/main" val="20000"/>
                    </a:ext>
                  </a:extLst>
                </a:gridCol>
                <a:gridCol w="8153400">
                  <a:extLst>
                    <a:ext uri="{9D8B030D-6E8A-4147-A177-3AD203B41FA5}">
                      <a16:colId xmlns:a16="http://schemas.microsoft.com/office/drawing/2014/main" val="20001"/>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Keterangan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Mengapa perlu overlay</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Model provisi hanya bereaksi terhadap kenaikan NPL yang kecil; tanpa overlay, credit loss Adverse 2 hampir sama dengan baseline</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Nilai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k = 0,03 per pp gap GDP per % NPL, per kuartal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Kalibrasi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Dipilih supaya credit loss Adverse 2 (10,3% modal) setara puncak provisi 4 kuartal di data kita (2021Q1, 10,5% modal)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Bukti dari data</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Regresi provisi industri terhadap gap GDP × NPL (lag 0–3): k ≈ 0,020, IK 95% 0,010–0,030; episode COVID: 0,012–0,02 (rincian di slide berikut)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t-IT" sz="1200" b="1">
                          <a:solidFill>
                            <a:srgbClr val="000000"/>
                          </a:solidFill>
                          <a:latin typeface="Arial"/>
                          <a:cs typeface="Arial"/>
                        </a:rPr>
                        <a:t>Mengapa sedikit di atas 0,02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0,03 = batas atas IK 95% estimasi data. Restrukturisasi COVID (POJK 11/2020) menahan pencadangan saat itu, sehingga estimasi data kemungkinan terlalu rendah</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Kontribusi ke hasil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46% credit loss Adverse 2 (4,7 dari 10,3% modal) dan 29% credit loss Adverse 1 (2,0 dari 7,1%)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en-US" sz="1200" b="1">
                          <a:solidFill>
                            <a:srgbClr val="000000"/>
                          </a:solidFill>
                          <a:latin typeface="Arial"/>
                          <a:cs typeface="Arial"/>
                        </a:rPr>
                        <a:t>Sensitivitas credit loss Adverse 2</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k = 0 → ±5,6% modal; k = 0,02 → ±8,7%; k = 0,03 → 10,3%; k = 0,05 → ±13,5%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70122257"/>
                  </a:ext>
                </a:extLst>
              </a:tr>
            </a:tbl>
          </a:graphicData>
        </a:graphic>
      </p:graphicFrame>
    </p:spTree>
    <p:extLst>
      <p:ext uri="{BB962C8B-B14F-4D97-AF65-F5344CB8AC3E}">
        <p14:creationId xmlns:p14="http://schemas.microsoft.com/office/powerpoint/2010/main" val="425469269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t-IT" sz="2000"/>
              <a:t>Estimasi k dari data (cara B): regresi provisi industri memberi k ≈ 0,02</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10029344"/>
              </p:ext>
            </p:extLst>
          </p:nvPr>
        </p:nvGraphicFramePr>
        <p:xfrm>
          <a:off x="558800" y="1270000"/>
          <a:ext cx="6197600" cy="1676400"/>
        </p:xfrm>
        <a:graphic>
          <a:graphicData uri="http://schemas.openxmlformats.org/drawingml/2006/table">
            <a:tbl>
              <a:tblPr firstRow="1"/>
              <a:tblGrid>
                <a:gridCol w="1905000">
                  <a:extLst>
                    <a:ext uri="{9D8B030D-6E8A-4147-A177-3AD203B41FA5}">
                      <a16:colId xmlns:a16="http://schemas.microsoft.com/office/drawing/2014/main" val="20000"/>
                    </a:ext>
                  </a:extLst>
                </a:gridCol>
                <a:gridCol w="889000">
                  <a:extLst>
                    <a:ext uri="{9D8B030D-6E8A-4147-A177-3AD203B41FA5}">
                      <a16:colId xmlns:a16="http://schemas.microsoft.com/office/drawing/2014/main" val="20001"/>
                    </a:ext>
                  </a:extLst>
                </a:gridCol>
                <a:gridCol w="889000">
                  <a:extLst>
                    <a:ext uri="{9D8B030D-6E8A-4147-A177-3AD203B41FA5}">
                      <a16:colId xmlns:a16="http://schemas.microsoft.com/office/drawing/2014/main" val="20002"/>
                    </a:ext>
                  </a:extLst>
                </a:gridCol>
                <a:gridCol w="889000">
                  <a:extLst>
                    <a:ext uri="{9D8B030D-6E8A-4147-A177-3AD203B41FA5}">
                      <a16:colId xmlns:a16="http://schemas.microsoft.com/office/drawing/2014/main" val="20003"/>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Variabel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Koef.</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SE</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el-GR" sz="1100" b="1">
                          <a:solidFill>
                            <a:srgbClr val="000000"/>
                          </a:solidFill>
                          <a:latin typeface="Arial"/>
                          <a:cs typeface="Arial"/>
                        </a:rPr>
                        <a:t>Δ</a:t>
                      </a:r>
                      <a:r>
                        <a:rPr lang="id-ID" sz="1100" b="1">
                          <a:solidFill>
                            <a:srgbClr val="000000"/>
                          </a:solidFill>
                          <a:latin typeface="Arial"/>
                          <a:cs typeface="Arial"/>
                        </a:rPr>
                        <a:t>NPL⁺(t)</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0,013</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0,145</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0,930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x(t)</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x(t−1)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0,160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x(t−2)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0,508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x(t−3)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0,0063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0,497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93306722"/>
                  </a:ext>
                </a:extLst>
              </a:tr>
              <a:tr h="342900">
                <a:tc>
                  <a:txBody>
                    <a:bodyPr/>
                    <a:lstStyle/>
                    <a:p>
                      <a:pPr marL="0" indent="0" algn="l">
                        <a:lnSpc>
                          <a:spcPct val="100000"/>
                        </a:lnSpc>
                        <a:spcBef>
                          <a:spcPts val="0"/>
                        </a:spcBef>
                        <a:buNone/>
                      </a:pPr>
                      <a:r>
                        <a:rPr lang="id-ID" sz="1100" b="1">
                          <a:solidFill>
                            <a:srgbClr val="000000"/>
                          </a:solidFill>
                          <a:latin typeface="Arial"/>
                          <a:cs typeface="Arial"/>
                        </a:rPr>
                        <a:t>Konstanta</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0,251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0,019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0,000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541982232"/>
                  </a:ext>
                </a:extLst>
              </a:tr>
              <a:tr h="342900">
                <a:tc>
                  <a:txBody>
                    <a:bodyPr/>
                    <a:lstStyle/>
                    <a:p>
                      <a:pPr marL="0" indent="0" algn="l">
                        <a:lnSpc>
                          <a:spcPct val="100000"/>
                        </a:lnSpc>
                        <a:spcBef>
                          <a:spcPts val="0"/>
                        </a:spcBef>
                        <a:buNone/>
                      </a:pPr>
                      <a:r>
                        <a:rPr lang="id-ID" sz="1100" b="1">
                          <a:solidFill>
                            <a:srgbClr val="000000"/>
                          </a:solidFill>
                          <a:latin typeface="Arial"/>
                          <a:cs typeface="Arial"/>
                        </a:rPr>
                        <a:t>k = jumlah lag 0–3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0,005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&lt; 0,001</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2733287235"/>
                  </a:ext>
                </a:extLst>
              </a:tr>
            </a:tbl>
          </a:graphicData>
        </a:graphic>
      </p:graphicFrame>
      <p:sp>
        <p:nvSpPr>
          <p:cNvPr id="201" name="Text 202"/>
          <p:cNvSpPr txBox="1"/>
          <p:nvPr/>
        </p:nvSpPr>
        <p:spPr>
          <a:xfrm>
            <a:off x="558800" y="41275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Persamaan (data industri per kuartal, tertimbang kredit, 2015–2026Q2, N = 38): Provisi(t) = a + b·</a:t>
            </a:r>
            <a:r>
              <a:rPr lang="el-GR" sz="1150">
                <a:solidFill>
                  <a:srgbClr val="000000"/>
                </a:solidFill>
                <a:latin typeface="Arial"/>
                <a:cs typeface="Arial"/>
              </a:rPr>
              <a:t>Δ</a:t>
            </a:r>
            <a:r>
              <a:rPr lang="id-ID" sz="1150">
                <a:solidFill>
                  <a:srgbClr val="000000"/>
                </a:solidFill>
                <a:latin typeface="Arial"/>
                <a:cs typeface="Arial"/>
              </a:rPr>
              <a:t>NPL⁺(t) + </a:t>
            </a:r>
            <a:r>
              <a:rPr lang="el-GR" sz="1150">
                <a:solidFill>
                  <a:srgbClr val="000000"/>
                </a:solidFill>
                <a:latin typeface="Arial"/>
                <a:cs typeface="Arial"/>
              </a:rPr>
              <a:t>Σ </a:t>
            </a:r>
            <a:r>
              <a:rPr lang="id-ID" sz="1150">
                <a:solidFill>
                  <a:srgbClr val="000000"/>
                </a:solidFill>
                <a:latin typeface="Arial"/>
                <a:cs typeface="Arial"/>
              </a:rPr>
              <a:t>k(j)·x(t−j), j = 0–3, dengan x = max(5 − GDP, 0) × NPL; 5% = pertumbuhan normal (≈ GDP baseline). k = k(0) + k(1) + k(2) + k(3) = 0,020 (IK 95% 0,010–0,030; R² 0,60; SE robust) = efek total bila gap bertahan, setara dengan overlay di model yang berlaku setiap kuartal selama gap ada. Lag dipakai karena bank membangun cadangan bertahap. Kanan: gap hanya muncul di episode COVID, jadi estimasi praktis bersumber dari episode itu. Provisi dan NPL dalam % kredit; GDP dan gap dalam pp.</a:t>
            </a:r>
            <a:endParaRPr lang="id-ID" sz="1150" dirty="0">
              <a:solidFill>
                <a:srgbClr val="000000"/>
              </a:solidFill>
              <a:latin typeface="Arial"/>
              <a:cs typeface="Arial"/>
            </a:endParaRPr>
          </a:p>
        </p:txBody>
      </p:sp>
      <p:graphicFrame>
        <p:nvGraphicFramePr>
          <p:cNvPr id="3" name="Table 201">
            <a:extLst>
              <a:ext uri="{FF2B5EF4-FFF2-40B4-BE49-F238E27FC236}">
                <a16:creationId xmlns:a16="http://schemas.microsoft.com/office/drawing/2014/main" id="{B20FC0AA-3276-CC7C-B4EE-2BEB2BF0C192}"/>
              </a:ext>
            </a:extLst>
          </p:cNvPr>
          <p:cNvGraphicFramePr>
            <a:graphicFrameLocks noGrp="1"/>
          </p:cNvGraphicFramePr>
          <p:nvPr>
            <p:extLst>
              <p:ext uri="{D42A27DB-BD31-4B8C-83A1-F6EECF244321}">
                <p14:modId xmlns:p14="http://schemas.microsoft.com/office/powerpoint/2010/main" val="2001240583"/>
              </p:ext>
            </p:extLst>
          </p:nvPr>
        </p:nvGraphicFramePr>
        <p:xfrm>
          <a:off x="5435600" y="1270000"/>
          <a:ext cx="3606800" cy="2705100"/>
        </p:xfrm>
        <a:graphic>
          <a:graphicData uri="http://schemas.openxmlformats.org/drawingml/2006/table">
            <a:tbl>
              <a:tblPr firstRow="1"/>
              <a:tblGrid>
                <a:gridCol w="1270000">
                  <a:extLst>
                    <a:ext uri="{9D8B030D-6E8A-4147-A177-3AD203B41FA5}">
                      <a16:colId xmlns:a16="http://schemas.microsoft.com/office/drawing/2014/main" val="20000"/>
                    </a:ext>
                  </a:extLst>
                </a:gridCol>
                <a:gridCol w="698500">
                  <a:extLst>
                    <a:ext uri="{9D8B030D-6E8A-4147-A177-3AD203B41FA5}">
                      <a16:colId xmlns:a16="http://schemas.microsoft.com/office/drawing/2014/main" val="20001"/>
                    </a:ext>
                  </a:extLst>
                </a:gridCol>
                <a:gridCol w="698500">
                  <a:extLst>
                    <a:ext uri="{9D8B030D-6E8A-4147-A177-3AD203B41FA5}">
                      <a16:colId xmlns:a16="http://schemas.microsoft.com/office/drawing/2014/main" val="169930172"/>
                    </a:ext>
                  </a:extLst>
                </a:gridCol>
                <a:gridCol w="698500">
                  <a:extLst>
                    <a:ext uri="{9D8B030D-6E8A-4147-A177-3AD203B41FA5}">
                      <a16:colId xmlns:a16="http://schemas.microsoft.com/office/drawing/2014/main" val="1183341615"/>
                    </a:ext>
                  </a:extLst>
                </a:gridCol>
                <a:gridCol w="1206500">
                  <a:extLst>
                    <a:ext uri="{9D8B030D-6E8A-4147-A177-3AD203B41FA5}">
                      <a16:colId xmlns:a16="http://schemas.microsoft.com/office/drawing/2014/main" val="3353195122"/>
                    </a:ext>
                  </a:extLst>
                </a:gridCol>
                <a:gridCol w="825500">
                  <a:extLst>
                    <a:ext uri="{9D8B030D-6E8A-4147-A177-3AD203B41FA5}">
                      <a16:colId xmlns:a16="http://schemas.microsoft.com/office/drawing/2014/main" val="13246161"/>
                    </a:ext>
                  </a:extLst>
                </a:gridCol>
              </a:tblGrid>
              <a:tr h="304800">
                <a:tc>
                  <a:txBody>
                    <a:bodyPr/>
                    <a:lstStyle/>
                    <a:p>
                      <a:pPr marL="0" indent="0" algn="l">
                        <a:lnSpc>
                          <a:spcPct val="100000"/>
                        </a:lnSpc>
                        <a:spcBef>
                          <a:spcPts val="0"/>
                        </a:spcBef>
                        <a:buNone/>
                      </a:pPr>
                      <a:r>
                        <a:rPr lang="id-ID" sz="1100" b="1">
                          <a:solidFill>
                            <a:srgbClr val="000000"/>
                          </a:solidFill>
                          <a:latin typeface="Arial"/>
                          <a:cs typeface="Arial"/>
                        </a:rPr>
                        <a:t>Kuartal</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GDP</a:t>
                      </a:r>
                      <a:endParaRPr lang="id-ID" sz="11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100" b="1">
                          <a:solidFill>
                            <a:srgbClr val="000000"/>
                          </a:solidFill>
                          <a:latin typeface="Arial"/>
                          <a:cs typeface="Arial"/>
                        </a:rPr>
                        <a:t>Gap</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x = gap × NPL</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r">
                        <a:lnSpc>
                          <a:spcPct val="100000"/>
                        </a:lnSpc>
                        <a:spcBef>
                          <a:spcPts val="0"/>
                        </a:spcBef>
                        <a:buNone/>
                      </a:pPr>
                      <a:r>
                        <a:rPr lang="id-ID" sz="1100" b="1">
                          <a:solidFill>
                            <a:srgbClr val="000000"/>
                          </a:solidFill>
                          <a:latin typeface="Arial"/>
                          <a:cs typeface="Arial"/>
                        </a:rPr>
                        <a:t>Provisi</a:t>
                      </a:r>
                      <a:endParaRPr lang="id-ID" sz="11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100" b="1">
                          <a:solidFill>
                            <a:srgbClr val="000000"/>
                          </a:solidFill>
                          <a:latin typeface="Arial"/>
                          <a:cs typeface="Arial"/>
                        </a:rPr>
                        <a:t>2019 (rata-rata)</a:t>
                      </a:r>
                      <a:endParaRPr lang="id-ID" sz="11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2,11</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0,0</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0,28</a:t>
                      </a:r>
                      <a:endParaRPr lang="id-ID" sz="11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2,43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4,9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0,30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2020Q2</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10,3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8,5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2,77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0,54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100" b="1">
                          <a:solidFill>
                            <a:srgbClr val="000000"/>
                          </a:solidFill>
                          <a:latin typeface="Arial"/>
                          <a:cs typeface="Arial"/>
                        </a:rPr>
                        <a:t>2020Q4</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−2,2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7,2</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2,55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18,3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0,73</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2021Q1</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5,7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2,80</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15,9</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r">
                        <a:lnSpc>
                          <a:spcPct val="100000"/>
                        </a:lnSpc>
                        <a:spcBef>
                          <a:spcPts val="0"/>
                        </a:spcBef>
                        <a:buNone/>
                      </a:pPr>
                      <a:r>
                        <a:rPr lang="id-ID" sz="1100" b="0">
                          <a:solidFill>
                            <a:srgbClr val="000000"/>
                          </a:solidFill>
                          <a:latin typeface="Arial"/>
                          <a:cs typeface="Arial"/>
                        </a:rPr>
                        <a:t>0,48</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100" b="1">
                          <a:solidFill>
                            <a:srgbClr val="000000"/>
                          </a:solidFill>
                          <a:latin typeface="Arial"/>
                          <a:cs typeface="Arial"/>
                        </a:rPr>
                        <a:t>2021Q3</a:t>
                      </a:r>
                      <a:endParaRPr lang="id-ID" sz="11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1,5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3,04</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4,5</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100" b="0">
                          <a:solidFill>
                            <a:srgbClr val="000000"/>
                          </a:solidFill>
                          <a:latin typeface="Arial"/>
                          <a:cs typeface="Arial"/>
                        </a:rPr>
                        <a:t>0,47</a:t>
                      </a:r>
                      <a:endParaRPr lang="id-ID" sz="11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3188590107"/>
                  </a:ext>
                </a:extLst>
              </a:tr>
            </a:tbl>
          </a:graphicData>
        </a:graphic>
      </p:graphicFrame>
    </p:spTree>
    <p:extLst>
      <p:ext uri="{BB962C8B-B14F-4D97-AF65-F5344CB8AC3E}">
        <p14:creationId xmlns:p14="http://schemas.microsoft.com/office/powerpoint/2010/main" val="2646368511"/>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97C3AE-9C2B-F42A-3990-41BC02B5C948}"/>
              </a:ext>
            </a:extLst>
          </p:cNvPr>
          <p:cNvSpPr>
            <a:spLocks noGrp="1"/>
          </p:cNvSpPr>
          <p:nvPr>
            <p:ph type="title"/>
          </p:nvPr>
        </p:nvSpPr>
        <p:spPr/>
        <p:txBody>
          <a:bodyPr/>
          <a:lstStyle/>
          <a:p>
            <a:r>
              <a:rPr lang="id-ID" sz="2000"/>
              <a:t>Mengapa koefisien yang tidak signifikan tetap dipakai</a:t>
            </a:r>
            <a:endParaRPr lang="id-ID" sz="2000" dirty="0"/>
          </a:p>
        </p:txBody>
      </p:sp>
      <p:cxnSp>
        <p:nvCxnSpPr>
          <p:cNvPr id="200" name="Line 201"/>
          <p:cNvCxnSpPr/>
          <p:nvPr/>
        </p:nvCxnSpPr>
        <p:spPr>
          <a:xfrm>
            <a:off x="558800" y="1244600"/>
            <a:ext cx="11074400" cy="0"/>
          </a:xfrm>
          <a:prstGeom prst="line">
            <a:avLst/>
          </a:prstGeom>
          <a:ln w="9525">
            <a:solidFill>
              <a:srgbClr val="BFBFBF"/>
            </a:solidFill>
          </a:ln>
        </p:spPr>
      </p:cxnSp>
      <p:sp>
        <p:nvSpPr>
          <p:cNvPr id="201" name="Text 202"/>
          <p:cNvSpPr txBox="1"/>
          <p:nvPr/>
        </p:nvSpPr>
        <p:spPr>
          <a:xfrm>
            <a:off x="558800" y="13462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01</a:t>
            </a:r>
          </a:p>
        </p:txBody>
      </p:sp>
      <p:sp>
        <p:nvSpPr>
          <p:cNvPr id="202" name="Text 203"/>
          <p:cNvSpPr txBox="1"/>
          <p:nvPr/>
        </p:nvSpPr>
        <p:spPr>
          <a:xfrm>
            <a:off x="1371600" y="13716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Tidak signifikan ≠ tidak berpengaruh</a:t>
            </a:r>
          </a:p>
          <a:p>
            <a:pPr marL="0" indent="0" algn="l">
              <a:lnSpc>
                <a:spcPct val="100000"/>
              </a:lnSpc>
              <a:spcBef>
                <a:spcPts val="0"/>
              </a:spcBef>
              <a:buNone/>
            </a:pPr>
            <a:r>
              <a:rPr lang="id-ID" sz="1300">
                <a:solidFill>
                  <a:srgbClr val="262626"/>
                </a:solidFill>
                <a:latin typeface="Arial"/>
                <a:cs typeface="Arial"/>
              </a:rPr>
              <a:t>Artinya data tidak cukup untuk mengukur besarnya dengan presisi; arah koefisien GDP tetap sesuai teori (GDP turun → NPL naik).</a:t>
            </a:r>
            <a:endParaRPr lang="id-ID" sz="1300" dirty="0">
              <a:solidFill>
                <a:srgbClr val="262626"/>
              </a:solidFill>
              <a:latin typeface="Arial"/>
              <a:cs typeface="Arial"/>
            </a:endParaRPr>
          </a:p>
        </p:txBody>
      </p:sp>
      <p:cxnSp>
        <p:nvCxnSpPr>
          <p:cNvPr id="203" name="Line 204"/>
          <p:cNvCxnSpPr/>
          <p:nvPr/>
        </p:nvCxnSpPr>
        <p:spPr>
          <a:xfrm>
            <a:off x="558800" y="2235200"/>
            <a:ext cx="11074400" cy="0"/>
          </a:xfrm>
          <a:prstGeom prst="line">
            <a:avLst/>
          </a:prstGeom>
          <a:ln w="9525">
            <a:solidFill>
              <a:srgbClr val="BFBFBF"/>
            </a:solidFill>
          </a:ln>
        </p:spPr>
      </p:cxnSp>
      <p:sp>
        <p:nvSpPr>
          <p:cNvPr id="204" name="Text 205"/>
          <p:cNvSpPr txBox="1"/>
          <p:nvPr/>
        </p:nvSpPr>
        <p:spPr>
          <a:xfrm>
            <a:off x="558800" y="23368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02</a:t>
            </a:r>
          </a:p>
        </p:txBody>
      </p:sp>
      <p:sp>
        <p:nvSpPr>
          <p:cNvPr id="205" name="Text 206"/>
          <p:cNvSpPr txBox="1"/>
          <p:nvPr/>
        </p:nvSpPr>
        <p:spPr>
          <a:xfrm>
            <a:off x="1371600" y="23622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Data historis hampir tanpa krisis</a:t>
            </a:r>
          </a:p>
          <a:p>
            <a:pPr marL="0" indent="0" algn="l">
              <a:lnSpc>
                <a:spcPct val="100000"/>
              </a:lnSpc>
              <a:spcBef>
                <a:spcPts val="0"/>
              </a:spcBef>
              <a:buNone/>
            </a:pPr>
            <a:r>
              <a:rPr lang="id-ID" sz="1300">
                <a:solidFill>
                  <a:srgbClr val="262626"/>
                </a:solidFill>
                <a:latin typeface="Arial"/>
                <a:cs typeface="Arial"/>
              </a:rPr>
              <a:t>GDP stabil ±5%, restrukturisasi COVID menahan NPL, dan harga properti tidak pernah turun; data tidak informatif untuk skenario berat.</a:t>
            </a:r>
            <a:endParaRPr lang="id-ID" sz="1300" dirty="0">
              <a:solidFill>
                <a:srgbClr val="262626"/>
              </a:solidFill>
              <a:latin typeface="Arial"/>
              <a:cs typeface="Arial"/>
            </a:endParaRPr>
          </a:p>
        </p:txBody>
      </p:sp>
      <p:cxnSp>
        <p:nvCxnSpPr>
          <p:cNvPr id="206" name="Line 207"/>
          <p:cNvCxnSpPr/>
          <p:nvPr/>
        </p:nvCxnSpPr>
        <p:spPr>
          <a:xfrm>
            <a:off x="558800" y="3225800"/>
            <a:ext cx="11074400" cy="0"/>
          </a:xfrm>
          <a:prstGeom prst="line">
            <a:avLst/>
          </a:prstGeom>
          <a:ln w="9525">
            <a:solidFill>
              <a:srgbClr val="BFBFBF"/>
            </a:solidFill>
          </a:ln>
        </p:spPr>
      </p:cxnSp>
      <p:sp>
        <p:nvSpPr>
          <p:cNvPr id="207" name="Text 208"/>
          <p:cNvSpPr txBox="1"/>
          <p:nvPr/>
        </p:nvSpPr>
        <p:spPr>
          <a:xfrm>
            <a:off x="558800" y="33274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03</a:t>
            </a:r>
          </a:p>
        </p:txBody>
      </p:sp>
      <p:sp>
        <p:nvSpPr>
          <p:cNvPr id="208" name="Text 209"/>
          <p:cNvSpPr txBox="1"/>
          <p:nvPr/>
        </p:nvSpPr>
        <p:spPr>
          <a:xfrm>
            <a:off x="1371600" y="33528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Membuang variabel justru lebih buruk</a:t>
            </a:r>
          </a:p>
          <a:p>
            <a:pPr marL="0" indent="0" algn="l">
              <a:lnSpc>
                <a:spcPct val="100000"/>
              </a:lnSpc>
              <a:spcBef>
                <a:spcPts val="0"/>
              </a:spcBef>
              <a:buNone/>
            </a:pPr>
            <a:r>
              <a:rPr lang="id-ID" sz="1300">
                <a:solidFill>
                  <a:srgbClr val="262626"/>
                </a:solidFill>
                <a:latin typeface="Arial"/>
                <a:cs typeface="Arial"/>
              </a:rPr>
              <a:t>NPL akan kebal terhadap skenario seberat apa pun dan risiko diremehkan; regulator lazim memakai judgment bila data tidak cukup.</a:t>
            </a:r>
            <a:endParaRPr lang="id-ID" sz="1300" dirty="0">
              <a:solidFill>
                <a:srgbClr val="262626"/>
              </a:solidFill>
              <a:latin typeface="Arial"/>
              <a:cs typeface="Arial"/>
            </a:endParaRPr>
          </a:p>
        </p:txBody>
      </p:sp>
      <p:cxnSp>
        <p:nvCxnSpPr>
          <p:cNvPr id="209" name="Line 210"/>
          <p:cNvCxnSpPr/>
          <p:nvPr/>
        </p:nvCxnSpPr>
        <p:spPr>
          <a:xfrm>
            <a:off x="558800" y="4216400"/>
            <a:ext cx="11074400" cy="0"/>
          </a:xfrm>
          <a:prstGeom prst="line">
            <a:avLst/>
          </a:prstGeom>
          <a:ln w="9525">
            <a:solidFill>
              <a:srgbClr val="BFBFBF"/>
            </a:solidFill>
          </a:ln>
        </p:spPr>
      </p:cxnSp>
      <p:sp>
        <p:nvSpPr>
          <p:cNvPr id="210" name="Text 211"/>
          <p:cNvSpPr txBox="1"/>
          <p:nvPr/>
        </p:nvSpPr>
        <p:spPr>
          <a:xfrm>
            <a:off x="558800" y="4318000"/>
            <a:ext cx="711200" cy="7874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2600" b="1" dirty="0">
                <a:solidFill>
                  <a:srgbClr val="A5644E"/>
                </a:solidFill>
                <a:latin typeface="Arial"/>
                <a:cs typeface="Arial"/>
              </a:rPr>
              <a:t>04</a:t>
            </a:r>
          </a:p>
        </p:txBody>
      </p:sp>
      <p:sp>
        <p:nvSpPr>
          <p:cNvPr id="211" name="Text 212"/>
          <p:cNvSpPr txBox="1"/>
          <p:nvPr/>
        </p:nvSpPr>
        <p:spPr>
          <a:xfrm>
            <a:off x="1371600" y="4343400"/>
            <a:ext cx="10261600" cy="7620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500" b="1">
                <a:solidFill>
                  <a:srgbClr val="000000"/>
                </a:solidFill>
                <a:latin typeface="Arial"/>
                <a:cs typeface="Arial"/>
              </a:rPr>
              <a:t>Kesimpulan utama tidak bergantung padanya</a:t>
            </a:r>
          </a:p>
          <a:p>
            <a:pPr marL="0" indent="0" algn="l">
              <a:lnSpc>
                <a:spcPct val="100000"/>
              </a:lnSpc>
              <a:spcBef>
                <a:spcPts val="0"/>
              </a:spcBef>
              <a:buNone/>
            </a:pPr>
            <a:r>
              <a:rPr lang="id-ID" sz="1300">
                <a:solidFill>
                  <a:srgbClr val="262626"/>
                </a:solidFill>
                <a:latin typeface="Arial"/>
                <a:cs typeface="Arial"/>
              </a:rPr>
              <a:t>Tanpa overlay dan komponen properti, CAR industri Adverse 2 tetap sekitar 21%; BINA tetap gagal (7,9%), terutama karena kerugian surat berharga, bukan karena model NPL.</a:t>
            </a:r>
            <a:endParaRPr lang="id-ID" sz="1300" dirty="0">
              <a:solidFill>
                <a:srgbClr val="262626"/>
              </a:solidFill>
              <a:latin typeface="Arial"/>
              <a:cs typeface="Arial"/>
            </a:endParaRPr>
          </a:p>
        </p:txBody>
      </p:sp>
      <p:cxnSp>
        <p:nvCxnSpPr>
          <p:cNvPr id="212" name="Line 213"/>
          <p:cNvCxnSpPr/>
          <p:nvPr/>
        </p:nvCxnSpPr>
        <p:spPr>
          <a:xfrm>
            <a:off x="558800" y="5207000"/>
            <a:ext cx="11074400" cy="0"/>
          </a:xfrm>
          <a:prstGeom prst="line">
            <a:avLst/>
          </a:prstGeom>
          <a:ln w="9525">
            <a:solidFill>
              <a:srgbClr val="BFBFBF"/>
            </a:solidFill>
          </a:ln>
        </p:spPr>
      </p:cxnSp>
      <p:sp>
        <p:nvSpPr>
          <p:cNvPr id="213" name="Text 214"/>
          <p:cNvSpPr/>
          <p:nvPr/>
        </p:nvSpPr>
        <p:spPr>
          <a:xfrm>
            <a:off x="558800" y="5384800"/>
            <a:ext cx="11074400" cy="508000"/>
          </a:xfrm>
          <a:prstGeom prst="rect">
            <a:avLst/>
          </a:prstGeom>
          <a:solidFill>
            <a:srgbClr val="F3E9E3"/>
          </a:solidFill>
          <a:ln>
            <a:noFill/>
          </a:ln>
        </p:spPr>
        <p:txBody>
          <a:bodyPr wrap="square" lIns="152400" tIns="45720" rIns="152400" bIns="45720" anchor="ctr">
            <a:noAutofit/>
          </a:bodyPr>
          <a:lstStyle/>
          <a:p>
            <a:pPr marL="0" indent="0" algn="l">
              <a:lnSpc>
                <a:spcPct val="100000"/>
              </a:lnSpc>
              <a:spcBef>
                <a:spcPts val="0"/>
              </a:spcBef>
              <a:buNone/>
            </a:pPr>
            <a:r>
              <a:rPr lang="id-ID" sz="1300" b="1">
                <a:solidFill>
                  <a:srgbClr val="000000"/>
                </a:solidFill>
                <a:latin typeface="Arial"/>
                <a:cs typeface="Arial"/>
              </a:rPr>
              <a:t>R² model provisi yang rendah (0,01) wajar:</a:t>
            </a:r>
            <a:r>
              <a:rPr lang="id-ID" sz="1300">
                <a:solidFill>
                  <a:srgbClr val="000000"/>
                </a:solidFill>
                <a:latin typeface="Arial"/>
                <a:cs typeface="Arial"/>
              </a:rPr>
              <a:t> provisi bank sangat fluktuatif antarkuartal. Model ini hanya dipakai untuk respons terhadap kenaikan NPL; level provisi memakai rata-rata 8 kuartal terakhir tiap bank.</a:t>
            </a:r>
            <a:endParaRPr lang="id-ID" sz="1300" dirty="0">
              <a:solidFill>
                <a:srgbClr val="000000"/>
              </a:solidFill>
              <a:latin typeface="Arial"/>
              <a:cs typeface="Arial"/>
            </a:endParaRPr>
          </a:p>
        </p:txBody>
      </p:sp>
    </p:spTree>
    <p:extLst>
      <p:ext uri="{BB962C8B-B14F-4D97-AF65-F5344CB8AC3E}">
        <p14:creationId xmlns:p14="http://schemas.microsoft.com/office/powerpoint/2010/main" val="401051568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Perbandingan dengan model Prospera: keterbatasan data yang sama</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337092802"/>
              </p:ext>
            </p:extLst>
          </p:nvPr>
        </p:nvGraphicFramePr>
        <p:xfrm>
          <a:off x="558800" y="1270000"/>
          <a:ext cx="11074400" cy="3733800"/>
        </p:xfrm>
        <a:graphic>
          <a:graphicData uri="http://schemas.openxmlformats.org/drawingml/2006/table">
            <a:tbl>
              <a:tblPr firstRow="1"/>
              <a:tblGrid>
                <a:gridCol w="2540000">
                  <a:extLst>
                    <a:ext uri="{9D8B030D-6E8A-4147-A177-3AD203B41FA5}">
                      <a16:colId xmlns:a16="http://schemas.microsoft.com/office/drawing/2014/main" val="20000"/>
                    </a:ext>
                  </a:extLst>
                </a:gridCol>
                <a:gridCol w="4267200">
                  <a:extLst>
                    <a:ext uri="{9D8B030D-6E8A-4147-A177-3AD203B41FA5}">
                      <a16:colId xmlns:a16="http://schemas.microsoft.com/office/drawing/2014/main" val="20001"/>
                    </a:ext>
                  </a:extLst>
                </a:gridCol>
                <a:gridCol w="4267200">
                  <a:extLst>
                    <a:ext uri="{9D8B030D-6E8A-4147-A177-3AD203B41FA5}">
                      <a16:colId xmlns:a16="http://schemas.microsoft.com/office/drawing/2014/main" val="2000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Aspek</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kita (v3)</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Model Prospera</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Spesifikasi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Dinamis: 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n-US" sz="1200" b="0">
                          <a:solidFill>
                            <a:srgbClr val="000000"/>
                          </a:solidFill>
                          <a:latin typeface="Arial"/>
                          <a:cs typeface="Arial"/>
                        </a:rPr>
                        <a:t>Statis: GDP, BI rate, harga properti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R² within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0,48</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Uji F seluruh model NPL</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&lt; 0,001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0,09 (tidak signifikan)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Koefisien NPL yang signifikan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t-IT" sz="1200" b="0">
                          <a:solidFill>
                            <a:srgbClr val="000000"/>
                          </a:solidFill>
                          <a:latin typeface="Arial"/>
                          <a:cs typeface="Arial"/>
                        </a:rPr>
                        <a:t>Persistensi NPL (1 dari 9)</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Hanya harga properti lag 3 (1 dari 12)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4"/>
                  </a:ext>
                </a:extLst>
              </a:tr>
              <a:tr h="342900">
                <a:tc>
                  <a:txBody>
                    <a:bodyPr/>
                    <a:lstStyle/>
                    <a:p>
                      <a:pPr marL="0" indent="0" algn="l">
                        <a:lnSpc>
                          <a:spcPct val="100000"/>
                        </a:lnSpc>
                        <a:spcBef>
                          <a:spcPts val="0"/>
                        </a:spcBef>
                        <a:buNone/>
                      </a:pPr>
                      <a:r>
                        <a:rPr lang="id-ID" sz="1200" b="1">
                          <a:solidFill>
                            <a:srgbClr val="000000"/>
                          </a:solidFill>
                          <a:latin typeface="Arial"/>
                          <a:cs typeface="Arial"/>
                        </a:rPr>
                        <a:t>GDP,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0,60</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 = 0,61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10005"/>
                  </a:ext>
                </a:extLst>
              </a:tr>
              <a:tr h="342900">
                <a:tc>
                  <a:txBody>
                    <a:bodyPr/>
                    <a:lstStyle/>
                    <a:p>
                      <a:pPr marL="0" indent="0" algn="l">
                        <a:lnSpc>
                          <a:spcPct val="100000"/>
                        </a:lnSpc>
                        <a:spcBef>
                          <a:spcPts val="0"/>
                        </a:spcBef>
                        <a:buNone/>
                      </a:pPr>
                      <a:r>
                        <a:rPr lang="id-ID" sz="1200" b="1">
                          <a:solidFill>
                            <a:srgbClr val="000000"/>
                          </a:solidFill>
                          <a:latin typeface="Arial"/>
                          <a:cs typeface="Arial"/>
                        </a:rPr>
                        <a:t>BI rate, uji gabungan</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0,87</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p = 0,75</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6"/>
                  </a:ext>
                </a:extLst>
              </a:tr>
              <a:tr h="342900">
                <a:tc>
                  <a:txBody>
                    <a:bodyPr/>
                    <a:lstStyle/>
                    <a:p>
                      <a:pPr marL="0" indent="0" algn="l">
                        <a:lnSpc>
                          <a:spcPct val="100000"/>
                        </a:lnSpc>
                        <a:spcBef>
                          <a:spcPts val="0"/>
                        </a:spcBef>
                        <a:buNone/>
                      </a:pPr>
                      <a:r>
                        <a:rPr lang="id-ID" sz="1200" b="1">
                          <a:solidFill>
                            <a:srgbClr val="000000"/>
                          </a:solidFill>
                          <a:latin typeface="Arial"/>
                          <a:cs typeface="Arial"/>
                        </a:rPr>
                        <a:t>Harga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t-IT" sz="1200" b="0">
                          <a:solidFill>
                            <a:srgbClr val="000000"/>
                          </a:solidFill>
                          <a:latin typeface="Arial"/>
                          <a:cs typeface="Arial"/>
                        </a:rPr>
                        <a:t>Judgment: −0,429 (diambil dari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Jumlah koefisien −0,429, p = 0,21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2753302977"/>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pt-BR" sz="1200" b="0">
                          <a:solidFill>
                            <a:srgbClr val="000000"/>
                          </a:solidFill>
                          <a:latin typeface="Arial"/>
                          <a:cs typeface="Arial"/>
                        </a:rPr>
                        <a:t>Respons total 0,31 (p = 0,04); R² 0,01</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sv-SE" sz="1200" b="0">
                          <a:solidFill>
                            <a:srgbClr val="000000"/>
                          </a:solidFill>
                          <a:latin typeface="Arial"/>
                          <a:cs typeface="Arial"/>
                        </a:rPr>
                        <a:t>NPL t−2 signifikan tetapi tandanya salah; R² 0,02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extLst>
                  <a:ext uri="{0D108BD9-81ED-4DB2-BD59-A6C34878D82A}">
                    <a16:rowId xmlns:a16="http://schemas.microsoft.com/office/drawing/2014/main" val="596601238"/>
                  </a:ext>
                </a:extLst>
              </a:tr>
            </a:tbl>
          </a:graphicData>
        </a:graphic>
      </p:graphicFrame>
      <p:sp>
        <p:nvSpPr>
          <p:cNvPr id="201" name="Text 202"/>
          <p:cNvSpPr txBox="1"/>
          <p:nvPr/>
        </p:nvSpPr>
        <p:spPr>
          <a:xfrm>
            <a:off x="558800" y="444500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Kedua model sama-sama tidak menemukan efek makro langsung yang signifikan: ini keterbatasan data historis, bukan pilihan spesifikasi. Model kita menjelaskan pergerakan NPL jauh lebih baik karena memasukkan persistensi NPL.</a:t>
            </a:r>
            <a:endParaRPr lang="id-ID" sz="1150" dirty="0">
              <a:solidFill>
                <a:srgbClr val="000000"/>
              </a:solidFill>
              <a:latin typeface="Arial"/>
              <a:cs typeface="Arial"/>
            </a:endParaRPr>
          </a:p>
        </p:txBody>
      </p:sp>
    </p:spTree>
    <p:extLst>
      <p:ext uri="{BB962C8B-B14F-4D97-AF65-F5344CB8AC3E}">
        <p14:creationId xmlns:p14="http://schemas.microsoft.com/office/powerpoint/2010/main" val="337520857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672C5-C8E4-379A-1B5C-708A4797A466}"/>
              </a:ext>
            </a:extLst>
          </p:cNvPr>
          <p:cNvSpPr>
            <a:spLocks noGrp="1"/>
          </p:cNvSpPr>
          <p:nvPr>
            <p:ph type="title"/>
          </p:nvPr>
        </p:nvSpPr>
        <p:spPr/>
        <p:txBody>
          <a:bodyPr/>
          <a:lstStyle/>
          <a:p>
            <a:r>
              <a:rPr lang="id-ID" sz="2000"/>
              <a:t>Ringkasan satellite model dan komponen judgment</a:t>
            </a:r>
            <a:endParaRPr lang="id-ID" sz="2000" dirty="0"/>
          </a:p>
        </p:txBody>
      </p:sp>
      <p:graphicFrame>
        <p:nvGraphicFramePr>
          <p:cNvPr id="200" name="Table 201"/>
          <p:cNvGraphicFramePr>
            <a:graphicFrameLocks noGrp="1"/>
          </p:cNvGraphicFramePr>
          <p:nvPr>
            <p:extLst>
              <p:ext uri="{D42A27DB-BD31-4B8C-83A1-F6EECF244321}">
                <p14:modId xmlns:p14="http://schemas.microsoft.com/office/powerpoint/2010/main" val="2595803272"/>
              </p:ext>
            </p:extLst>
          </p:nvPr>
        </p:nvGraphicFramePr>
        <p:xfrm>
          <a:off x="558800" y="1270000"/>
          <a:ext cx="11074400" cy="3733800"/>
        </p:xfrm>
        <a:graphic>
          <a:graphicData uri="http://schemas.openxmlformats.org/drawingml/2006/table">
            <a:tbl>
              <a:tblPr firstRow="1"/>
              <a:tblGrid>
                <a:gridCol w="1651000">
                  <a:extLst>
                    <a:ext uri="{9D8B030D-6E8A-4147-A177-3AD203B41FA5}">
                      <a16:colId xmlns:a16="http://schemas.microsoft.com/office/drawing/2014/main" val="20000"/>
                    </a:ext>
                  </a:extLst>
                </a:gridCol>
                <a:gridCol w="1270000">
                  <a:extLst>
                    <a:ext uri="{9D8B030D-6E8A-4147-A177-3AD203B41FA5}">
                      <a16:colId xmlns:a16="http://schemas.microsoft.com/office/drawing/2014/main" val="20001"/>
                    </a:ext>
                  </a:extLst>
                </a:gridCol>
                <a:gridCol w="2946400">
                  <a:extLst>
                    <a:ext uri="{9D8B030D-6E8A-4147-A177-3AD203B41FA5}">
                      <a16:colId xmlns:a16="http://schemas.microsoft.com/office/drawing/2014/main" val="20002"/>
                    </a:ext>
                  </a:extLst>
                </a:gridCol>
                <a:gridCol w="1778000">
                  <a:extLst>
                    <a:ext uri="{9D8B030D-6E8A-4147-A177-3AD203B41FA5}">
                      <a16:colId xmlns:a16="http://schemas.microsoft.com/office/drawing/2014/main" val="20003"/>
                    </a:ext>
                  </a:extLst>
                </a:gridCol>
                <a:gridCol w="1143000">
                  <a:extLst>
                    <a:ext uri="{9D8B030D-6E8A-4147-A177-3AD203B41FA5}">
                      <a16:colId xmlns:a16="http://schemas.microsoft.com/office/drawing/2014/main" val="1174449139"/>
                    </a:ext>
                  </a:extLst>
                </a:gridCol>
                <a:gridCol w="2286000">
                  <a:extLst>
                    <a:ext uri="{9D8B030D-6E8A-4147-A177-3AD203B41FA5}">
                      <a16:colId xmlns:a16="http://schemas.microsoft.com/office/drawing/2014/main" val="456612222"/>
                    </a:ext>
                  </a:extLst>
                </a:gridCol>
              </a:tblGrid>
              <a:tr h="304800">
                <a:tc>
                  <a:txBody>
                    <a:bodyPr/>
                    <a:lstStyle/>
                    <a:p>
                      <a:pPr marL="0" indent="0" algn="l">
                        <a:lnSpc>
                          <a:spcPct val="100000"/>
                        </a:lnSpc>
                        <a:spcBef>
                          <a:spcPts val="0"/>
                        </a:spcBef>
                        <a:buNone/>
                      </a:pPr>
                      <a:r>
                        <a:rPr lang="id-ID" sz="1200" b="1">
                          <a:solidFill>
                            <a:srgbClr val="000000"/>
                          </a:solidFill>
                          <a:latin typeface="Arial"/>
                          <a:cs typeface="Arial"/>
                        </a:rPr>
                        <a:t>Komponen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Dependen</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Prediktor</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l">
                        <a:lnSpc>
                          <a:spcPct val="100000"/>
                        </a:lnSpc>
                        <a:spcBef>
                          <a:spcPts val="0"/>
                        </a:spcBef>
                        <a:buNone/>
                      </a:pPr>
                      <a:r>
                        <a:rPr lang="id-ID" sz="1200" b="1">
                          <a:solidFill>
                            <a:srgbClr val="000000"/>
                          </a:solidFill>
                          <a:latin typeface="Arial"/>
                          <a:cs typeface="Arial"/>
                        </a:rPr>
                        <a:t>Metode</a:t>
                      </a:r>
                      <a:endParaRPr lang="id-ID" sz="1200" b="1" dirty="0">
                        <a:solidFill>
                          <a:srgbClr val="000000"/>
                        </a:solidFill>
                        <a:latin typeface="Arial"/>
                        <a:cs typeface="Arial"/>
                      </a:endParaRPr>
                    </a:p>
                  </a:txBody>
                  <a:tcPr marL="76200" marR="76200" marT="38100" marB="38100" anchor="ctr">
                    <a:lnL w="0">
                      <a:noFill/>
                    </a:lnL>
                    <a:lnR w="0">
                      <a:noFill/>
                    </a:lnR>
                    <a:lnT w="0">
                      <a:noFill/>
                    </a:lnT>
                    <a:lnB w="12700">
                      <a:solidFill>
                        <a:srgbClr val="000000"/>
                      </a:solidFill>
                    </a:lnB>
                    <a:noFill/>
                  </a:tcPr>
                </a:tc>
                <a:tc>
                  <a:txBody>
                    <a:bodyPr/>
                    <a:lstStyle/>
                    <a:p>
                      <a:pPr marL="0" indent="0" algn="r">
                        <a:lnSpc>
                          <a:spcPct val="100000"/>
                        </a:lnSpc>
                        <a:spcBef>
                          <a:spcPts val="0"/>
                        </a:spcBef>
                        <a:buNone/>
                      </a:pPr>
                      <a:r>
                        <a:rPr lang="id-ID" sz="1200" b="1">
                          <a:solidFill>
                            <a:srgbClr val="000000"/>
                          </a:solidFill>
                          <a:latin typeface="Arial"/>
                          <a:cs typeface="Arial"/>
                        </a:rPr>
                        <a:t>R²</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tc>
                  <a:txBody>
                    <a:bodyPr/>
                    <a:lstStyle/>
                    <a:p>
                      <a:pPr marL="0" indent="0" algn="l">
                        <a:lnSpc>
                          <a:spcPct val="100000"/>
                        </a:lnSpc>
                        <a:spcBef>
                          <a:spcPts val="0"/>
                        </a:spcBef>
                        <a:buNone/>
                      </a:pPr>
                      <a:r>
                        <a:rPr lang="id-ID" sz="1200" b="1">
                          <a:solidFill>
                            <a:srgbClr val="000000"/>
                          </a:solidFill>
                          <a:latin typeface="Arial"/>
                          <a:cs typeface="Arial"/>
                        </a:rPr>
                        <a:t>Peran di hasil</a:t>
                      </a:r>
                      <a:endParaRPr lang="id-ID" sz="1200" b="1" dirty="0">
                        <a:solidFill>
                          <a:srgbClr val="000000"/>
                        </a:solidFill>
                        <a:latin typeface="Arial"/>
                        <a:cs typeface="Arial"/>
                      </a:endParaRPr>
                    </a:p>
                  </a:txBody>
                  <a:tcPr marL="76200" marR="76200" marT="38100" marB="38100" anchor="ctr">
                    <a:lnL w="0">
                      <a:noFill/>
                    </a:lnL>
                    <a:lnR w="0">
                      <a:noFill/>
                    </a:lnR>
                    <a:lnT w="0">
                      <a:noFill/>
                    </a:lnT>
                    <a:lnB w="12700"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0000"/>
                  </a:ext>
                </a:extLst>
              </a:tr>
              <a:tr h="342900">
                <a:tc>
                  <a:txBody>
                    <a:bodyPr/>
                    <a:lstStyle/>
                    <a:p>
                      <a:pPr marL="0" indent="0" algn="l">
                        <a:lnSpc>
                          <a:spcPct val="100000"/>
                        </a:lnSpc>
                        <a:spcBef>
                          <a:spcPts val="0"/>
                        </a:spcBef>
                        <a:buNone/>
                      </a:pPr>
                      <a:r>
                        <a:rPr lang="id-ID" sz="1200" b="1">
                          <a:solidFill>
                            <a:srgbClr val="000000"/>
                          </a:solidFill>
                          <a:latin typeface="Arial"/>
                          <a:cs typeface="Arial"/>
                        </a:rPr>
                        <a:t>Model NPL</a:t>
                      </a:r>
                      <a:endParaRPr lang="id-ID" sz="1200" b="1"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t−1; GDP dan BI rate lag 1–4; fixed effect bank</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0,48 (within)</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id-ID" sz="1200" b="0">
                          <a:solidFill>
                            <a:srgbClr val="000000"/>
                          </a:solidFill>
                          <a:latin typeface="Arial"/>
                          <a:cs typeface="Arial"/>
                        </a:rPr>
                        <a:t>Jalur NPL; input provisi</a:t>
                      </a:r>
                      <a:endParaRPr lang="id-ID" sz="1200" b="0" dirty="0">
                        <a:solidFill>
                          <a:srgbClr val="000000"/>
                        </a:solidFill>
                        <a:latin typeface="Arial"/>
                        <a:cs typeface="Arial"/>
                      </a:endParaRPr>
                    </a:p>
                  </a:txBody>
                  <a:tcPr marL="76200" marR="76200" marT="38100" marB="38100" anchor="ctr">
                    <a:lnL w="0">
                      <a:noFill/>
                    </a:lnL>
                    <a:lnR w="0">
                      <a:noFill/>
                    </a:lnR>
                    <a:lnT w="12700" cap="flat" cmpd="sng" algn="ctr">
                      <a:solidFill>
                        <a:srgbClr val="000000"/>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1"/>
                  </a:ext>
                </a:extLst>
              </a:tr>
              <a:tr h="342900">
                <a:tc>
                  <a:txBody>
                    <a:bodyPr/>
                    <a:lstStyle/>
                    <a:p>
                      <a:pPr marL="0" indent="0" algn="l">
                        <a:lnSpc>
                          <a:spcPct val="100000"/>
                        </a:lnSpc>
                        <a:spcBef>
                          <a:spcPts val="0"/>
                        </a:spcBef>
                        <a:buNone/>
                      </a:pPr>
                      <a:r>
                        <a:rPr lang="id-ID" sz="1200" b="1">
                          <a:solidFill>
                            <a:srgbClr val="000000"/>
                          </a:solidFill>
                          <a:latin typeface="Arial"/>
                          <a:cs typeface="Arial"/>
                        </a:rPr>
                        <a:t>Komponen properti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NPL (%)</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el-GR" sz="1200" b="0">
                          <a:solidFill>
                            <a:srgbClr val="000000"/>
                          </a:solidFill>
                          <a:latin typeface="Arial"/>
                          <a:cs typeface="Arial"/>
                        </a:rPr>
                        <a:t>Δ </a:t>
                      </a:r>
                      <a:r>
                        <a:rPr lang="id-ID" sz="1200" b="0">
                          <a:solidFill>
                            <a:srgbClr val="000000"/>
                          </a:solidFill>
                          <a:latin typeface="Arial"/>
                          <a:cs typeface="Arial"/>
                        </a:rPr>
                        <a:t>harga properti lag 1–4</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(Prospera)</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nb-NO" sz="1200" b="0">
                          <a:solidFill>
                            <a:srgbClr val="000000"/>
                          </a:solidFill>
                          <a:latin typeface="Arial"/>
                          <a:cs typeface="Arial"/>
                        </a:rPr>
                        <a:t>+0,25 / +0,51 pp NPL (Adv 1 / Adv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2"/>
                  </a:ext>
                </a:extLst>
              </a:tr>
              <a:tr h="342900">
                <a:tc>
                  <a:txBody>
                    <a:bodyPr/>
                    <a:lstStyle/>
                    <a:p>
                      <a:pPr marL="0" indent="0" algn="l">
                        <a:lnSpc>
                          <a:spcPct val="100000"/>
                        </a:lnSpc>
                        <a:spcBef>
                          <a:spcPts val="0"/>
                        </a:spcBef>
                        <a:buNone/>
                      </a:pPr>
                      <a:r>
                        <a:rPr lang="id-ID" sz="1200" b="1">
                          <a:solidFill>
                            <a:srgbClr val="000000"/>
                          </a:solidFill>
                          <a:latin typeface="Arial"/>
                          <a:cs typeface="Arial"/>
                        </a:rPr>
                        <a:t>Respons provisi</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nl-NL" sz="1200" b="0">
                          <a:solidFill>
                            <a:srgbClr val="000000"/>
                          </a:solidFill>
                          <a:latin typeface="Arial"/>
                          <a:cs typeface="Arial"/>
                        </a:rPr>
                        <a:t>Kenaikan NPL t dan t−1; fixed effect bank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Panel FE, SE clustered</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0,01 (within)</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fi-FI" sz="1200" b="0">
                          <a:solidFill>
                            <a:srgbClr val="000000"/>
                          </a:solidFill>
                          <a:latin typeface="Arial"/>
                          <a:cs typeface="Arial"/>
                        </a:rPr>
                        <a:t>Tambahan provisi saat NPL naik</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3"/>
                  </a:ext>
                </a:extLst>
              </a:tr>
              <a:tr h="342900">
                <a:tc>
                  <a:txBody>
                    <a:bodyPr/>
                    <a:lstStyle/>
                    <a:p>
                      <a:pPr marL="0" indent="0" algn="l">
                        <a:lnSpc>
                          <a:spcPct val="100000"/>
                        </a:lnSpc>
                        <a:spcBef>
                          <a:spcPts val="0"/>
                        </a:spcBef>
                        <a:buNone/>
                      </a:pPr>
                      <a:r>
                        <a:rPr lang="id-ID" sz="1200" b="1">
                          <a:solidFill>
                            <a:srgbClr val="000000"/>
                          </a:solidFill>
                          <a:latin typeface="Arial"/>
                          <a:cs typeface="Arial"/>
                        </a:rPr>
                        <a:t>Overlay stres</a:t>
                      </a:r>
                      <a:endParaRPr lang="id-ID" sz="1200" b="1"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Provisi/kredit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Gap GDP × NPL</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l">
                        <a:lnSpc>
                          <a:spcPct val="100000"/>
                        </a:lnSpc>
                        <a:spcBef>
                          <a:spcPts val="0"/>
                        </a:spcBef>
                        <a:buNone/>
                      </a:pPr>
                      <a:r>
                        <a:rPr lang="id-ID" sz="1200" b="0">
                          <a:solidFill>
                            <a:srgbClr val="000000"/>
                          </a:solidFill>
                          <a:latin typeface="Arial"/>
                          <a:cs typeface="Arial"/>
                        </a:rPr>
                        <a:t>Judgment (kalibrasi)</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a:solidFill>
                        <a:srgbClr val="D9D9D9"/>
                      </a:solidFill>
                    </a:lnB>
                    <a:noFill/>
                  </a:tcPr>
                </a:tc>
                <a:tc>
                  <a:txBody>
                    <a:bodyPr/>
                    <a:lstStyle/>
                    <a:p>
                      <a:pPr marL="0" indent="0" algn="r">
                        <a:lnSpc>
                          <a:spcPct val="100000"/>
                        </a:lnSpc>
                        <a:spcBef>
                          <a:spcPts val="0"/>
                        </a:spcBef>
                        <a:buNone/>
                      </a:pPr>
                      <a:r>
                        <a:rPr lang="id-ID" sz="1200" b="0">
                          <a:solidFill>
                            <a:srgbClr val="000000"/>
                          </a:solidFill>
                          <a:latin typeface="Arial"/>
                          <a:cs typeface="Arial"/>
                        </a:rPr>
                        <a:t>–</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tc>
                  <a:txBody>
                    <a:bodyPr/>
                    <a:lstStyle/>
                    <a:p>
                      <a:pPr marL="0" indent="0" algn="l">
                        <a:lnSpc>
                          <a:spcPct val="100000"/>
                        </a:lnSpc>
                        <a:spcBef>
                          <a:spcPts val="0"/>
                        </a:spcBef>
                        <a:buNone/>
                      </a:pPr>
                      <a:r>
                        <a:rPr lang="en-US" sz="1200" b="0">
                          <a:solidFill>
                            <a:srgbClr val="000000"/>
                          </a:solidFill>
                          <a:latin typeface="Arial"/>
                          <a:cs typeface="Arial"/>
                        </a:rPr>
                        <a:t>46% credit loss Adverse 2</a:t>
                      </a:r>
                      <a:endParaRPr lang="id-ID" sz="1200" b="0" dirty="0">
                        <a:solidFill>
                          <a:srgbClr val="000000"/>
                        </a:solidFill>
                        <a:latin typeface="Arial"/>
                        <a:cs typeface="Arial"/>
                      </a:endParaRPr>
                    </a:p>
                  </a:txBody>
                  <a:tcPr marL="76200" marR="76200" marT="38100" marB="38100" anchor="ctr">
                    <a:lnL w="0">
                      <a:noFill/>
                    </a:lnL>
                    <a:lnR w="0">
                      <a:noFill/>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noFill/>
                  </a:tcPr>
                </a:tc>
                <a:extLst>
                  <a:ext uri="{0D108BD9-81ED-4DB2-BD59-A6C34878D82A}">
                    <a16:rowId xmlns:a16="http://schemas.microsoft.com/office/drawing/2014/main" val="10004"/>
                  </a:ext>
                </a:extLst>
              </a:tr>
            </a:tbl>
          </a:graphicData>
        </a:graphic>
      </p:graphicFrame>
      <p:sp>
        <p:nvSpPr>
          <p:cNvPr id="201" name="Text 202"/>
          <p:cNvSpPr txBox="1"/>
          <p:nvPr/>
        </p:nvSpPr>
        <p:spPr>
          <a:xfrm>
            <a:off x="558800" y="3370580"/>
            <a:ext cx="11074400" cy="558800"/>
          </a:xfrm>
          <a:prstGeom prst="rect">
            <a:avLst/>
          </a:prstGeom>
          <a:noFill/>
          <a:ln>
            <a:noFill/>
          </a:ln>
        </p:spPr>
        <p:txBody>
          <a:bodyPr wrap="square" lIns="0" tIns="45720" rIns="91440" bIns="45720" anchor="t">
            <a:noAutofit/>
          </a:bodyPr>
          <a:lstStyle/>
          <a:p>
            <a:pPr marL="0" indent="0" algn="l">
              <a:lnSpc>
                <a:spcPct val="100000"/>
              </a:lnSpc>
              <a:spcBef>
                <a:spcPts val="0"/>
              </a:spcBef>
              <a:buNone/>
            </a:pPr>
            <a:r>
              <a:rPr lang="id-ID" sz="1150">
                <a:solidFill>
                  <a:srgbClr val="000000"/>
                </a:solidFill>
                <a:latin typeface="Arial"/>
                <a:cs typeface="Arial"/>
              </a:rPr>
              <a:t>Dua persamaan diestimasi dari data 46 bank; dua komponen judgment ditambahkan karena data historis tidak cukup memberi sensitivitas terhadap skenario berat. Keduanya bisa diubah di do-file atau di sheet Parameters.</a:t>
            </a:r>
            <a:endParaRPr lang="id-ID" sz="1150" dirty="0">
              <a:solidFill>
                <a:srgbClr val="000000"/>
              </a:solidFill>
              <a:latin typeface="Arial"/>
              <a:cs typeface="Arial"/>
            </a:endParaRPr>
          </a:p>
        </p:txBody>
      </p:sp>
    </p:spTree>
    <p:extLst>
      <p:ext uri="{BB962C8B-B14F-4D97-AF65-F5344CB8AC3E}">
        <p14:creationId xmlns:p14="http://schemas.microsoft.com/office/powerpoint/2010/main" val="755466696"/>
      </p:ext>
    </p:extLst>
  </p:cSld>
  <p:clrMapOvr>
    <a:masterClrMapping/>
  </p:clrMapOvr>
</p:sld>
</file>

<file path=ppt/theme/theme1.xml><?xml version="1.0" encoding="utf-8"?>
<a:theme xmlns:a="http://schemas.openxmlformats.org/drawingml/2006/main" name="4_D2 Marves_Neww">
  <a:themeElements>
    <a:clrScheme name="Yellow Orange">
      <a:dk1>
        <a:sysClr val="windowText" lastClr="000000"/>
      </a:dk1>
      <a:lt1>
        <a:sysClr val="window" lastClr="FFFFFF"/>
      </a:lt1>
      <a:dk2>
        <a:srgbClr val="4E3B30"/>
      </a:dk2>
      <a:lt2>
        <a:srgbClr val="FBEEC9"/>
      </a:lt2>
      <a:accent1>
        <a:srgbClr val="F0A22E"/>
      </a:accent1>
      <a:accent2>
        <a:srgbClr val="A5644E"/>
      </a:accent2>
      <a:accent3>
        <a:srgbClr val="B58B80"/>
      </a:accent3>
      <a:accent4>
        <a:srgbClr val="C3986D"/>
      </a:accent4>
      <a:accent5>
        <a:srgbClr val="A19574"/>
      </a:accent5>
      <a:accent6>
        <a:srgbClr val="C17529"/>
      </a:accent6>
      <a:hlink>
        <a:srgbClr val="AD1F1F"/>
      </a:hlink>
      <a:folHlink>
        <a:srgbClr val="FFC42F"/>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D2 Marves_Neww" id="{CF5C51F7-01E3-1843-B95E-A88F43F3C614}" vid="{1FC0152F-43D8-474F-AC19-D2321C15A742}"/>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700" row="2">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F822936-2FBA-4AED-B054-163529BB535A}">
  <we:reference id="wa200010725" version="1.0.0.1" store="en-US" storeType="OMEX"/>
  <we:alternateReferences>
    <we:reference id="WA200010725" version="1.0.0.1" store="" storeType="OMEX"/>
  </we:alternateReferences>
  <we:properties>
    <we:property name="claude.fileId" value="&quot;b62713f8-fbef-4e9c-97c0-f4706022a32c&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1372</TotalTime>
  <Words>12167</Words>
  <Application>Microsoft Office PowerPoint</Application>
  <PresentationFormat>Widescreen</PresentationFormat>
  <Paragraphs>1413</Paragraphs>
  <Slides>50</Slides>
  <Notes>50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50</vt:i4>
      </vt:variant>
    </vt:vector>
  </HeadingPairs>
  <TitlesOfParts>
    <vt:vector size="55" baseType="lpstr">
      <vt:lpstr>Arial</vt:lpstr>
      <vt:lpstr>Arial Nova</vt:lpstr>
      <vt:lpstr>Calibri</vt:lpstr>
      <vt:lpstr>Calibri Light</vt:lpstr>
      <vt:lpstr>4_D2 Marves_Neww</vt:lpstr>
      <vt:lpstr>Stress Test Solvabilitas Perbankan Kerangka, Asumsi, Model, dan Hasil</vt:lpstr>
      <vt:lpstr>Ringkasan eksekutif</vt:lpstr>
      <vt:lpstr>Agenda</vt:lpstr>
      <vt:lpstr>PowerPoint Presentation</vt:lpstr>
      <vt:lpstr>Tiga kanal risiko bertemu di laba, lalu CAR bergerak dari sisi modal dan RWA</vt:lpstr>
      <vt:lpstr>Alur perhitungan: 10 langkah yang diulang setiap kuartal, per bank dan per skenario</vt:lpstr>
      <vt:lpstr>Langkah 0 · Posisi awal: rasio tiap bank diambil dari data 2026Q2</vt:lpstr>
      <vt:lpstr>Langkah 1–2 · Skenario diterjemahkan ke pertumbuhan neraca dan RWA</vt:lpstr>
      <vt:lpstr>Langkah 3–4 · NPL dan provisi (kanal kredit)</vt:lpstr>
      <vt:lpstr>Langkah 5–7 · Surat berharga, bunga, dan nonbunga</vt:lpstr>
      <vt:lpstr>Langkah 8–10 · Laba, modal, dan CAR</vt:lpstr>
      <vt:lpstr>Dari bank ke industri: cara angka hasil dihitung</vt:lpstr>
      <vt:lpstr>PowerPoint Presentation</vt:lpstr>
      <vt:lpstr>Skenario makro: baseline ditambah shock berbasis standar deviasi historis</vt:lpstr>
      <vt:lpstr>Adverse 2: guncangan suku bunga global merambat ke ekonomi riil</vt:lpstr>
      <vt:lpstr>Parameter lain: sebagian besar dari data, sisanya judgment yang terdokumentasi</vt:lpstr>
      <vt:lpstr>PowerPoint Presentation</vt:lpstr>
      <vt:lpstr>Peta transmisi: bagaimana tiap variabel makro sampai ke laba dan CAR</vt:lpstr>
      <vt:lpstr>Kanal kredit (1): bagaimana NPL bergerak di proyeksi</vt:lpstr>
      <vt:lpstr>Kenaikan NPL di skenario adverse terutama berasal dari komponen harga properti</vt:lpstr>
      <vt:lpstr>Kanal kredit (2): biaya kredit naik 3,4 kali lewat respons NPL dan overlay stres</vt:lpstr>
      <vt:lpstr>Kanal pasar: kenaikan yield SBN menurunkan nilai surat berharga</vt:lpstr>
      <vt:lpstr>PowerPoint Presentation</vt:lpstr>
      <vt:lpstr>Komponen lain dihitung dengan rule dan identitas akuntansi, bukan regresi</vt:lpstr>
      <vt:lpstr>Transmisi BI rate: biaya dana naik jauh lebih cepat dari bunga kredit</vt:lpstr>
      <vt:lpstr>Jembatan CAR: provisi, margin bunga, dan surat berharga yang membedakan hasil</vt:lpstr>
      <vt:lpstr>PowerPoint Presentation</vt:lpstr>
      <vt:lpstr>CAR industri tetap jauh di atas 8% di semua skenario</vt:lpstr>
      <vt:lpstr>CAR turun bertahap; NPL naik paling tajam di Adverse 2 saat koreksi properti berjalan</vt:lpstr>
      <vt:lpstr>Kerugian didominasi risiko kredit; laba industri tetap positif di semua skenario</vt:lpstr>
      <vt:lpstr>KBMI 2 paling tertekan: merugi dan CAR turun ke 16,9% di Adverse 2</vt:lpstr>
      <vt:lpstr>Himbara lebih tahan: laba besar menyerap credit loss yang lebih tinggi</vt:lpstr>
      <vt:lpstr>Satu bank gagal di Adverse 2 (BINA); lima bank lain di bawah 14%</vt:lpstr>
      <vt:lpstr>Dengan batas CAR per profil risiko, 1 sampai 6 bank di bawah batas pada Adverse 2</vt:lpstr>
      <vt:lpstr>Bank di bawah batas profil risiko dan faktor penyebabnya</vt:lpstr>
      <vt:lpstr>Kesimpulan dan tindak lanjut</vt:lpstr>
      <vt:lpstr>PowerPoint Presentation</vt:lpstr>
      <vt:lpstr>PowerPoint Presentation</vt:lpstr>
      <vt:lpstr>Satellite model menerjemahkan skenario makro menjadi risiko kredit bank</vt:lpstr>
      <vt:lpstr>Model NPL: spesifikasi dan definisi variabel</vt:lpstr>
      <vt:lpstr>Model NPL: hasil regresi lengkap</vt:lpstr>
      <vt:lpstr>Cara membaca hasil model NPL</vt:lpstr>
      <vt:lpstr>Komponen harga properti diambil dari Prospera karena tidak bisa diestimasi</vt:lpstr>
      <vt:lpstr>Model NPL mengikuti pola historis, walaupun memiliki kecenderungan lebih Tinggi</vt:lpstr>
      <vt:lpstr>Model provisi: provisi naik ±0,31% kredit untuk setiap kenaikan NPL 1 pp</vt:lpstr>
      <vt:lpstr>Overlay stres: dasar kalibrasi dan seberapa besar pengaruhnya ke hasil</vt:lpstr>
      <vt:lpstr>Estimasi k dari data (cara B): regresi provisi industri memberi k ≈ 0,02</vt:lpstr>
      <vt:lpstr>Mengapa koefisien yang tidak signifikan tetap dipakai</vt:lpstr>
      <vt:lpstr>Perbandingan dengan model Prospera: keterbatasan data yang sama</vt:lpstr>
      <vt:lpstr>Ringkasan satellite model dan komponen judgment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Kurniawati Yuli Ashari</dc:creator>
  <cp:lastModifiedBy>Muhamad Haikal</cp:lastModifiedBy>
  <cp:revision>20</cp:revision>
  <dcterms:created xsi:type="dcterms:W3CDTF">2026-10-01T00:21:08Z</dcterms:created>
  <dcterms:modified xsi:type="dcterms:W3CDTF">2026-10-14T08:23:54Z</dcterms:modified>
</cp:coreProperties>
</file>