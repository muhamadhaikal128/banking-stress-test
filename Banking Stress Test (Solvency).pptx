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9"/>
  </p:notesMasterIdLst>
  <p:sldIdLst>
    <p:sldId id="2147482715" r:id="rId2"/>
    <p:sldId id="2147482716" r:id="rId3"/>
    <p:sldId id="2147482717" r:id="rId4"/>
    <p:sldId id="2147482718" r:id="rId5"/>
    <p:sldId id="2147482719" r:id="rId6"/>
    <p:sldId id="2147482720" r:id="rId7"/>
    <p:sldId id="2147482721" r:id="rId8"/>
    <p:sldId id="2147482722" r:id="rId9"/>
    <p:sldId id="2147482723" r:id="rId10"/>
    <p:sldId id="2147482724" r:id="rId11"/>
    <p:sldId id="2147482725" r:id="rId12"/>
    <p:sldId id="2147482726" r:id="rId13"/>
    <p:sldId id="2147482727" r:id="rId14"/>
    <p:sldId id="2147482728" r:id="rId15"/>
    <p:sldId id="2147482729" r:id="rId16"/>
    <p:sldId id="2147482730" r:id="rId17"/>
    <p:sldId id="2147482731" r:id="rId18"/>
    <p:sldId id="2147482732" r:id="rId19"/>
    <p:sldId id="2147482733" r:id="rId20"/>
    <p:sldId id="2147482734" r:id="rId21"/>
    <p:sldId id="2147482735" r:id="rId22"/>
    <p:sldId id="2147482736" r:id="rId23"/>
    <p:sldId id="2147482737" r:id="rId24"/>
    <p:sldId id="2147482738" r:id="rId25"/>
    <p:sldId id="2147482739" r:id="rId26"/>
    <p:sldId id="2147482740" r:id="rId27"/>
    <p:sldId id="2147482741" r:id="rId28"/>
    <p:sldId id="2147482742" r:id="rId29"/>
    <p:sldId id="2147482743" r:id="rId30"/>
    <p:sldId id="2147482744" r:id="rId31"/>
    <p:sldId id="2147482745" r:id="rId32"/>
    <p:sldId id="2147482746" r:id="rId33"/>
    <p:sldId id="2147482747" r:id="rId34"/>
    <p:sldId id="2147482748" r:id="rId35"/>
    <p:sldId id="2147482749" r:id="rId36"/>
    <p:sldId id="2147482750" r:id="rId37"/>
    <p:sldId id="2147482751" r:id="rId38"/>
    <p:sldId id="2147482752" r:id="rId39"/>
    <p:sldId id="2147482753" r:id="rId40"/>
    <p:sldId id="2147482754" r:id="rId41"/>
    <p:sldId id="2147482755" r:id="rId42"/>
    <p:sldId id="2147482756" r:id="rId43"/>
    <p:sldId id="2147482757" r:id="rId44"/>
    <p:sldId id="2147482758" r:id="rId45"/>
    <p:sldId id="2147482759" r:id="rId46"/>
    <p:sldId id="2147482760" r:id="rId47"/>
    <p:sldId id="2147482761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5F0A9-A2F0-4B43-9722-2042F9DD599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5EE8F-5140-E743-B68C-BA749EB3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6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6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Chair of the 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9DB9D557-3373-B3AB-54A9-3224F952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799" y="828623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3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FD2AA19C-6509-DF83-FCAB-F7F3EDE28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4" y="490543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5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CDC8AB0D-B544-EBB6-24C9-C63FFCAC8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4" y="46976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9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A9CBE551-98BB-BF1B-5947-B898FDA8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B47411E4-DE06-5A3B-3C0D-1AEEBCB5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93" y="18990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0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TERIMA KASIH</a:t>
            </a:r>
          </a:p>
        </p:txBody>
      </p:sp>
      <p:pic>
        <p:nvPicPr>
          <p:cNvPr id="5" name="Picture 4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30E29769-C478-F59E-8968-9D5400DF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23" y="908287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0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THANK YOU</a:t>
            </a:r>
          </a:p>
        </p:txBody>
      </p:sp>
      <p:pic>
        <p:nvPicPr>
          <p:cNvPr id="5" name="Picture 4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2D7CE29-7999-CB50-102B-99500806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523" y="775777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8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General (Ret.)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Chairman of the 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14E31C-57C8-D551-A268-F7DA56978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340" y="919925"/>
            <a:ext cx="827327" cy="82732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23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pic>
        <p:nvPicPr>
          <p:cNvPr id="8" name="Picture 7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C1BE271-79CB-66D1-5841-930ADB4B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4" y="480468"/>
            <a:ext cx="932765" cy="932765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61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4AC5AEFB-B85E-E2E4-A0E4-13A4A8237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84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THANK YOU</a:t>
            </a:r>
          </a:p>
        </p:txBody>
      </p:sp>
      <p:pic>
        <p:nvPicPr>
          <p:cNvPr id="7" name="Picture 6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50DCDCFF-84DC-BC15-F045-FEB42C345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99" y="83125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6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rgbClr val="004D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6" y="339868"/>
            <a:ext cx="10440000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4D25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004D25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13" name="Picture 2" descr="green-green Color Palette">
            <a:extLst>
              <a:ext uri="{FF2B5EF4-FFF2-40B4-BE49-F238E27FC236}">
                <a16:creationId xmlns:a16="http://schemas.microsoft.com/office/drawing/2014/main" id="{3C463DAF-48BF-4A94-B2C8-C67E288A8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5240" y="4145"/>
            <a:ext cx="1451531" cy="239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alitra on Twitter | Green color pallete, Green palette, Green colour  palette">
            <a:extLst>
              <a:ext uri="{FF2B5EF4-FFF2-40B4-BE49-F238E27FC236}">
                <a16:creationId xmlns:a16="http://schemas.microsoft.com/office/drawing/2014/main" id="{F7DFD0EB-FDFA-4553-9D6C-A573C5CF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5240" y="2405182"/>
            <a:ext cx="1451531" cy="240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D8293D4-9FFF-44B4-A118-CA52867107CE}"/>
              </a:ext>
            </a:extLst>
          </p:cNvPr>
          <p:cNvGrpSpPr/>
          <p:nvPr/>
        </p:nvGrpSpPr>
        <p:grpSpPr>
          <a:xfrm rot="5400000">
            <a:off x="10427562" y="1910941"/>
            <a:ext cx="4330700" cy="508817"/>
            <a:chOff x="-1047750" y="1733550"/>
            <a:chExt cx="4330700" cy="16954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202A99-D516-47F9-B6F8-8904D0CDC552}"/>
                </a:ext>
              </a:extLst>
            </p:cNvPr>
            <p:cNvSpPr/>
            <p:nvPr/>
          </p:nvSpPr>
          <p:spPr>
            <a:xfrm>
              <a:off x="-1047750" y="1733550"/>
              <a:ext cx="514350" cy="1695450"/>
            </a:xfrm>
            <a:prstGeom prst="rect">
              <a:avLst/>
            </a:prstGeom>
            <a:solidFill>
              <a:srgbClr val="5367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C96E9C4-D1E5-410D-9B86-CF8CF88091C2}"/>
                </a:ext>
              </a:extLst>
            </p:cNvPr>
            <p:cNvSpPr/>
            <p:nvPr/>
          </p:nvSpPr>
          <p:spPr>
            <a:xfrm>
              <a:off x="383382" y="1733550"/>
              <a:ext cx="514350" cy="1695450"/>
            </a:xfrm>
            <a:prstGeom prst="rect">
              <a:avLst/>
            </a:prstGeom>
            <a:solidFill>
              <a:srgbClr val="A28F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288B7E2-3352-4790-A608-69C7707BCF1A}"/>
                </a:ext>
              </a:extLst>
            </p:cNvPr>
            <p:cNvSpPr/>
            <p:nvPr/>
          </p:nvSpPr>
          <p:spPr>
            <a:xfrm>
              <a:off x="1814514" y="1733550"/>
              <a:ext cx="514350" cy="1695450"/>
            </a:xfrm>
            <a:prstGeom prst="rect">
              <a:avLst/>
            </a:prstGeom>
            <a:solidFill>
              <a:srgbClr val="8786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D1628A-37C7-453B-BDB8-4A7C1AC4CD4C}"/>
                </a:ext>
              </a:extLst>
            </p:cNvPr>
            <p:cNvSpPr/>
            <p:nvPr/>
          </p:nvSpPr>
          <p:spPr>
            <a:xfrm>
              <a:off x="-570706" y="1733550"/>
              <a:ext cx="514350" cy="1695450"/>
            </a:xfrm>
            <a:prstGeom prst="rect">
              <a:avLst/>
            </a:prstGeom>
            <a:solidFill>
              <a:srgbClr val="069B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F6EB5B-76B1-495A-AB22-2BEBAE926796}"/>
                </a:ext>
              </a:extLst>
            </p:cNvPr>
            <p:cNvSpPr/>
            <p:nvPr/>
          </p:nvSpPr>
          <p:spPr>
            <a:xfrm>
              <a:off x="860426" y="1733550"/>
              <a:ext cx="514350" cy="1695450"/>
            </a:xfrm>
            <a:prstGeom prst="rect">
              <a:avLst/>
            </a:prstGeom>
            <a:solidFill>
              <a:srgbClr val="ADA7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054F186-6BF3-4FC9-964A-EF8C1D91C862}"/>
                </a:ext>
              </a:extLst>
            </p:cNvPr>
            <p:cNvSpPr/>
            <p:nvPr/>
          </p:nvSpPr>
          <p:spPr>
            <a:xfrm>
              <a:off x="2291558" y="1733550"/>
              <a:ext cx="514350" cy="1695450"/>
            </a:xfrm>
            <a:prstGeom prst="rect">
              <a:avLst/>
            </a:prstGeom>
            <a:solidFill>
              <a:srgbClr val="6D5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E412FC-6188-4284-A98D-2D59FC5AFA7D}"/>
                </a:ext>
              </a:extLst>
            </p:cNvPr>
            <p:cNvSpPr/>
            <p:nvPr/>
          </p:nvSpPr>
          <p:spPr>
            <a:xfrm>
              <a:off x="-93662" y="1733550"/>
              <a:ext cx="514350" cy="1695450"/>
            </a:xfrm>
            <a:prstGeom prst="rect">
              <a:avLst/>
            </a:prstGeom>
            <a:solidFill>
              <a:srgbClr val="004D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64F913-3169-4F15-B447-A0CFCB57A6CD}"/>
                </a:ext>
              </a:extLst>
            </p:cNvPr>
            <p:cNvSpPr/>
            <p:nvPr/>
          </p:nvSpPr>
          <p:spPr>
            <a:xfrm>
              <a:off x="1337470" y="1733550"/>
              <a:ext cx="514350" cy="1695450"/>
            </a:xfrm>
            <a:prstGeom prst="rect">
              <a:avLst/>
            </a:prstGeom>
            <a:solidFill>
              <a:srgbClr val="E8CF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AAEC2D0-6995-47E6-AC0F-0BAC543CAAB3}"/>
                </a:ext>
              </a:extLst>
            </p:cNvPr>
            <p:cNvSpPr/>
            <p:nvPr/>
          </p:nvSpPr>
          <p:spPr>
            <a:xfrm>
              <a:off x="2768600" y="1733550"/>
              <a:ext cx="514350" cy="1695450"/>
            </a:xfrm>
            <a:prstGeom prst="rect">
              <a:avLst/>
            </a:prstGeom>
            <a:solidFill>
              <a:srgbClr val="E24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</p:grpSp>
      <p:pic>
        <p:nvPicPr>
          <p:cNvPr id="2" name="Google Shape;3109;p3">
            <a:extLst>
              <a:ext uri="{FF2B5EF4-FFF2-40B4-BE49-F238E27FC236}">
                <a16:creationId xmlns:a16="http://schemas.microsoft.com/office/drawing/2014/main" id="{9C4F64E8-2544-80FF-F309-F9B43DA7E8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5010" y="263704"/>
            <a:ext cx="744467" cy="744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238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pic>
        <p:nvPicPr>
          <p:cNvPr id="8" name="Picture 7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C1BE271-79CB-66D1-5841-930ADB4B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617" y="861857"/>
            <a:ext cx="932765" cy="9327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Ketua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91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Ketua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8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DEN_Tim EKonomi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Tim Ekonomi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DEN_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2868567" y="4256313"/>
            <a:ext cx="645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Sekretaris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Eksekutif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/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Anggota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3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Chair of the 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9DB9D557-3373-B3AB-54A9-3224F95295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29799" y="828623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Economic Assessment Team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9DB9D557-3373-B3AB-54A9-3224F95295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29799" y="828623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3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FD2AA19C-6509-DF83-FCAB-F7F3EDE28B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84" y="490543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4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CDC8AB0D-B544-EBB6-24C9-C63FFCAC8D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84" y="46976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2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A9CBE551-98BB-BF1B-5947-B898FDA8C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335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B47411E4-DE06-5A3B-3C0D-1AEEBCB53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7593" y="18990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202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 userDrawn="1"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 userDrawn="1"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TERIMA KASIH</a:t>
            </a:r>
          </a:p>
        </p:txBody>
      </p:sp>
      <p:pic>
        <p:nvPicPr>
          <p:cNvPr id="5" name="Picture 4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30E29769-C478-F59E-8968-9D5400DFFF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22723" y="908287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0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 userDrawn="1"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 userDrawn="1"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THANK YOU</a:t>
            </a:r>
          </a:p>
        </p:txBody>
      </p:sp>
      <p:pic>
        <p:nvPicPr>
          <p:cNvPr id="5" name="Picture 4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2D7CE29-7999-CB50-102B-9950080680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88523" y="775777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Garu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9D7D42D8-047F-A9F8-8F06-04BEA6C2FA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2389" y="83613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Garu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07707" y="624850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DAF5E05D-2BA8-05CF-7B78-67751F7A4F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84" y="684071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_Mar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D18EAC92-4BBB-90DF-C2B3-2CA051E52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037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Garu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 userDrawn="1"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 userDrawn="1"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50000"/>
                  </a:schemeClr>
                </a:solidFill>
                <a:latin typeface="Arial Nova" panose="020B0504020202020204" pitchFamily="34" charset="0"/>
              </a:rPr>
              <a:t>TERIMA KASIH</a:t>
            </a:r>
          </a:p>
        </p:txBody>
      </p:sp>
      <p:pic>
        <p:nvPicPr>
          <p:cNvPr id="5" name="Picture 4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828A12D5-3800-1FCD-DDD3-9C6A6B8707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63999" y="83125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9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_DEN_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2868567" y="4256313"/>
            <a:ext cx="645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Direktorat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Eksekutif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Bidang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Strategi dan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Kebijakan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Ekonomi  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7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4D562-F104-47E4-9811-644E23B2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6BFE-8D25-0AAE-1D35-79914737B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5AD6-F3EF-7F41-FF35-C5B5E0DCD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D"/>
              <a:t>20 Oktober 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9A3C6-23C9-93EE-A339-9E8646133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4A5AB-40AF-8CF3-582C-EC9451C88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A242A-DC7A-4F17-BDA9-7A721769C4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80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2DCC-E1A6-8F28-EE4F-94315200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600">
                <a:solidFill>
                  <a:srgbClr val="FFFFFF"/>
                </a:solidFill>
              </a:rPr>
              <a:t>Stress Test Solvabilitas Perbankan</a:t>
            </a:r>
            <a:br>
              <a:rPr lang="id-ID" sz="2600">
                <a:solidFill>
                  <a:srgbClr val="FFFFFF"/>
                </a:solidFill>
              </a:rPr>
            </a:br>
            <a:r>
              <a:rPr lang="id-ID" sz="2600">
                <a:solidFill>
                  <a:srgbClr val="FFFFFF"/>
                </a:solidFill>
              </a:rPr>
              <a:t>Kerangka, Asumsi, Model, dan Hasil</a:t>
            </a:r>
            <a:endParaRPr lang="id-ID" sz="2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B5D71-861B-89D2-BFAC-5CCE6765D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/>
              <a:t>46 bank listed  |  Data s.d. 2026Q2  |  Oktober 2026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79685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C3AE-9C2B-F42A-3990-41BC02B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Ringkasan eksekutif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124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13462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1371600" y="1371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Industri tetap solid di semua skenario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CAR industri turun dari 22,5% ke 21,1% di Adverse 2, jauh di atas batas 8%; laba 4 kuartal masih menyerap seluruh kerugian.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3" name="Line 204"/>
          <p:cNvCxnSpPr/>
          <p:nvPr/>
        </p:nvCxnSpPr>
        <p:spPr>
          <a:xfrm>
            <a:off x="558800" y="223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4" name="Text 205"/>
          <p:cNvSpPr txBox="1"/>
          <p:nvPr/>
        </p:nvSpPr>
        <p:spPr>
          <a:xfrm>
            <a:off x="558800" y="23368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5" name="Text 206"/>
          <p:cNvSpPr txBox="1"/>
          <p:nvPr/>
        </p:nvSpPr>
        <p:spPr>
          <a:xfrm>
            <a:off x="1371600" y="23622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Tekanan terbesar datang dari risiko kredit, lalu margin bunga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Credit loss Adverse 2 setara 10,3% modal (75% dari total kerugian); NPL naik dari 2,1% ke 3,1%. Biaya dana naik lebih cepat dari bunga kredit, sehingga bunga bersih turun ±3,5% modal.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6" name="Line 207"/>
          <p:cNvCxnSpPr/>
          <p:nvPr/>
        </p:nvCxnSpPr>
        <p:spPr>
          <a:xfrm>
            <a:off x="558800" y="3225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7" name="Text 208"/>
          <p:cNvSpPr txBox="1"/>
          <p:nvPr/>
        </p:nvSpPr>
        <p:spPr>
          <a:xfrm>
            <a:off x="558800" y="33274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08" name="Text 209"/>
          <p:cNvSpPr txBox="1"/>
          <p:nvPr/>
        </p:nvSpPr>
        <p:spPr>
          <a:xfrm>
            <a:off x="1371600" y="33528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Dua bank kecil gagal di Adverse 2, keduanya karena kerugian surat berharga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BINA dan BCIC (KBMI 1) turun di bawah 8%; porsi surat berharga 6–7 kali modal, perlu diverifikasi ke laporan keuangan.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9" name="Line 210"/>
          <p:cNvCxnSpPr/>
          <p:nvPr/>
        </p:nvCxnSpPr>
        <p:spPr>
          <a:xfrm>
            <a:off x="558800" y="421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0" name="Text 211"/>
          <p:cNvSpPr txBox="1"/>
          <p:nvPr/>
        </p:nvSpPr>
        <p:spPr>
          <a:xfrm>
            <a:off x="558800" y="43180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11" name="Text 212"/>
          <p:cNvSpPr txBox="1"/>
          <p:nvPr/>
        </p:nvSpPr>
        <p:spPr>
          <a:xfrm>
            <a:off x="1371600" y="4343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Himbara lebih tahan meski CAR awalnya lebih rendah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CAR Himbara turun 0,7 pp (19,4% ke 18,8%) vs Non-Himbara 2,4 pp (26,8% ke 24,4%); KBMI 2 paling tertekan (CAR 16,6%).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558800" y="5207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3" name="Text 214"/>
          <p:cNvSpPr/>
          <p:nvPr/>
        </p:nvSpPr>
        <p:spPr>
          <a:xfrm>
            <a:off x="558800" y="5384800"/>
            <a:ext cx="11074400" cy="508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52400" tIns="45720" rIns="15240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Catatan:</a:t>
            </a:r>
            <a:r>
              <a:rPr lang="id-ID" sz="1300">
                <a:solidFill>
                  <a:srgbClr val="000000"/>
                </a:solidFill>
                <a:latin typeface="Arial"/>
                <a:cs typeface="Arial"/>
              </a:rPr>
              <a:t> hasil bergantung pada tiga asumsi judgment, yaitu overlay provisi (k_stress = 0,03), elastisitas harga properti (e_prop) dan transmisi BI rate ke biaya dana (</a:t>
            </a:r>
            <a:r>
              <a:rPr lang="el-GR" sz="1300">
                <a:solidFill>
                  <a:srgbClr val="000000"/>
                </a:solidFill>
                <a:latin typeface="Arial"/>
                <a:cs typeface="Arial"/>
              </a:rPr>
              <a:t>β_</a:t>
            </a:r>
            <a:r>
              <a:rPr lang="id-ID" sz="1300">
                <a:solidFill>
                  <a:srgbClr val="000000"/>
                </a:solidFill>
                <a:latin typeface="Arial"/>
                <a:cs typeface="Arial"/>
              </a:rPr>
              <a:t>d = 0,694); semuanya ditampilkan di bagian asumsi.</a:t>
            </a:r>
            <a:endParaRPr lang="id-ID" sz="13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169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8776-FE72-99F1-E859-6338F7E0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Agenda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2159000"/>
            <a:ext cx="2052320" cy="0"/>
          </a:xfrm>
          <a:prstGeom prst="line">
            <a:avLst/>
          </a:prstGeom>
          <a:ln w="31750">
            <a:solidFill>
              <a:srgbClr val="A5644E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2311400"/>
            <a:ext cx="205232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600" b="1">
                <a:latin typeface="Arial"/>
                <a:cs typeface="Arial"/>
              </a:rPr>
              <a:t>01</a:t>
            </a:r>
            <a:endParaRPr lang="id-ID" sz="3600" b="1" dirty="0">
              <a:latin typeface="Arial"/>
              <a:cs typeface="Arial"/>
            </a:endParaRPr>
          </a:p>
        </p:txBody>
      </p:sp>
      <p:sp>
        <p:nvSpPr>
          <p:cNvPr id="202" name="Text 203"/>
          <p:cNvSpPr txBox="1"/>
          <p:nvPr/>
        </p:nvSpPr>
        <p:spPr>
          <a:xfrm>
            <a:off x="558800" y="3175000"/>
            <a:ext cx="20523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>
                <a:solidFill>
                  <a:srgbClr val="000000"/>
                </a:solidFill>
                <a:latin typeface="Arial"/>
                <a:cs typeface="Arial"/>
              </a:rPr>
              <a:t>Kerangka stress test</a:t>
            </a:r>
            <a:endParaRPr lang="id-ID" sz="16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3" name="Text 204"/>
          <p:cNvSpPr txBox="1"/>
          <p:nvPr/>
        </p:nvSpPr>
        <p:spPr>
          <a:xfrm>
            <a:off x="558800" y="3962400"/>
            <a:ext cx="205232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400" b="0">
                <a:solidFill>
                  <a:srgbClr val="262626"/>
                </a:solidFill>
                <a:latin typeface="Arial"/>
                <a:cs typeface="Arial"/>
              </a:rPr>
              <a:t>Alur dari skenario makro ke laba, modal, dan CAR</a:t>
            </a:r>
            <a:endParaRPr lang="id-ID" sz="1400" b="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4" name="Line 205"/>
          <p:cNvCxnSpPr/>
          <p:nvPr/>
        </p:nvCxnSpPr>
        <p:spPr>
          <a:xfrm>
            <a:off x="2814320" y="2159000"/>
            <a:ext cx="2052320" cy="0"/>
          </a:xfrm>
          <a:prstGeom prst="line">
            <a:avLst/>
          </a:prstGeom>
          <a:ln w="31750">
            <a:solidFill>
              <a:srgbClr val="A5644E"/>
            </a:solidFill>
          </a:ln>
        </p:spPr>
      </p:cxnSp>
      <p:sp>
        <p:nvSpPr>
          <p:cNvPr id="205" name="Text 206"/>
          <p:cNvSpPr txBox="1"/>
          <p:nvPr/>
        </p:nvSpPr>
        <p:spPr>
          <a:xfrm>
            <a:off x="2814320" y="2311400"/>
            <a:ext cx="205232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600" b="1">
                <a:latin typeface="Arial"/>
                <a:cs typeface="Arial"/>
              </a:rPr>
              <a:t>02</a:t>
            </a:r>
            <a:endParaRPr lang="id-ID" sz="3600" b="1" dirty="0">
              <a:latin typeface="Arial"/>
              <a:cs typeface="Arial"/>
            </a:endParaRPr>
          </a:p>
        </p:txBody>
      </p:sp>
      <p:sp>
        <p:nvSpPr>
          <p:cNvPr id="206" name="Text 207"/>
          <p:cNvSpPr txBox="1"/>
          <p:nvPr/>
        </p:nvSpPr>
        <p:spPr>
          <a:xfrm>
            <a:off x="2814320" y="3175000"/>
            <a:ext cx="20523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>
                <a:solidFill>
                  <a:srgbClr val="000000"/>
                </a:solidFill>
                <a:latin typeface="Arial"/>
                <a:cs typeface="Arial"/>
              </a:rPr>
              <a:t>Asumsi</a:t>
            </a:r>
            <a:endParaRPr lang="id-ID" sz="16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7" name="Text 208"/>
          <p:cNvSpPr txBox="1"/>
          <p:nvPr/>
        </p:nvSpPr>
        <p:spPr>
          <a:xfrm>
            <a:off x="2814320" y="3962400"/>
            <a:ext cx="205232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id-ID" sz="1400" b="0">
                <a:solidFill>
                  <a:srgbClr val="262626"/>
                </a:solidFill>
                <a:latin typeface="Arial"/>
                <a:cs typeface="Arial"/>
              </a:rPr>
              <a:t>Skenario makro, sumber data, dan parameter</a:t>
            </a:r>
            <a:endParaRPr lang="id-ID" sz="1400" b="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8" name="Line 209"/>
          <p:cNvCxnSpPr/>
          <p:nvPr/>
        </p:nvCxnSpPr>
        <p:spPr>
          <a:xfrm>
            <a:off x="5069840" y="2159000"/>
            <a:ext cx="2052320" cy="0"/>
          </a:xfrm>
          <a:prstGeom prst="line">
            <a:avLst/>
          </a:prstGeom>
          <a:ln w="31750">
            <a:solidFill>
              <a:srgbClr val="A5644E"/>
            </a:solidFill>
          </a:ln>
        </p:spPr>
      </p:cxnSp>
      <p:sp>
        <p:nvSpPr>
          <p:cNvPr id="209" name="Text 210"/>
          <p:cNvSpPr txBox="1"/>
          <p:nvPr/>
        </p:nvSpPr>
        <p:spPr>
          <a:xfrm>
            <a:off x="5069840" y="2311400"/>
            <a:ext cx="205232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600" b="1">
                <a:latin typeface="Arial"/>
                <a:cs typeface="Arial"/>
              </a:rPr>
              <a:t>03</a:t>
            </a:r>
            <a:endParaRPr lang="id-ID" sz="3600" b="1" dirty="0">
              <a:latin typeface="Arial"/>
              <a:cs typeface="Arial"/>
            </a:endParaRPr>
          </a:p>
        </p:txBody>
      </p:sp>
      <p:sp>
        <p:nvSpPr>
          <p:cNvPr id="210" name="Text 211"/>
          <p:cNvSpPr txBox="1"/>
          <p:nvPr/>
        </p:nvSpPr>
        <p:spPr>
          <a:xfrm>
            <a:off x="5069840" y="3175000"/>
            <a:ext cx="20523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>
                <a:solidFill>
                  <a:srgbClr val="000000"/>
                </a:solidFill>
                <a:latin typeface="Arial"/>
                <a:cs typeface="Arial"/>
              </a:rPr>
              <a:t>Satellite model</a:t>
            </a:r>
            <a:endParaRPr lang="id-ID" sz="16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1" name="Text 212"/>
          <p:cNvSpPr txBox="1"/>
          <p:nvPr/>
        </p:nvSpPr>
        <p:spPr>
          <a:xfrm>
            <a:off x="5069840" y="3962400"/>
            <a:ext cx="205232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it-IT" sz="1400" b="0">
                <a:solidFill>
                  <a:srgbClr val="262626"/>
                </a:solidFill>
                <a:latin typeface="Arial"/>
                <a:cs typeface="Arial"/>
              </a:rPr>
              <a:t>Model NPL dan provisi beserta prediktornya</a:t>
            </a:r>
            <a:endParaRPr lang="id-ID" sz="1400" b="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7325360" y="2159000"/>
            <a:ext cx="2052320" cy="0"/>
          </a:xfrm>
          <a:prstGeom prst="line">
            <a:avLst/>
          </a:prstGeom>
          <a:ln w="31750">
            <a:solidFill>
              <a:srgbClr val="A5644E"/>
            </a:solidFill>
          </a:ln>
        </p:spPr>
      </p:cxnSp>
      <p:sp>
        <p:nvSpPr>
          <p:cNvPr id="213" name="Text 214"/>
          <p:cNvSpPr txBox="1"/>
          <p:nvPr/>
        </p:nvSpPr>
        <p:spPr>
          <a:xfrm>
            <a:off x="7325360" y="2311400"/>
            <a:ext cx="205232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600" b="1">
                <a:latin typeface="Arial"/>
                <a:cs typeface="Arial"/>
              </a:rPr>
              <a:t>04</a:t>
            </a:r>
            <a:endParaRPr lang="id-ID" sz="3600" b="1" dirty="0">
              <a:latin typeface="Arial"/>
              <a:cs typeface="Arial"/>
            </a:endParaRPr>
          </a:p>
        </p:txBody>
      </p:sp>
      <p:sp>
        <p:nvSpPr>
          <p:cNvPr id="214" name="Text 215"/>
          <p:cNvSpPr txBox="1"/>
          <p:nvPr/>
        </p:nvSpPr>
        <p:spPr>
          <a:xfrm>
            <a:off x="7325360" y="3175000"/>
            <a:ext cx="20523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>
                <a:solidFill>
                  <a:srgbClr val="000000"/>
                </a:solidFill>
                <a:latin typeface="Arial"/>
                <a:cs typeface="Arial"/>
              </a:rPr>
              <a:t>Estimasi akuntansi</a:t>
            </a:r>
            <a:endParaRPr lang="id-ID" sz="16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5" name="Text 216"/>
          <p:cNvSpPr txBox="1"/>
          <p:nvPr/>
        </p:nvSpPr>
        <p:spPr>
          <a:xfrm>
            <a:off x="7325360" y="3962400"/>
            <a:ext cx="205232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400" b="0">
                <a:solidFill>
                  <a:srgbClr val="262626"/>
                </a:solidFill>
                <a:latin typeface="Arial"/>
                <a:cs typeface="Arial"/>
              </a:rPr>
              <a:t>Neraca, bunga, surat berharga, pajak, dan modal</a:t>
            </a:r>
            <a:endParaRPr lang="id-ID" sz="1400" b="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3" name="Line 213">
            <a:extLst>
              <a:ext uri="{FF2B5EF4-FFF2-40B4-BE49-F238E27FC236}">
                <a16:creationId xmlns:a16="http://schemas.microsoft.com/office/drawing/2014/main" id="{818F37D6-3A4B-CB7F-90AF-FD4D821EE574}"/>
              </a:ext>
            </a:extLst>
          </p:cNvPr>
          <p:cNvCxnSpPr/>
          <p:nvPr/>
        </p:nvCxnSpPr>
        <p:spPr>
          <a:xfrm>
            <a:off x="9580880" y="2159000"/>
            <a:ext cx="2052320" cy="0"/>
          </a:xfrm>
          <a:prstGeom prst="line">
            <a:avLst/>
          </a:prstGeom>
          <a:ln w="31750">
            <a:solidFill>
              <a:srgbClr val="A5644E"/>
            </a:solidFill>
          </a:ln>
        </p:spPr>
      </p:cxnSp>
      <p:sp>
        <p:nvSpPr>
          <p:cNvPr id="4" name="Text 214">
            <a:extLst>
              <a:ext uri="{FF2B5EF4-FFF2-40B4-BE49-F238E27FC236}">
                <a16:creationId xmlns:a16="http://schemas.microsoft.com/office/drawing/2014/main" id="{7480A4F4-D99D-A570-F7CF-B6C3B9853C0E}"/>
              </a:ext>
            </a:extLst>
          </p:cNvPr>
          <p:cNvSpPr txBox="1"/>
          <p:nvPr/>
        </p:nvSpPr>
        <p:spPr>
          <a:xfrm>
            <a:off x="9580880" y="2311400"/>
            <a:ext cx="205232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600" b="1">
                <a:latin typeface="Arial"/>
                <a:cs typeface="Arial"/>
              </a:rPr>
              <a:t>05</a:t>
            </a:r>
            <a:endParaRPr lang="id-ID" sz="3600" b="1" dirty="0">
              <a:latin typeface="Arial"/>
              <a:cs typeface="Arial"/>
            </a:endParaRPr>
          </a:p>
        </p:txBody>
      </p:sp>
      <p:sp>
        <p:nvSpPr>
          <p:cNvPr id="5" name="Text 215">
            <a:extLst>
              <a:ext uri="{FF2B5EF4-FFF2-40B4-BE49-F238E27FC236}">
                <a16:creationId xmlns:a16="http://schemas.microsoft.com/office/drawing/2014/main" id="{EBF4126D-00B9-2B44-D07B-AC712E59FA90}"/>
              </a:ext>
            </a:extLst>
          </p:cNvPr>
          <p:cNvSpPr txBox="1"/>
          <p:nvPr/>
        </p:nvSpPr>
        <p:spPr>
          <a:xfrm>
            <a:off x="9580880" y="3175000"/>
            <a:ext cx="20523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>
                <a:solidFill>
                  <a:srgbClr val="000000"/>
                </a:solidFill>
                <a:latin typeface="Arial"/>
                <a:cs typeface="Arial"/>
              </a:rPr>
              <a:t>Hasil stress test</a:t>
            </a:r>
            <a:endParaRPr lang="id-ID" sz="16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216">
            <a:extLst>
              <a:ext uri="{FF2B5EF4-FFF2-40B4-BE49-F238E27FC236}">
                <a16:creationId xmlns:a16="http://schemas.microsoft.com/office/drawing/2014/main" id="{15FCDB47-8139-28D6-5B14-5E34DF45D9DF}"/>
              </a:ext>
            </a:extLst>
          </p:cNvPr>
          <p:cNvSpPr txBox="1"/>
          <p:nvPr/>
        </p:nvSpPr>
        <p:spPr>
          <a:xfrm>
            <a:off x="9580880" y="3962400"/>
            <a:ext cx="205232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sv-SE" sz="1400" b="0">
                <a:solidFill>
                  <a:srgbClr val="262626"/>
                </a:solidFill>
                <a:latin typeface="Arial"/>
                <a:cs typeface="Arial"/>
              </a:rPr>
              <a:t>Industri, KBMI, Himbara, dan bank individual</a:t>
            </a:r>
            <a:endParaRPr lang="id-ID" sz="1400" b="0" dirty="0">
              <a:solidFill>
                <a:srgbClr val="262626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63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Kerangka stress test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01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4233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FC35-DD55-254D-ED11-37C5E697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Tiga kanal risiko bertemu di laba, lalu CAR bergerak dari sisi modal dan RWA</a:t>
            </a:r>
            <a:endParaRPr lang="id-ID" sz="2000" dirty="0"/>
          </a:p>
        </p:txBody>
      </p:sp>
      <p:sp>
        <p:nvSpPr>
          <p:cNvPr id="200" name="Text 201"/>
          <p:cNvSpPr txBox="1"/>
          <p:nvPr/>
        </p:nvSpPr>
        <p:spPr>
          <a:xfrm>
            <a:off x="558800" y="1270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 b="1" dirty="0">
                <a:solidFill>
                  <a:srgbClr val="A5644E"/>
                </a:solidFill>
                <a:latin typeface="Arial"/>
                <a:cs typeface="Arial"/>
              </a:rPr>
              <a:t>INPUT</a:t>
            </a:r>
          </a:p>
        </p:txBody>
      </p:sp>
      <p:sp>
        <p:nvSpPr>
          <p:cNvPr id="201" name="Text 202"/>
          <p:cNvSpPr txBox="1"/>
          <p:nvPr/>
        </p:nvSpPr>
        <p:spPr>
          <a:xfrm>
            <a:off x="2895600" y="1270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 b="1" dirty="0">
                <a:solidFill>
                  <a:srgbClr val="A5644E"/>
                </a:solidFill>
                <a:latin typeface="Arial"/>
                <a:cs typeface="Arial"/>
              </a:rPr>
              <a:t>SATELLITE MODEL &amp; RULE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5613400" y="1270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 b="1" dirty="0">
                <a:solidFill>
                  <a:srgbClr val="A5644E"/>
                </a:solidFill>
                <a:latin typeface="Arial"/>
                <a:cs typeface="Arial"/>
              </a:rPr>
              <a:t>LABA</a:t>
            </a:r>
          </a:p>
        </p:txBody>
      </p:sp>
      <p:sp>
        <p:nvSpPr>
          <p:cNvPr id="203" name="Text 204"/>
          <p:cNvSpPr txBox="1"/>
          <p:nvPr/>
        </p:nvSpPr>
        <p:spPr>
          <a:xfrm>
            <a:off x="7823200" y="1270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 b="1" dirty="0">
                <a:solidFill>
                  <a:srgbClr val="A5644E"/>
                </a:solidFill>
                <a:latin typeface="Arial"/>
                <a:cs typeface="Arial"/>
              </a:rPr>
              <a:t>MODAL &amp; ATMR</a:t>
            </a:r>
          </a:p>
        </p:txBody>
      </p:sp>
      <p:sp>
        <p:nvSpPr>
          <p:cNvPr id="204" name="Text 205"/>
          <p:cNvSpPr txBox="1"/>
          <p:nvPr/>
        </p:nvSpPr>
        <p:spPr>
          <a:xfrm>
            <a:off x="10033000" y="12700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 b="1" dirty="0">
                <a:solidFill>
                  <a:srgbClr val="A5644E"/>
                </a:solidFill>
                <a:latin typeface="Arial"/>
                <a:cs typeface="Arial"/>
              </a:rPr>
              <a:t>RASIO</a:t>
            </a:r>
          </a:p>
        </p:txBody>
      </p:sp>
      <p:cxnSp>
        <p:nvCxnSpPr>
          <p:cNvPr id="205" name="Line 206"/>
          <p:cNvCxnSpPr/>
          <p:nvPr/>
        </p:nvCxnSpPr>
        <p:spPr>
          <a:xfrm>
            <a:off x="558800" y="1524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6" name="Text 207"/>
          <p:cNvSpPr/>
          <p:nvPr/>
        </p:nvSpPr>
        <p:spPr>
          <a:xfrm>
            <a:off x="558800" y="1905000"/>
            <a:ext cx="1905000" cy="1397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Skenario makro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GDP, BI rate, CPI, kurs, properti, yield SBN; 3 skenario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Solvency ST.xlsx · Langkah 1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07" name="Text 208"/>
          <p:cNvSpPr/>
          <p:nvPr/>
        </p:nvSpPr>
        <p:spPr>
          <a:xfrm>
            <a:off x="558800" y="3683000"/>
            <a:ext cx="1905000" cy="1397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>
                <a:solidFill>
                  <a:srgbClr val="000000"/>
                </a:solidFill>
                <a:latin typeface="Arial"/>
                <a:cs typeface="Arial"/>
              </a:rPr>
              <a:t>Posisi awal bank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50">
                <a:solidFill>
                  <a:srgbClr val="262626"/>
                </a:solidFill>
                <a:latin typeface="Arial"/>
                <a:cs typeface="Arial"/>
              </a:rPr>
              <a:t>Kredit, aset, deposito, modal, RWA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cs typeface="Arial"/>
              </a:rPr>
              <a:t>46 bank, 2026Q2 · Langkah 0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08" name="Text 209"/>
          <p:cNvSpPr/>
          <p:nvPr/>
        </p:nvSpPr>
        <p:spPr>
          <a:xfrm>
            <a:off x="2895600" y="1625600"/>
            <a:ext cx="2286000" cy="10414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Kanal kredit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NPL → provisi + overlay stres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Satellite model · Langkah 3–4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09" name="Text 210"/>
          <p:cNvSpPr/>
          <p:nvPr/>
        </p:nvSpPr>
        <p:spPr>
          <a:xfrm>
            <a:off x="2895600" y="2870200"/>
            <a:ext cx="2286000" cy="10414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Neraca &amp; bunga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Tumbuh dengan GDP nominal; bunga ikut BI rate (parsial)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Rule · Langkah 2, 6, 7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10" name="Text 211"/>
          <p:cNvSpPr/>
          <p:nvPr/>
        </p:nvSpPr>
        <p:spPr>
          <a:xfrm>
            <a:off x="2895600" y="4114800"/>
            <a:ext cx="2286000" cy="10414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Surat berharga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SBN × (−durasi × </a:t>
            </a:r>
            <a:r>
              <a:rPr lang="el-GR" sz="1150">
                <a:solidFill>
                  <a:srgbClr val="262626"/>
                </a:solidFill>
                <a:latin typeface="Arial"/>
                <a:cs typeface="Arial"/>
              </a:rPr>
              <a:t>Δ</a:t>
            </a: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yield)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Rule · Langkah 5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11" name="Text 212"/>
          <p:cNvSpPr/>
          <p:nvPr/>
        </p:nvSpPr>
        <p:spPr>
          <a:xfrm>
            <a:off x="5613400" y="2870200"/>
            <a:ext cx="1778000" cy="10414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Laba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EBT → pajak 22% → EAT; dividen 50%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Identitas · Langkah 8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12" name="Text 213"/>
          <p:cNvSpPr/>
          <p:nvPr/>
        </p:nvSpPr>
        <p:spPr>
          <a:xfrm>
            <a:off x="7823200" y="2235200"/>
            <a:ext cx="1778000" cy="10414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Modal &amp; Tier 1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Modal lalu + laba ditahan − rugi OCI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Identitas · Langkah 9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13" name="Text 214"/>
          <p:cNvSpPr/>
          <p:nvPr/>
        </p:nvSpPr>
        <p:spPr>
          <a:xfrm>
            <a:off x="7823200" y="3822700"/>
            <a:ext cx="1778000" cy="10414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RWA / ATMR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Tumbuh dengan GDP nominal skenario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595959"/>
                </a:solidFill>
                <a:latin typeface="Arial"/>
                <a:cs typeface="Arial"/>
              </a:rPr>
              <a:t>Rule · Langkah 2</a:t>
            </a:r>
            <a:endParaRPr lang="id-ID" sz="10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14" name="Text 215"/>
          <p:cNvSpPr/>
          <p:nvPr/>
        </p:nvSpPr>
        <p:spPr>
          <a:xfrm>
            <a:off x="10033000" y="2870200"/>
            <a:ext cx="1600200" cy="1041400"/>
          </a:xfrm>
          <a:prstGeom prst="rect">
            <a:avLst/>
          </a:prstGeom>
          <a:solidFill>
            <a:srgbClr val="A5644E"/>
          </a:solidFill>
          <a:ln>
            <a:noFill/>
          </a:ln>
        </p:spPr>
        <p:txBody>
          <a:bodyPr wrap="square" lIns="114300" tIns="88900" rIns="88900" bIns="762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FFFFFF"/>
                </a:solidFill>
                <a:latin typeface="Arial"/>
                <a:cs typeface="Arial"/>
              </a:rPr>
              <a:t>CAR &amp; Tier 1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FFFFFF"/>
                </a:solidFill>
                <a:latin typeface="Arial"/>
                <a:cs typeface="Arial"/>
              </a:rPr>
              <a:t>Modal ÷ RWA × 100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000">
                <a:solidFill>
                  <a:srgbClr val="F3E9E3"/>
                </a:solidFill>
                <a:latin typeface="Arial"/>
                <a:cs typeface="Arial"/>
              </a:rPr>
              <a:t>Gagal &lt; 8% · Langkah 10</a:t>
            </a:r>
            <a:endParaRPr lang="id-ID" sz="1000" dirty="0">
              <a:solidFill>
                <a:srgbClr val="F3E9E3"/>
              </a:solidFill>
              <a:latin typeface="Arial"/>
              <a:cs typeface="Arial"/>
            </a:endParaRPr>
          </a:p>
        </p:txBody>
      </p:sp>
      <p:cxnSp>
        <p:nvCxnSpPr>
          <p:cNvPr id="215" name="Line 216"/>
          <p:cNvCxnSpPr/>
          <p:nvPr/>
        </p:nvCxnSpPr>
        <p:spPr>
          <a:xfrm>
            <a:off x="2463800" y="26035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16" name="Line 217"/>
          <p:cNvCxnSpPr/>
          <p:nvPr/>
        </p:nvCxnSpPr>
        <p:spPr>
          <a:xfrm>
            <a:off x="2463800" y="43815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17" name="Line 218"/>
          <p:cNvCxnSpPr/>
          <p:nvPr/>
        </p:nvCxnSpPr>
        <p:spPr>
          <a:xfrm>
            <a:off x="2679700" y="2146300"/>
            <a:ext cx="0" cy="248920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18" name="Line 219"/>
          <p:cNvCxnSpPr/>
          <p:nvPr/>
        </p:nvCxnSpPr>
        <p:spPr>
          <a:xfrm>
            <a:off x="2679700" y="21463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med" len="med"/>
          </a:ln>
        </p:spPr>
      </p:cxnSp>
      <p:cxnSp>
        <p:nvCxnSpPr>
          <p:cNvPr id="219" name="Line 220"/>
          <p:cNvCxnSpPr/>
          <p:nvPr/>
        </p:nvCxnSpPr>
        <p:spPr>
          <a:xfrm>
            <a:off x="2679700" y="33909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med" len="med"/>
          </a:ln>
        </p:spPr>
      </p:cxnSp>
      <p:cxnSp>
        <p:nvCxnSpPr>
          <p:cNvPr id="220" name="Line 221"/>
          <p:cNvCxnSpPr/>
          <p:nvPr/>
        </p:nvCxnSpPr>
        <p:spPr>
          <a:xfrm>
            <a:off x="2679700" y="46355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med" len="med"/>
          </a:ln>
        </p:spPr>
      </p:cxnSp>
      <p:cxnSp>
        <p:nvCxnSpPr>
          <p:cNvPr id="221" name="Line 222"/>
          <p:cNvCxnSpPr/>
          <p:nvPr/>
        </p:nvCxnSpPr>
        <p:spPr>
          <a:xfrm>
            <a:off x="5181600" y="21463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22" name="Line 223"/>
          <p:cNvCxnSpPr/>
          <p:nvPr/>
        </p:nvCxnSpPr>
        <p:spPr>
          <a:xfrm>
            <a:off x="5181600" y="33909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23" name="Line 224"/>
          <p:cNvCxnSpPr/>
          <p:nvPr/>
        </p:nvCxnSpPr>
        <p:spPr>
          <a:xfrm>
            <a:off x="5181600" y="46355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24" name="Line 225"/>
          <p:cNvCxnSpPr/>
          <p:nvPr/>
        </p:nvCxnSpPr>
        <p:spPr>
          <a:xfrm>
            <a:off x="5397500" y="2146300"/>
            <a:ext cx="0" cy="248920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25" name="Line 226"/>
          <p:cNvCxnSpPr/>
          <p:nvPr/>
        </p:nvCxnSpPr>
        <p:spPr>
          <a:xfrm>
            <a:off x="5397500" y="33909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med" len="med"/>
          </a:ln>
        </p:spPr>
      </p:cxnSp>
      <p:cxnSp>
        <p:nvCxnSpPr>
          <p:cNvPr id="226" name="Line 227"/>
          <p:cNvCxnSpPr/>
          <p:nvPr/>
        </p:nvCxnSpPr>
        <p:spPr>
          <a:xfrm>
            <a:off x="7391400" y="33909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27" name="Line 228"/>
          <p:cNvCxnSpPr/>
          <p:nvPr/>
        </p:nvCxnSpPr>
        <p:spPr>
          <a:xfrm>
            <a:off x="7607300" y="2755900"/>
            <a:ext cx="0" cy="63500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28" name="Line 229"/>
          <p:cNvCxnSpPr/>
          <p:nvPr/>
        </p:nvCxnSpPr>
        <p:spPr>
          <a:xfrm>
            <a:off x="7607300" y="27559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med" len="med"/>
          </a:ln>
        </p:spPr>
      </p:cxnSp>
      <p:cxnSp>
        <p:nvCxnSpPr>
          <p:cNvPr id="229" name="Line 230"/>
          <p:cNvCxnSpPr/>
          <p:nvPr/>
        </p:nvCxnSpPr>
        <p:spPr>
          <a:xfrm>
            <a:off x="9601200" y="27559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30" name="Line 231"/>
          <p:cNvCxnSpPr/>
          <p:nvPr/>
        </p:nvCxnSpPr>
        <p:spPr>
          <a:xfrm>
            <a:off x="9601200" y="43434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31" name="Line 232"/>
          <p:cNvCxnSpPr/>
          <p:nvPr/>
        </p:nvCxnSpPr>
        <p:spPr>
          <a:xfrm>
            <a:off x="9817100" y="2755900"/>
            <a:ext cx="0" cy="1587500"/>
          </a:xfrm>
          <a:prstGeom prst="line">
            <a:avLst/>
          </a:prstGeom>
          <a:ln w="9525">
            <a:solidFill>
              <a:srgbClr val="8C8C8C"/>
            </a:solidFill>
          </a:ln>
        </p:spPr>
      </p:cxnSp>
      <p:cxnSp>
        <p:nvCxnSpPr>
          <p:cNvPr id="232" name="Line 233"/>
          <p:cNvCxnSpPr/>
          <p:nvPr/>
        </p:nvCxnSpPr>
        <p:spPr>
          <a:xfrm>
            <a:off x="9817100" y="33909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med" len="med"/>
          </a:ln>
        </p:spPr>
      </p:cxnSp>
      <p:cxnSp>
        <p:nvCxnSpPr>
          <p:cNvPr id="233" name="Line 234"/>
          <p:cNvCxnSpPr/>
          <p:nvPr/>
        </p:nvCxnSpPr>
        <p:spPr>
          <a:xfrm>
            <a:off x="558800" y="54356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34" name="Text 235"/>
          <p:cNvSpPr txBox="1"/>
          <p:nvPr/>
        </p:nvSpPr>
        <p:spPr>
          <a:xfrm>
            <a:off x="558800" y="5511800"/>
            <a:ext cx="1107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262626"/>
                </a:solidFill>
                <a:latin typeface="Arial"/>
                <a:cs typeface="Arial"/>
              </a:rPr>
              <a:t>Horizon 4 kuartal (2026Q3–2027Q2); bank dinyatakan gagal bila CAR &lt; 8% di kuartal mana pun. Belum dimodelkan: risiko likuiditas, PD-LGD-EAD, contagion antarbank, dan respons manajemen.</a:t>
            </a:r>
            <a:endParaRPr lang="id-ID" sz="1150" dirty="0">
              <a:solidFill>
                <a:srgbClr val="262626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32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Alur perhitungan: 10 langkah yang diulang setiap kuartal, per bank dan per skenario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595700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Langkah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Apa yang dihitung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Input utama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Dipakai di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0. Posisi awal (sekali)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awal tiap bank dari data 2026Q2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Laporan keuangan bank (Bloomberg)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Semua langkah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1. Variabel skenario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Pertumbuhan nominal, perubahan BI rate, perubahan harga obligasi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Skenario makro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2, 5, 6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2. Neraca dan RWA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Aset, kredit, deposito, surat berharga, RWA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Langkah 0–1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4–7, 10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3. NPL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NPL tiap bank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kuartal lalu, GDP, BI rate, harga properti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4. Provisi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provisi (rupiah)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NPL, gap GDP, kredit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5. Surat berharga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Rugi/untung MTM, dipisah FVTPL dan FVOCI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Perubahan harga obligasi, eksposur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8, 9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6. Bunga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bunga kredit dan beban bunga dana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Suku bunga awal + </a:t>
                      </a:r>
                      <a:r>
                        <a:rPr lang="el-GR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rate, kredit, deposito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4683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7. Nonbunga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fee dan biaya operasional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awal × aset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79789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8. Laba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EBT, pajak, laba bersih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Langkah 4–7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5969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9. Modal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dan Tier 1 akhir kuartal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lalu, laba ditahan, rugi FVOCI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845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10. Rasio dan status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CAR, Tier 1 ratio, status gagal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Modal, RWA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Hasil dan agregasi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28218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554228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Langkah 1–10 diulang 4 kali (2026Q3–2027Q2) untuk 46 bank × 3 skenario; hasil akhir satu kuartal menjadi titik awal kuartal berikutnya. Nomor langkah juga tercantum di flowchart.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115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Langkah 0 · Posisi awal: rasio tiap bank diambil dari data 2026Q2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506752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Periode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Field Bloomberg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Aset, kredit, deposito, modal, Tier 1, RWA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Nilai aktual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2026Q2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BS_TOT_ASSET, BS_TOT_LOAN, BS_CUSTOMER_DEPOSITS, BS_TOT_CAP_FUND, BS_TIER1_CAPITAL, BS_RISK_WEIGHTED_ASSETS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kredit dan deposito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÷ aset; deposito ÷ aset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2026Q2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Suku bunga kredit (per kuartal)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bunga ÷ kredit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Rata-rata 4 kuartal terakhir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IS_INT_INC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dana (per kuartal)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(Pendapatan bunga − bunga bersih) ÷ deposito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Rata-rata 4 kuartal terakhir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nl-NL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IS_INT_INC, NET_INT_INC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pendapatan dan biaya nonbunga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/ biaya nonbunga ÷ aset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Rata-rata 4 kuartal terakhir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r-FR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NON_INT_INC, NON_INT_EXP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kredit dasar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 ÷ kredit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Rata-rata 8 kuartal terakhir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IS_PROV_FOR_LOAN_LOSS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bermasalah ÷ kredit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2026Q2 (histori untuk regresi)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BS_NON_PERFORM_LOANS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232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Surat berharga dan porsi FVTPL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(FVOCI + FVTPL) ÷ kredit; FVTPL ÷ (FVOCI + FVTPL)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2026Q2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AV_SA_FA_AT_FV_THRU_OT_COMP_INC, TRADING_SECS_FA_AT_FV_THRU_PL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539243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50546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Pembersihan data: surat berharga lebih besar dari total aset diganti median KBMI; deposito yang salah skala dalam satu kuartal diganti rata-rata kuartal di sekitarnya (MCOR 2020Q4); BANK dikeluarkan. Bila porsi FVTPL tidak tersedia, dipakai 50%. Semua rasio dihitung per bank.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584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Langkah 1–2 · Skenario diterjemahkan ke pertumbuhan neraca dan RWA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837233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 per kuartal t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Pertumbuhan nominal g(t)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(1 + (GDP riil + CPI) ÷ 100)^(1/4) − 1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dan CPI year-on-year dari skenario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Perubahan BI rate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rate(t) − BI rate(t−1)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Dipakai di langkah 6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Perubahan harga obligasi (%)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−(1 − porsi SRBI 36,2%) × durasi 5 ×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Yield SBN 10Y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Dipakai di langkah 5; SRBI dimiliki hingga jatuh tempo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Aset(t)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i-FI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Aset(t−1) × (1 + g)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RWA(t)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pl-PL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RWA(t−1) × (1 + g)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Tanpa migrasi bobot risiko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kredit awal × Aset(t)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tetap selama horizon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Deposito(t)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deposito awal × Aset(t)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tetap selama horizon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106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Surat berharga(t)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surat berharga awal × Kredit(t)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tetap selama horizon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718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54406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Yield SBN 10Y tiap skenario sudah tersedia di sheet skenario (lihat bagian Asumsi). Neraca dan RWA tumbuh dengan GDP nominal, sehingga inflasi yang lebih tinggi ikut memperbesar RWA.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2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Langkah 3–4 · NPL dan provisi (kanal kredit)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72266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 per kuartal t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Inti NPL(t)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α(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i) + 0,67 × Inti NPL(t−1) + 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β(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k)·GDP(t−k) + 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γ(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k)·BI rate(t−k), k = 1–4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Koefisien dari regresi panel (Lampiran A)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 properti(t)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−0,429 ÷ 4 × Σ ΔHarga properti(t−k), k = 1–4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 (elastisitas Prospera)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NPL(t)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max(Inti NPL + komponen properti, 0)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Rasio, % kredit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kredit dasar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Rata-rata provisi/kredit 8 kuartal terakhir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Tetap per bank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Respons NPL(t)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0,19 × max(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NPL(t), 0) + 0,12 × max(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NPL(t−1), 0)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Regresi panel (Lampiran A)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Overlay(t)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0,03 × max(GDP baseline − GDP skenario, 0) × NPL(t)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Kalibrasi; nol di baseline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provisi(t)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max(biaya dasar + respons, 0) + overlay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% kredit per kuartal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712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Provisi(t), rupiah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provisi ÷ 100 × Kredit(t)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Masuk ke laba (langkah 8)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645465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4450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α(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i) = fixed effect bank i (tingkat NPL normal bank).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Δ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NPL = perubahan NPL dari kuartal sebelumnya; hanya kenaikan yang menambah provisi.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195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Langkah 5–7 · Surat berharga, bunga, dan nonbunga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605120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 per kuartal t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 MTM(t)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−Perubahan harga obligasi ÷ 100 × Surat berharga(t)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Positif = rugi; negatif = untung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 FVTPL(t)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FVTPL × Rugi MTM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Masuk laba (langkah 8)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 FVOCI(t)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(1 − porsi FVTPL) × Rugi MTM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Langsung mengurangi modal (langkah 9)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Suku bunga kredit(t)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Suku bunga kredit(t−1) +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β_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 ×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÷ 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β_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 = 0,145 (transmisi ke kredit)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dana(t)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dana(t−1) +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β_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 ×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÷ 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β_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 = 0,694 (transmisi ke dana)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bunga(t)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Suku bunga kredit ÷ 100 × Kredit(t)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Beban bunga(t)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dana ÷ 100 × Deposito(t)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63457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nonbunga(t)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awal × Aset(t)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Fee dan pendapatan lain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116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nonbunga(t)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awal × Aset(t)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operasional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820789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7879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Perubahan BI rate dibagi 4 karena suku bunga dihitung per kuartal (BI rate adalah suku bunga tahunan).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β = 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porsi perubahan BI rate yang diteruskan ke suku bunga; dasar angkanya di bagian 04.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805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/>
              <a:t>Langkah 8–10 · Laba, modal, dan CAR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394688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 per kuartal t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EBT(t)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bunga − beban bunga + pendapatan nonbunga − biaya nonbunga − provisi − rugi FVTPL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sebelum pajak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Pajak(t)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22% × max(EBT, 0)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 tidak menghasilkan kredit pajak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bersih(t)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EBT − pajak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ditahan(t)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50% × laba bersih bila positif; 100% bila rugi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Dividen 50% dari laba positif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Modal(t−1) + laba ditahan − rugi FVOCI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 yang sama untuk Tier 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r-F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Modal(t) ÷ RWA(t) × 100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Tier 1 ratio(t)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de-D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Tier 1(t) ÷ RWA(t) × 100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23457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Status gagal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r-F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&lt; 8% di salah satu kuartal 2026Q3–2027Q2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Dinilai per bank dan per skenario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091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90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Dari bank ke industri: cara angka hasil dihitung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422269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Indikator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dan Tier 1 industri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÷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RWA (bukan rata-rata CAR bank)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industri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(NPL × kredit) ÷ Σ kredit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Credit loss (% modal)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 selama 4 kuartal ÷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awal (2026Q2)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Market loss (% modal)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 MTM (FVTPL + FVOCI) selama 4 kuartal ÷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awal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bersih (% modal)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bersih selama 4 kuartal ÷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awal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ROA disetahunkan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bersih kuartal × 4 ÷ aset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Kelompok (KBMI, Himbara)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 yang sama, hanya untuk bank dalam kelompok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61355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Jembatan CAR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Tiap komponen modal ÷ RWA awal; efek RWA = CAR akhir − modal akhir ÷ RWA awal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7452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Jumlah bank gagal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Banyaknya bank dengan CAR &lt; 8% di salah satu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15825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7879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Hanya bank dengan proyeksi lengkap di ketiga skenario yang masuk agregat (46 bank). Semua indikator industri dihitung dari jumlah nominal, sehingga bank besar berbobot lebih besar.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49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Asumsi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02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6750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000"/>
              <a:t>Skenario makro: baseline ditambah shock berbasis standar deviasi historis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911662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96200623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 (posisi 2027Q2)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Cara disusun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riil (% yoy)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5,2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0,7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Baseline proyeksi; shock −0,25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σ / −0,5σ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(%)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5,25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6,25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7,25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Judgment: +50 bp / +150 bp (pola 2013, 2018, 2022)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CPI (% yoy)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5,0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6,7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Shock +0,25σ / +0,5σ 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Kurs (Rp/USD)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17.500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19.199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20.521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Shock depresiasi 0,25σ / 0,5σ 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properti (% qoq)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−1,12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−2,50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Judgment; Adverse 1 = 50% shock Adverse 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UST 10Y (%)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4,96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6,11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7,26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Shock +0,25σ / +0,5σ 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SBN 10Y (%)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6,85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8,26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9,45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0,43×ΔUST + 0,13×ΔBI rate + 0,08×Δln kurs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916389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1021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Sumber: data historis BI, BPS, dan Bloomberg (Asset Market Updater, 1 Oktober 2026). Shock bersifat kumulatif per kuartal;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σ = 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standar deviasi historis. Adverse 1 dan Adverse 2 adalah satu jenis guncangan (global) dengan tingkat keparahan berbeda.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17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Adverse 2 adalah guncangan suku bunga global; Adverse 1 versi ringannya</a:t>
            </a:r>
            <a:endParaRPr lang="id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CA79B-8F44-0C5F-9950-7D62ABB4A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168400"/>
            <a:ext cx="7493000" cy="449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E05DA2-20A2-29B6-A344-F1F1363ACDCB}"/>
              </a:ext>
            </a:extLst>
          </p:cNvPr>
          <p:cNvSpPr txBox="1"/>
          <p:nvPr/>
        </p:nvSpPr>
        <p:spPr>
          <a:xfrm>
            <a:off x="8255000" y="1270000"/>
            <a:ext cx="3378200" cy="23237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D" sz="1300">
                <a:solidFill>
                  <a:srgbClr val="262626"/>
                </a:solidFill>
                <a:latin typeface="Arial" panose="020B0604020202020204" pitchFamily="34" charset="0"/>
              </a:rPr>
              <a:t>Yield AS naik 2,8 pp, modal keluar, rupiah melemah 15%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D" sz="1300">
                <a:solidFill>
                  <a:srgbClr val="262626"/>
                </a:solidFill>
                <a:latin typeface="Arial" panose="020B0604020202020204" pitchFamily="34" charset="0"/>
              </a:rPr>
              <a:t>Inflasi impor naik ke 6,7%; BI menaikkan suku bunga 150 bp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D" sz="1300">
                <a:solidFill>
                  <a:srgbClr val="262626"/>
                </a:solidFill>
                <a:latin typeface="Arial" panose="020B0604020202020204" pitchFamily="34" charset="0"/>
              </a:rPr>
              <a:t>Pertumbuhan turun ke 0,7% dan harga properti terkoreksi sekitar 6,5% dalam 4 kuartal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D" sz="1300">
                <a:solidFill>
                  <a:srgbClr val="262626"/>
                </a:solidFill>
                <a:latin typeface="Arial" panose="020B0604020202020204" pitchFamily="34" charset="0"/>
              </a:rPr>
              <a:t>Adverse 1 bergerak ke arah yang sama, dengan besaran sekitar separuhnya</a:t>
            </a:r>
          </a:p>
        </p:txBody>
      </p:sp>
    </p:spTree>
    <p:extLst>
      <p:ext uri="{BB962C8B-B14F-4D97-AF65-F5344CB8AC3E}">
        <p14:creationId xmlns:p14="http://schemas.microsoft.com/office/powerpoint/2010/main" val="418283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Parameter lain: sebagian besar dari data, sisanya judgment yang terdokumentasi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17607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Parameter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Nilai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Sumber / dasar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Data bank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46 bank listed, 2014–2026Q2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Bloomberg BQL (snapshot)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Horizon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 kuartal (2026Q3–2027Q2)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Kerangka stress test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Batas gagal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&lt; 8% di kuartal mana pun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Ketentuan minimum CAR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Pajak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22% dari laba positif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Tarif PPh badan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Dividen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50% dari laba positif; rugi penuh ke modal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Asumsi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 SRBI (tidak di-mark-to-market)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36,2% dari surat berharga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dan DJPPR, data kepemilikan Sep–Okt 2026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Durasi portofolio SBN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 tahun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Asumsi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891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Transmisi BI rate ke bunga kredit (</a:t>
                      </a:r>
                      <a:r>
                        <a:rPr lang="el-GR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β_</a:t>
                      </a: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0,145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da-DK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Transmisi 3 episode kenaikan BI rate × komposisi kredit (BI, Mei 2026)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8292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Transmisi BI rate ke biaya dana (</a:t>
                      </a:r>
                      <a:r>
                        <a:rPr lang="el-GR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β_</a:t>
                      </a: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0,694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Transmisi deposito 1 bulan, diterapkan ke seluruh dana (batas atas)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2606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Overlay provisi (k_stress)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0,03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Kalibrasi ke puncak provisi 2021Q1; estimasi data ≈ 0,02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88427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Elastisitas harga properti (e_prop)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−0,429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Judgment; dari model NPL Prospera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89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125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Satellite model dan transmisi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03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9701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Peta transmisi: bagaimana tiap variabel makro sampai ke laba dan CAR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648028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75539461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 makro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Jalur ke bank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 bank yang terkena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Masuk ke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Saat Adverse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riil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debitur turun, kemampuan bayar melemah (jeda 1–4 kuartal)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(model NPL), lalu provisi (respons + overlay)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→ modal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dan provisi naik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properti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nn-NO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Nilai agunan turun; debitur KPR dan konstruksi tertekan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(komponen properti), lalu provisi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→ modal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Penyumbang terbesar kenaikan NPL (±60%)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Biaya dana naik cepat (69%), bunga kredit lambat (15%); beban bunga debitur naik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Bunga kredit dan dana (÷4 per kuartal); NPL (efek kecil)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(bunga bersih)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Margin tertekan: bunga bersih −3,5% modal (Adverse 2)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UST 10Y, kurs, BI rate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Premi risiko naik, modal asing keluar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Yield SBN 10Y = 0,43×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UST + 0,13×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+ 0,08×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ln kurs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—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nl-NL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Yield SBN naik 2,3 pp (Adverse 2)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Yield SBN 10Y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obligasi turun: −5 × </a:t>
                      </a:r>
                      <a:r>
                        <a:rPr lang="el-GR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yield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Surat berharga FVTPL dan FVOCI (porsi SBN)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FVTPL → laba; FVOCI → modal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 MTM 3,4% modal (Adverse 2)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nominal (GDP + CPI)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Volume usaha bank tumbuh mengikuti ekonomi nominal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Aset, kredit, deposito, RWA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Penyebut CAR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i-FI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RWA tetap tumbuh ±8% karena inflasi naik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26212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CPI tidak langsung memengaruhi NPL di model; pengaruhnya lewat pertumbuhan neraca dan RWA (GDP nominal). Tiga kanal risiko (kredit, bunga, pasar) bertemu di laba, lalu laba yang ditahan dan rugi OCI mengubah modal.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6706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C3AE-9C2B-F42A-3990-41BC02B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sz="2000"/>
              <a:t>Kanal kredit (1): bagaimana NPL bergerak di proyeksi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124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13462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1371600" y="1371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NPL bergerak bertahap mengikuti posisinya kuartal lalu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Sekitar dua pertiga NPL kuartal lalu terbawa ke kuartal ini, sehingga NPL tidak melompat; tiap bank perlahan kembali ke tingkat NPL normalnya.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3" name="Line 204"/>
          <p:cNvCxnSpPr/>
          <p:nvPr/>
        </p:nvCxnSpPr>
        <p:spPr>
          <a:xfrm>
            <a:off x="558800" y="223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4" name="Text 205"/>
          <p:cNvSpPr txBox="1"/>
          <p:nvPr/>
        </p:nvSpPr>
        <p:spPr>
          <a:xfrm>
            <a:off x="558800" y="23368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5" name="Text 206"/>
          <p:cNvSpPr txBox="1"/>
          <p:nvPr/>
        </p:nvSpPr>
        <p:spPr>
          <a:xfrm>
            <a:off x="1371600" y="23622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GDP melambat → NPL naik, dengan jeda 1–4 kuartal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Debitur butuh waktu sebelum gagal bayar. Efek jangka panjang: GDP turun 1 pp → NPL naik ±0,12 pp.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6" name="Line 207"/>
          <p:cNvCxnSpPr/>
          <p:nvPr/>
        </p:nvCxnSpPr>
        <p:spPr>
          <a:xfrm>
            <a:off x="558800" y="3225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7" name="Text 208"/>
          <p:cNvSpPr txBox="1"/>
          <p:nvPr/>
        </p:nvSpPr>
        <p:spPr>
          <a:xfrm>
            <a:off x="558800" y="33274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08" name="Text 209"/>
          <p:cNvSpPr txBox="1"/>
          <p:nvPr/>
        </p:nvSpPr>
        <p:spPr>
          <a:xfrm>
            <a:off x="1371600" y="33528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BI rate naik → beban bunga debitur naik, efek ke NPL kecil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Di data Indonesia pengaruh BI rate ke NPL hampir tidak terlihat; dampak suku bunga lebih besar lewat margin bunga dan harga obligasi.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9" name="Line 210"/>
          <p:cNvCxnSpPr/>
          <p:nvPr/>
        </p:nvCxnSpPr>
        <p:spPr>
          <a:xfrm>
            <a:off x="558800" y="421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0" name="Text 211"/>
          <p:cNvSpPr txBox="1"/>
          <p:nvPr/>
        </p:nvSpPr>
        <p:spPr>
          <a:xfrm>
            <a:off x="558800" y="43180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11" name="Text 212"/>
          <p:cNvSpPr txBox="1"/>
          <p:nvPr/>
        </p:nvSpPr>
        <p:spPr>
          <a:xfrm>
            <a:off x="1371600" y="4343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Harga properti turun → nilai agunan dan kemampuan bayar turun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Harga properti turun 1% per kuartal selama setahun menaikkan NPL ±0,43 pp. Elastisitas ini judgment yang diambil dari model Prospera.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558800" y="5207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3" name="Text 214"/>
          <p:cNvSpPr/>
          <p:nvPr/>
        </p:nvSpPr>
        <p:spPr>
          <a:xfrm>
            <a:off x="558800" y="5384800"/>
            <a:ext cx="11074400" cy="508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52400" tIns="45720" rIns="15240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300" b="1">
                <a:solidFill>
                  <a:srgbClr val="000000"/>
                </a:solidFill>
                <a:latin typeface="Arial"/>
                <a:cs typeface="Arial"/>
              </a:rPr>
              <a:t>Rincian spesifikasi, tabel regresi, dan uji statistik ada di Lampiran A.</a:t>
            </a:r>
            <a:endParaRPr lang="id-ID" sz="13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746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Kenaikan NPL di skenario adverse terutama berasal dari komponen harga properti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211063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49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Selisih NPL vs Baseline (pp)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2026Q4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2027Q1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2027Q2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1: GDP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0,02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0,07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1: BI rate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0,08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1: harga properti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0,04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0,25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1: total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0,04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0,19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2: GDP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0,06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0,16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2: BI rate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0,08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2: harga properti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0,08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0,27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0,51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4255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2: total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0,81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238245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4450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Efek makro baru terasa satu kuartal kemudian karena model memakai lag (2026Q3 = 0). Total = selisih NPL industri terhadap baseline di akhir horizon: Adverse 1 2,66% vs 2,25%, Adverse 2 3,06% vs 2,25%. Sekitar 60% kenaikan berasal dari komponen harga properti.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2752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Kanal kredit (2): biaya kredit naik 3,4 kali lewat respons NPL dan overlay stres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607795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 (% kredit per kuartal, industri)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Rumus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Baseline 2027Q2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 2027Q2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1. Biaya kredit dasar (jangkar)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Rata-rata provisi/kredit 8 kuartal terakhir tiap bank; tetap selama horizon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0,19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0,19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2. Respons kenaikan NPL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0,19 × Δ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NPL⁺(t) + 0,12 ×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NPL⁺(t−1)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3. Overlay stres (forward-looking)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0,03 × (GDP baseline − GDP skenario) × NPL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Tambahan karena stres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 + 3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0,53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Total provisi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 + 2 + 3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0,72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351536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Biaya kredit dasar sengaja tetap: ini tingkat normal tiap bank. Efek stres masuk lewat (2) kenaikan NPL dan (3) overlay, yaitu tambahan cadangan saat ekonomi di bawah baseline sebelum NPL naik (sejalan dengan ECL forward-looking PSAK 71). k = 0,03 dikalibrasi supaya credit loss Adverse 2 setara puncak provisi 4 kuartal di data (2021Q1); bila komponen 1 ikut dinaikkan, guncangan yang sama terhitung dua kali. Overlay menyumbang 46% credit loss Adverse 2 dan 29% Adverse 1. Keterbatasan: overlay dipicu gap GDP, bukan BI rate secara langsung. Total sedikit di atas jumlah komponen karena (1) + (2) dibatasi minimal nol per bank.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219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Kanal pasar: kenaikan yield SBN menurunkan nilai surat berharga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277364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Langkah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 (kumulatif)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1. Yield SBN 10Y naik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Digerakkan yield AS (UST), BI rate, dan pelemahan rupiah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7,16% → 9,45% (+2,3 pp)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2. Harga obligasi turun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i-FI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Perubahan harga = −durasi (5 tahun) × kenaikan yield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Turun ±11,5%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3. Eksposur yang direvaluasi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Surat berharga FVTPL dan FVOCI, hanya porsi SBN; SRBI (36%) dimiliki hingga jatuh tempo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±64% portofolio nilai wajar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4. Pencatatan akuntansi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FVTPL: rugi masuk laba (mengurangi pajak); FVOCI: rugi langsung mengurangi modal lewat OCI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FVTPL 1,6% + FVOCI 1,7% modal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5. Total rugi MTM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Terkonsentrasi di bank dengan porsi surat berharga besar (BINA, BCIC)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3,4% modal industri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361442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Di baseline yield SBN turun (7,16% → 6,85%), sehingga bank justru mencatat keuntungan revaluasi ±0,5% modal. Risiko kurs langsung (posisi devisa neto) belum dimodelkan.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9917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Estimasi akuntansi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04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213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2000"/>
              <a:t>Komponen lain dihitung dengan rule dan identitas akuntansi, bukan regresi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96616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Cara dihitung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Jenis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Aset, kredit, deposito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Tumbuh dengan GDP nominal skenario; rasio kredit dan deposito terhadap aset tetap (posisi 2026Q2)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RWA / ATMR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Tumbuh dengan GDP nominal skenario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Rule · Langkah 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Bunga kredit dan dana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Rate 4 kuartal terakhir +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 ×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perubahan BI rate ÷ 4 per kuartal;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0,145,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dana 0,694 (transmisi parsial)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Pendapatan dan biaya nonbunga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i-FI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Rasio 4 kuartal terakhir × aset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Kerugian surat berharga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(FVTPL + FVOCI) × porsi SBN × (−5 × </a:t>
                      </a: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yield SBN); FVTPL ke laba, FVOCI ke modal (OCI)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EBT = bunga bersih + nonbunga − biaya − provisi − rugi FVTPL; pajak 22%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Identitas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dan CAR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Modal = modal lalu + 50% laba (rugi penuh) − rugi OCI; CAR = modal ÷ RWA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Identitas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38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341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Transmisi BI rate: biaya dana naik jauh lebih cepat dari bunga kredit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519750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Produk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Transmisi </a:t>
                      </a:r>
                      <a:r>
                        <a:rPr lang="el-GR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Porsi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Deposito 1 bulan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0,694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35,7% DPK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Tabungan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30,6% DPK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modal kerja (KMK)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0,144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42,3% kredit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investasi (KI)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0,194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30,5% kredit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konsumsi (KK)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0,091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27,2% kredit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 </a:t>
                      </a: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(tertimbang)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0,145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Dipakai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β </a:t>
                      </a: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dana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0,694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Dipakai (batas atas)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801123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1021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β =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perubahan suku bunga produk ÷ kenaikan BI rate, rata-rata episode kenaikan 2018–19 (175 bp), 2022–24 (275 bp), dan 2026 (100 bp). Porsi kredit: BI, posisi Mei 2026; porsi DPK: LPS, Desember 2025.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β 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dana memakai transmisi deposito untuk seluruh dana (batas atas tekanan margin); bila giro dianggap setengah deposito,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β 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dana ≈ 0,37. Efek dihitung terhadap suku bunga baseline.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3" name="Table 201">
            <a:extLst>
              <a:ext uri="{FF2B5EF4-FFF2-40B4-BE49-F238E27FC236}">
                <a16:creationId xmlns:a16="http://schemas.microsoft.com/office/drawing/2014/main" id="{A018F4DA-B084-C5BE-CADD-BC79D7596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827814"/>
              </p:ext>
            </p:extLst>
          </p:nvPr>
        </p:nvGraphicFramePr>
        <p:xfrm>
          <a:off x="5892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nn-NO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Efek ke bunga (% modal, 4 kuartal)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Tambahan pendapatan bunga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+0,39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+0,86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Tambahan beban bunga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−1,95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−4,36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Efek ke bunga bersih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−1,56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−3,50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643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Jembatan CAR: provisi, margin bunga, dan surat berharga yang membedakan hasil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807448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49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 (pp CAR)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awal 2026Q2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22,53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22,53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22,53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operasional sebelum provisi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+5,68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+5,33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+4,88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 (credit loss)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−1,06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−1,61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−2,33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Rugi/untung surat berharga FVTPL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+0,05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−0,18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−0,37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Pajak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−1,03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−0,80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−0,55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Dividen (50% laba)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−1,83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−1,42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−0,98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Rugi/untung FVOCI (OCI)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+0,05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−0,19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−0,39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2576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Efek pertumbuhan RWA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−1,86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−1,80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−1,65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33875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akhir 2027Q2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22,53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21,87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21,14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901199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7879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Komponen modal dinyatakan dalam pp CAR terhadap RWA awal; efek RWA = penurunan CAR karena RWA tumbuh ±8% (GDP nominal). Laba operasional turun di skenario adverse karena biaya dana naik lebih cepat dari bunga kredit; ditambah provisi dan surat berharga, inilah yang membedakan CAR antarskenario. Pajak dan dividen ikut turun ketika laba turun, sehingga meredam sebagian kerugian.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0193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Hasil stress test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05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452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000"/>
              <a:t>CAR industri tetap jauh di atas 8% di semua skenario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551826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49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Indikator (akhir 2027Q2)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1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(%; awal 22,53)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22,53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21,87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21,14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Tier 1 (%)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21,42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20,76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20,03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(%; awal 2,10)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2,25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2,66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3,06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Credit loss (% modal)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4,7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7,1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10,3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Market loss (% modal)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−0,5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1,6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3,4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bersih 4 kuartal (% modal)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16,1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12,2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7,2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Bank dengan CAR &lt; 8%</a:t>
                      </a:r>
                      <a:endParaRPr lang="id-ID" sz="12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lang="id-ID" sz="12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6567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1021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Kerugian dan laba kumulatif 4 kuartal, dalam % modal awal; 46 bank. Market loss negatif di baseline = keuntungan revaluasi karena yield SBN turun.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865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000"/>
              <a:t>CAR turun bertahap; NPL naik paling tajam di Adverse 2 saat koreksi properti berjalan</a:t>
            </a:r>
            <a:endParaRPr lang="id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41872-65AC-07F6-409C-247DCAF3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0000"/>
            <a:ext cx="5384800" cy="3230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5D1C05-7FBE-7F14-49FB-483B6742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70000"/>
            <a:ext cx="5384800" cy="3230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BCF76D-F8C5-4B27-5D98-2728D3190DED}"/>
              </a:ext>
            </a:extLst>
          </p:cNvPr>
          <p:cNvSpPr txBox="1"/>
          <p:nvPr/>
        </p:nvSpPr>
        <p:spPr>
          <a:xfrm>
            <a:off x="558800" y="5080000"/>
            <a:ext cx="11074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CAR industri (kiri) dan NPL industri (kanan), tertimbang; garis putus-putus = data aktual terakhir (2026Q2).</a:t>
            </a:r>
          </a:p>
        </p:txBody>
      </p:sp>
    </p:spTree>
    <p:extLst>
      <p:ext uri="{BB962C8B-B14F-4D97-AF65-F5344CB8AC3E}">
        <p14:creationId xmlns:p14="http://schemas.microsoft.com/office/powerpoint/2010/main" val="3348795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Kerugian didominasi risiko kredit; laba industri tetap positif di semua skenario</a:t>
            </a:r>
            <a:endParaRPr lang="id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40FED-6E9D-F0A7-BA10-ED903442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0000"/>
            <a:ext cx="5384800" cy="3230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E328B-0AD9-7B4E-9C99-537ED029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70000"/>
            <a:ext cx="5384800" cy="3230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FEED7E-1BE8-C19C-3BB9-9CE4F0107D4C}"/>
              </a:ext>
            </a:extLst>
          </p:cNvPr>
          <p:cNvSpPr txBox="1"/>
          <p:nvPr/>
        </p:nvSpPr>
        <p:spPr>
          <a:xfrm>
            <a:off x="558800" y="5080000"/>
            <a:ext cx="11074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Kiri: komposisi kerugian per kuartal (% kredit). Kanan: laba bersih terhadap aset, disetahunkan. ROA disetahunkan turun dari 2,1% ke 1,3% (Adverse 1) dan 0,2% (Adverse 2) pada 2027Q2.</a:t>
            </a:r>
          </a:p>
        </p:txBody>
      </p:sp>
    </p:spTree>
    <p:extLst>
      <p:ext uri="{BB962C8B-B14F-4D97-AF65-F5344CB8AC3E}">
        <p14:creationId xmlns:p14="http://schemas.microsoft.com/office/powerpoint/2010/main" val="2388473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KBMI 2 paling tertekan: merugi dan CAR turun ke 16,6% di Adverse 2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627375"/>
              </p:ext>
            </p:extLst>
          </p:nvPr>
        </p:nvGraphicFramePr>
        <p:xfrm>
          <a:off x="6731000" y="1397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Kelompok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awal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Adv 2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(% modal)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KBMI 1 (24)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33,7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27,1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−3,6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KBMI 2 (8)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16,6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−7,0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KBMI 3 (10)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25,2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22,8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1,8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KBMI 4 (4)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21,0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20,6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12,1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AD6E159-72AE-F6BB-3938-95435743F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0000"/>
            <a:ext cx="5969000" cy="3581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12B150-32EC-C526-D6AB-78C3747AF517}"/>
              </a:ext>
            </a:extLst>
          </p:cNvPr>
          <p:cNvSpPr txBox="1"/>
          <p:nvPr/>
        </p:nvSpPr>
        <p:spPr>
          <a:xfrm>
            <a:off x="6731000" y="3200400"/>
            <a:ext cx="4902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Laba = laba bersih kumulatif 4 kuartal di Adverse 2. KBMI 4 tetap mencetak laba besar sehingga CAR hampir tidak turun.</a:t>
            </a:r>
          </a:p>
        </p:txBody>
      </p:sp>
    </p:spTree>
    <p:extLst>
      <p:ext uri="{BB962C8B-B14F-4D97-AF65-F5344CB8AC3E}">
        <p14:creationId xmlns:p14="http://schemas.microsoft.com/office/powerpoint/2010/main" val="822603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Himbara lebih tahan: laba besar menyerap credit loss yang lebih tinggi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995510"/>
              </p:ext>
            </p:extLst>
          </p:nvPr>
        </p:nvGraphicFramePr>
        <p:xfrm>
          <a:off x="6731000" y="1397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Adverse 2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Himbara (5)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Non-Himbara (41)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awal (%)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19,4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26,8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akhir (%)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18,8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24,4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akhir (%)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3,1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3,1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Credit loss (% modal)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12,3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8,3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Market loss (% modal)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2,6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4,2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Laba (% modal)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9,9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4,6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Bank CAR &lt; 8%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20419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0D1241A-EBC3-3F4E-84A9-7E8CD8555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0000"/>
            <a:ext cx="5969000" cy="3581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37DAB8-0D6E-3C00-137F-92E573AFF3CE}"/>
              </a:ext>
            </a:extLst>
          </p:cNvPr>
          <p:cNvSpPr txBox="1"/>
          <p:nvPr/>
        </p:nvSpPr>
        <p:spPr>
          <a:xfrm>
            <a:off x="6731000" y="4229100"/>
            <a:ext cx="4902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Himbara: BRI, Mandiri, BNI, BTN, dan BSI (BSI dimasukkan sebagai bank milik negara melalui induknya).</a:t>
            </a:r>
          </a:p>
        </p:txBody>
      </p:sp>
    </p:spTree>
    <p:extLst>
      <p:ext uri="{BB962C8B-B14F-4D97-AF65-F5344CB8AC3E}">
        <p14:creationId xmlns:p14="http://schemas.microsoft.com/office/powerpoint/2010/main" val="1557488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Dua bank gagal di Adverse 2, keduanya karena kerugian surat berharga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656213"/>
              </p:ext>
            </p:extLst>
          </p:nvPr>
        </p:nvGraphicFramePr>
        <p:xfrm>
          <a:off x="6731000" y="1397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0355236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Bank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awal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Min. Adv 1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Min. Adv 2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Penyebab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BINA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15,3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9,0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4,3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MTM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BCIC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14,5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9,6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4,5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MTM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MAYA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11,1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9,7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8,8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 awal tipis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BBKP</a:t>
                      </a:r>
                      <a:endParaRPr lang="id-ID" sz="115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17,0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12,2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9,7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5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</a:t>
                      </a:r>
                      <a:endParaRPr lang="id-ID" sz="115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EB6062C-5F04-18CB-E937-A06F298B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0000"/>
            <a:ext cx="5969000" cy="3581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5279EE-42E1-6A3E-7F41-940D2BFC17B4}"/>
              </a:ext>
            </a:extLst>
          </p:cNvPr>
          <p:cNvSpPr txBox="1"/>
          <p:nvPr/>
        </p:nvSpPr>
        <p:spPr>
          <a:xfrm>
            <a:off x="6731000" y="3200400"/>
            <a:ext cx="49022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BINA dan BCIC melaporkan surat berharga FV 6–7 kali modal (rata-rata industri 0,7 kali); angka ini perlu diverifikasi ke laporan keuangan sebelum disimpulkan.</a:t>
            </a:r>
          </a:p>
        </p:txBody>
      </p:sp>
    </p:spTree>
    <p:extLst>
      <p:ext uri="{BB962C8B-B14F-4D97-AF65-F5344CB8AC3E}">
        <p14:creationId xmlns:p14="http://schemas.microsoft.com/office/powerpoint/2010/main" val="2228494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C3AE-9C2B-F42A-3990-41BC02B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Kesimpulan dan tindak lanjut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124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13462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1371600" y="1371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Sistem perbankan tahan terhadap skenario berat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CAR industri tetap di atas 21% dan tidak ada bank besar yang mendekati batas minimum.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3" name="Line 204"/>
          <p:cNvCxnSpPr/>
          <p:nvPr/>
        </p:nvCxnSpPr>
        <p:spPr>
          <a:xfrm>
            <a:off x="558800" y="223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4" name="Text 205"/>
          <p:cNvSpPr txBox="1"/>
          <p:nvPr/>
        </p:nvSpPr>
        <p:spPr>
          <a:xfrm>
            <a:off x="558800" y="23368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5" name="Text 206"/>
          <p:cNvSpPr txBox="1"/>
          <p:nvPr/>
        </p:nvSpPr>
        <p:spPr>
          <a:xfrm>
            <a:off x="1371600" y="23622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Risiko kredit adalah kanal utama, risiko pasar terkonsentrasi di bank kecil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Credit loss 75% dari total kerugian; margin bunga tertekan saat BI rate naik; kerugian MTM menekan bank dengan porsi surat berharga besar.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6" name="Line 207"/>
          <p:cNvCxnSpPr/>
          <p:nvPr/>
        </p:nvCxnSpPr>
        <p:spPr>
          <a:xfrm>
            <a:off x="558800" y="3225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7" name="Text 208"/>
          <p:cNvSpPr txBox="1"/>
          <p:nvPr/>
        </p:nvSpPr>
        <p:spPr>
          <a:xfrm>
            <a:off x="558800" y="33274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08" name="Text 209"/>
          <p:cNvSpPr txBox="1"/>
          <p:nvPr/>
        </p:nvSpPr>
        <p:spPr>
          <a:xfrm>
            <a:off x="1371600" y="33528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500" b="1">
                <a:solidFill>
                  <a:srgbClr val="000000"/>
                </a:solidFill>
                <a:latin typeface="Arial"/>
                <a:cs typeface="Arial"/>
              </a:rPr>
              <a:t>Hasil sensitif terhadap tiga asumsi judgment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300">
                <a:solidFill>
                  <a:srgbClr val="262626"/>
                </a:solidFill>
                <a:latin typeface="Arial"/>
                <a:cs typeface="Arial"/>
              </a:rPr>
              <a:t>Overlay provisi (0,03 vs estimasi data 0,02), elastisitas harga properti, dan transmisi biaya dana (0,694 = batas atas); dampaknya pada NPL, credit loss, dan bunga bersih.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9" name="Line 210"/>
          <p:cNvCxnSpPr/>
          <p:nvPr/>
        </p:nvCxnSpPr>
        <p:spPr>
          <a:xfrm>
            <a:off x="558800" y="421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0" name="Text 211"/>
          <p:cNvSpPr txBox="1"/>
          <p:nvPr/>
        </p:nvSpPr>
        <p:spPr>
          <a:xfrm>
            <a:off x="558800" y="43180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11" name="Text 212"/>
          <p:cNvSpPr txBox="1"/>
          <p:nvPr/>
        </p:nvSpPr>
        <p:spPr>
          <a:xfrm>
            <a:off x="1371600" y="4343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Tindak lanjut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Verifikasi data surat berharga BINA dan BCIC, perbaiki bias model NPL, dan perpanjang horizon ke 6–8 kuartal.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558800" y="5207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3" name="Text 214"/>
          <p:cNvSpPr/>
          <p:nvPr/>
        </p:nvSpPr>
        <p:spPr>
          <a:xfrm>
            <a:off x="558800" y="5384800"/>
            <a:ext cx="11074400" cy="508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52400" tIns="45720" rIns="15240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Pesan utama:</a:t>
            </a:r>
            <a:r>
              <a:rPr lang="id-ID" sz="1300">
                <a:solidFill>
                  <a:srgbClr val="000000"/>
                </a:solidFill>
                <a:latin typeface="Arial"/>
                <a:cs typeface="Arial"/>
              </a:rPr>
              <a:t> tidak ada risiko solvabilitas sistemik; perhatian difokuskan pada bank kecil dengan eksposur surat berharga besar dan pada kelompok KBMI 2.</a:t>
            </a:r>
            <a:endParaRPr lang="id-ID" sz="13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989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363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Lampiran: detail statistik satellite model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A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833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C3AE-9C2B-F42A-3990-41BC02B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Satellite model menerjemahkan skenario makro menjadi risiko kredit bank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124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13462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1371600" y="1371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Apa itu satellite model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Persamaan yang menghubungkan variabel makro (GDP, BI rate, harga properti) dengan variabel risiko bank (NPL dan provisi), yang kemudian masuk ke laba dan modal.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3" name="Line 204"/>
          <p:cNvCxnSpPr/>
          <p:nvPr/>
        </p:nvCxnSpPr>
        <p:spPr>
          <a:xfrm>
            <a:off x="558800" y="223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4" name="Text 205"/>
          <p:cNvSpPr txBox="1"/>
          <p:nvPr/>
        </p:nvSpPr>
        <p:spPr>
          <a:xfrm>
            <a:off x="558800" y="23368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5" name="Text 206"/>
          <p:cNvSpPr txBox="1"/>
          <p:nvPr/>
        </p:nvSpPr>
        <p:spPr>
          <a:xfrm>
            <a:off x="1371600" y="23622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Model 1: NPL (regresi panel, 46 bank)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NPL tiap bank dijelaskan oleh NPL kuartal lalu, pertumbuhan GDP, dan BI rate; ditambah komponen harga properti dari model Prospera.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6" name="Line 207"/>
          <p:cNvCxnSpPr/>
          <p:nvPr/>
        </p:nvCxnSpPr>
        <p:spPr>
          <a:xfrm>
            <a:off x="558800" y="3225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7" name="Text 208"/>
          <p:cNvSpPr txBox="1"/>
          <p:nvPr/>
        </p:nvSpPr>
        <p:spPr>
          <a:xfrm>
            <a:off x="558800" y="33274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08" name="Text 209"/>
          <p:cNvSpPr txBox="1"/>
          <p:nvPr/>
        </p:nvSpPr>
        <p:spPr>
          <a:xfrm>
            <a:off x="1371600" y="33528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Model 2: respons provisi (regresi panel, 46 bank)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Mengukur seberapa besar provisi naik ketika NPL naik; ditambah overlay stres yang dikaitkan dengan penurunan GDP.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9" name="Line 210"/>
          <p:cNvCxnSpPr/>
          <p:nvPr/>
        </p:nvCxnSpPr>
        <p:spPr>
          <a:xfrm>
            <a:off x="558800" y="421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0" name="Text 211"/>
          <p:cNvSpPr txBox="1"/>
          <p:nvPr/>
        </p:nvSpPr>
        <p:spPr>
          <a:xfrm>
            <a:off x="558800" y="43180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11" name="Text 212"/>
          <p:cNvSpPr txBox="1"/>
          <p:nvPr/>
        </p:nvSpPr>
        <p:spPr>
          <a:xfrm>
            <a:off x="1371600" y="4343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Komponen lain tidak memakai regresi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Neraca, bunga, surat berharga, pajak, dan modal dihitung dengan rule dan identitas akuntansi (dibahas di bagian 04).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558800" y="5207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3" name="Text 214"/>
          <p:cNvSpPr/>
          <p:nvPr/>
        </p:nvSpPr>
        <p:spPr>
          <a:xfrm>
            <a:off x="558800" y="5384800"/>
            <a:ext cx="11074400" cy="508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52400" tIns="45720" rIns="15240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Cara membaca regresi:</a:t>
            </a:r>
            <a:r>
              <a:rPr lang="id-ID" sz="1300">
                <a:solidFill>
                  <a:srgbClr val="000000"/>
                </a:solidFill>
                <a:latin typeface="Arial"/>
                <a:cs typeface="Arial"/>
              </a:rPr>
              <a:t> koefisien = perubahan variabel dependen (pp) bila prediktor naik 1 unit; p-value &lt; 0,05 = signifikan; R² within = porsi naik-turun NPL tiap bank dari waktu ke waktu yang dijelaskan model.</a:t>
            </a:r>
            <a:endParaRPr lang="id-ID" sz="13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1510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Model NPL: spesifikasi dan definisi variabel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63105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6828508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Definisi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Satuan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Waktu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Sumber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(dependen)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Kredit bermasalah ÷ total kredit, per bank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Bloomberg (laporan keuangan bank)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kuartal lalu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bank yang sama satu kuartal sebelumnya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t−1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Bloomberg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Pertumbuhan GDP riil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Pertumbuhan PDB riil, year-on-year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t−1 s.d. t−4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BPS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Suku bunga kebijakan Bank Indonesia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t−1 s.d. t−4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Bank Indonesia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properti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Indeks harga properti residensial, perubahan 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t−1 s.d. t−4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BI; elastisitas dari model Prospera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Fixed effect bank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Konstanta khusus tiap bank = tingkat NPL normalnya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Diestimasi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385826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Persamaan: NPL(i,t) =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α(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i) +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ρ·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NPL(i,t−1) +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Σ β(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k)·GDP(t−k) +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Σ γ(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k)·BI rate(t−k) + komponen properti + error, dengan k = 1 s.d. 4. Komponen properti = −0,429 ÷ 4 ×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Σ Δ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Harga properti(t−k), dihitung di luar regresi: NPL dikurangi komponen ini sebelum diestimasi. i = bank, t = kuartal.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1597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Model NPL: hasil regresi lengkap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543869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63381310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038384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Koef.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SE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IK 95%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t−1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0,674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0,049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13,90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[0,577; 0,772]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t−1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0,017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0,837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[−0,031; 0,038]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t−2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−0,073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0,045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−1,63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[−0,163; 0,017]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t−3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0,020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0,017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1,16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0,252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[−0,015; 0,054]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 t−4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0,020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0,55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0,584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[−0,029; 0,050]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t−1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1,01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0,318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[−0,119; 0,358]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t−2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−0,134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0,180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−0,75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0,460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[−0,495; 0,228]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82032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t−3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0,149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0,905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[−0,283; 0,319]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0515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 t−4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0,069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0,13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0,896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[−0,129; 0,147]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81944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Konstanta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1,138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0,201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5,65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[0,732; 1,543]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742109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51308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Metode: regresi panel fixed effects; standar error clustered per bank. Yang signifikan hanya persistensi NPL. Koefisien GDP dan BI rate tidak signifikan, baik satu per satu maupun bersama-sama: arah GDP (total −0,04) sesuai teori, tetapi besarnya tidak presisi. SE = standar error; IK = interval kepercayaan.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3" name="Table 201">
            <a:extLst>
              <a:ext uri="{FF2B5EF4-FFF2-40B4-BE49-F238E27FC236}">
                <a16:creationId xmlns:a16="http://schemas.microsoft.com/office/drawing/2014/main" id="{14FD6BD0-D141-93CB-7F05-B92DE9D8F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42964"/>
              </p:ext>
            </p:extLst>
          </p:nvPr>
        </p:nvGraphicFramePr>
        <p:xfrm>
          <a:off x="70104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Statistik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Nilai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Observasi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1.619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Jumlah bank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Periode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2016Q3–2026Q2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Obs. per bank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17–40 (rata-rata 35)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 within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0,48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 between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0,996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 overall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0,71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16395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Uji F (semua koef.)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55,0 (p &lt; 0,001)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8694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Uji gabungan GDP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0,60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7694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Uji gabungan BI rate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0,87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017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927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C3AE-9C2B-F42A-3990-41BC02B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Cara membaca hasil model NPL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124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13462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1371600" y="1371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Persistensi 0,67: NPL berubah bertahap, tidak melompat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67% posisi NPL kuartal lalu terbawa ke kuartal ini; separuh guncangan hilang dalam ±1,8 kuartal, dan NPL tiap bank kembali ke tingkat normalnya (fixed effect).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3" name="Line 204"/>
          <p:cNvCxnSpPr/>
          <p:nvPr/>
        </p:nvCxnSpPr>
        <p:spPr>
          <a:xfrm>
            <a:off x="558800" y="223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4" name="Text 205"/>
          <p:cNvSpPr txBox="1"/>
          <p:nvPr/>
        </p:nvSpPr>
        <p:spPr>
          <a:xfrm>
            <a:off x="558800" y="23368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5" name="Text 206"/>
          <p:cNvSpPr txBox="1"/>
          <p:nvPr/>
        </p:nvSpPr>
        <p:spPr>
          <a:xfrm>
            <a:off x="1371600" y="23622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GDP: arah sesuai teori, efeknya kecil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Total koefisien −0,04 per kuartal; efek jangka panjang = −0,04 ÷ (1 − 0,67) ≈ −0,12. Artinya GDP turun 1 pp → NPL akhirnya naik ±0,12 pp.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6" name="Line 207"/>
          <p:cNvCxnSpPr/>
          <p:nvPr/>
        </p:nvCxnSpPr>
        <p:spPr>
          <a:xfrm>
            <a:off x="558800" y="3225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7" name="Text 208"/>
          <p:cNvSpPr txBox="1"/>
          <p:nvPr/>
        </p:nvSpPr>
        <p:spPr>
          <a:xfrm>
            <a:off x="558800" y="33274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08" name="Text 209"/>
          <p:cNvSpPr txBox="1"/>
          <p:nvPr/>
        </p:nvSpPr>
        <p:spPr>
          <a:xfrm>
            <a:off x="1371600" y="33528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BI rate: praktis tidak berpengaruh ke NPL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Total +0,01 (jangka panjang +0,04 per 1 pp), tidak signifikan. Dampak suku bunga ke bank lebih banyak lewat pendapatan bunga dan harga surat berharga.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9" name="Line 210"/>
          <p:cNvCxnSpPr/>
          <p:nvPr/>
        </p:nvCxnSpPr>
        <p:spPr>
          <a:xfrm>
            <a:off x="558800" y="421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0" name="Text 211"/>
          <p:cNvSpPr txBox="1"/>
          <p:nvPr/>
        </p:nvSpPr>
        <p:spPr>
          <a:xfrm>
            <a:off x="558800" y="43180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11" name="Text 212"/>
          <p:cNvSpPr txBox="1"/>
          <p:nvPr/>
        </p:nvSpPr>
        <p:spPr>
          <a:xfrm>
            <a:off x="1371600" y="4343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Mengapa efek makro terlihat kecil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Periode estimasi didominasi pertumbuhan stabil ±5%, dan restrukturisasi kredit era COVID (POJK 11/2020) menahan NPL saat GDP jatuh, sehingga sensitivitasnya tampak rendah.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558800" y="5207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3" name="Text 214"/>
          <p:cNvSpPr/>
          <p:nvPr/>
        </p:nvSpPr>
        <p:spPr>
          <a:xfrm>
            <a:off x="558800" y="5384800"/>
            <a:ext cx="11074400" cy="508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52400" tIns="45720" rIns="15240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sv-SE" sz="1300" b="1">
                <a:solidFill>
                  <a:srgbClr val="000000"/>
                </a:solidFill>
                <a:latin typeface="Arial"/>
                <a:cs typeface="Arial"/>
              </a:rPr>
              <a:t>Implikasi:</a:t>
            </a:r>
            <a:r>
              <a:rPr lang="sv-SE" sz="1300">
                <a:solidFill>
                  <a:srgbClr val="000000"/>
                </a:solidFill>
                <a:latin typeface="Arial"/>
                <a:cs typeface="Arial"/>
              </a:rPr>
              <a:t> model NPL saja hampir tidak membedakan skenario. Karena itu ditambahkan komponen harga properti (judgment) di NPL dan overlay stres di provisi.</a:t>
            </a:r>
            <a:endParaRPr lang="id-ID" sz="13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4987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000"/>
              <a:t>Komponen harga properti diambil dari Prospera karena tidak bisa diestimasi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83759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Aspek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Masalah data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Indeks harga properti tidak pernah turun dalam sampel (pertumbuhan +0,04% s.d. +1,39% per kuartal), padahal skenario Adverse 2 −2,5% 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Hasil estimasi sendiri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Koefisien bertanda salah (total +0,18): harga properti turun justru membuat NPL turun. Tidak dipakai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Pendekatan yang dipakai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Elastisitas total −0,429 dari model NPL Prospera (data 2014–2024Q2), dibagi rata ke lag 1–4; di model Prospera sendiri jumlah ini tidak signifikan (p = 0,21)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Cara masuk ke model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 statis di atas inti model NPL, sehingga tidak dilipatgandakan oleh persistensi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Contoh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properti turun 2,5% per kuartal selama 4 kuartal → NPL lebih tinggi ±1,1 pp dibanding harga tidak berubah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Judgment; ditampilkan sebagai asumsi (e_prop = −0,429) dan bisa dimatikan untuk melihat hasil model murni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Model NPL mengikuti pola historis, tetapi cenderung terlalu tinggi</a:t>
            </a:r>
            <a:endParaRPr lang="id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C4304-278C-47A5-BD7E-CB04FD15E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0000"/>
            <a:ext cx="5384800" cy="3230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02A70C-2DD6-40D9-7CDE-2483C2921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70000"/>
            <a:ext cx="5384800" cy="3230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CA0FBD-6DC1-DA14-408E-1F9C3E5CC4DF}"/>
              </a:ext>
            </a:extLst>
          </p:cNvPr>
          <p:cNvSpPr txBox="1"/>
          <p:nvPr/>
        </p:nvSpPr>
        <p:spPr>
          <a:xfrm>
            <a:off x="558800" y="4572000"/>
            <a:ext cx="53848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Kiri: fitted vs aktual (in-sample, tertimbang kredit)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0CDE5-E515-84C0-4520-DEB954398742}"/>
              </a:ext>
            </a:extLst>
          </p:cNvPr>
          <p:cNvSpPr txBox="1"/>
          <p:nvPr/>
        </p:nvSpPr>
        <p:spPr>
          <a:xfrm>
            <a:off x="6248400" y="4572000"/>
            <a:ext cx="53848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Kanan: estimasi s.d. 2024Q2, forecast 8 kuartal dengan makro aktual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4A533-07FE-F5A4-0796-807A99D6228C}"/>
              </a:ext>
            </a:extLst>
          </p:cNvPr>
          <p:cNvSpPr txBox="1"/>
          <p:nvPr/>
        </p:nvSpPr>
        <p:spPr>
          <a:xfrm>
            <a:off x="558800" y="5080000"/>
            <a:ext cx="11074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Back-test: rata-rata selisih 0,29 pp (maks. 0,40 pp). Model memprediksi NPL ±2,45%, aktual ±2,1%, karena tiap bank ditarik ke rata-rata jangka panjangnya. Sebagian kenaikan NPL di proyeksi (±0,15 pp di baseline) berasal dari efek ini.</a:t>
            </a:r>
          </a:p>
        </p:txBody>
      </p:sp>
    </p:spTree>
    <p:extLst>
      <p:ext uri="{BB962C8B-B14F-4D97-AF65-F5344CB8AC3E}">
        <p14:creationId xmlns:p14="http://schemas.microsoft.com/office/powerpoint/2010/main" val="1830272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Model provisi: provisi naik ±0,31% kredit untuk setiap kenaikan NPL 1 pp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391114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77535366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9842802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Variabel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Koef.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SE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IK 95%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Kenaikan NPL (t)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0,189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1,72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0,093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[−0,033; 0,411]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Kenaikan NPL (t−1)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0,117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0,124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0,94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0,351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[−0,133; 0,368]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Total (t + t−1)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0,306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0,146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2,09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0,042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[0,012; 0,600]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Konstanta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0,189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0,034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5,64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[0,121; 0,256]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1021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Persamaan: Provisi(i,t) =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α(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i) + 0,19·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Δ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NPL⁺(i,t) + 0,12·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Δ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NPL⁺(i,t−1). </a:t>
            </a:r>
            <a:r>
              <a:rPr lang="el-GR" sz="1150">
                <a:solidFill>
                  <a:srgbClr val="000000"/>
                </a:solidFill>
                <a:latin typeface="Arial"/>
                <a:cs typeface="Arial"/>
              </a:rPr>
              <a:t>Δ</a:t>
            </a: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NPL⁺ = kenaikan NPL (penurunan dihitung nol); lonjakan ≥ 5 pp (kesalahan data) dikeluarkan. Respons total signifikan pada 5%. R² sangat rendah karena provisi bank naik-turun tajam antarkuartal, sehingga model ini hanya dipakai untuk respons; level provisi memakai rata-rata 8 kuartal terakhir tiap bank.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3" name="Table 201">
            <a:extLst>
              <a:ext uri="{FF2B5EF4-FFF2-40B4-BE49-F238E27FC236}">
                <a16:creationId xmlns:a16="http://schemas.microsoft.com/office/drawing/2014/main" id="{B20FC0AA-3276-CC7C-B4EE-2BEB2BF0C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791398"/>
              </p:ext>
            </p:extLst>
          </p:nvPr>
        </p:nvGraphicFramePr>
        <p:xfrm>
          <a:off x="70104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Statistik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Nilai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Dependen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 ÷ kredit (%/kuartal)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Observasi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1.420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Jumlah bank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Periode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2016Q4–2026Q2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 within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0,009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 overall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0,010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Standar error</a:t>
                      </a:r>
                      <a:endParaRPr lang="id-ID" sz="11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1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Clustered per bank</a:t>
                      </a:r>
                      <a:endParaRPr lang="id-ID" sz="11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59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133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Overlay stres: dasar kalibrasi dan seberapa besar pengaruhnya ke hasil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732695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Aspek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Keterangan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Mengapa perlu overlay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Model provisi hanya bereaksi terhadap kenaikan NPL yang kecil; tanpa overlay, credit loss Adverse 2 hampir sama dengan baseline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Nilai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 = 0,03 per pp gap GDP per % NPL, per kuartal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Kalibrasi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Dipilih supaya credit loss Adverse 2 (10,3% modal) setara puncak provisi 4 kuartal di data kita (2021Q1, 10,5% modal)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Bukti dari data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Regresi provisi industri terhadap gap GDP × NPL memberi k ≈ 0,02 (episode COVID: 0,013–0,02)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Mengapa sedikit di atas 0,02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Restrukturisasi COVID (POJK 11/2020) menahan pencadangan saat itu, sehingga estimasi data kemungkinan terlalu rendah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Kontribusi ke hasil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46% credit loss Adverse 2 (4,7 dari 10,3% modal) dan 29% credit loss Adverse 1 (2,0 dari 7,1%)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Sensitivitas credit loss Adverse 2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 = 0 → ±5,6% modal; k = 0,02 → ±8,7%; k = 0,03 → 10,3%; k = 0,05 → ±13,5%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22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692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C3AE-9C2B-F42A-3990-41BC02B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Mengapa koefisien yang tidak signifikan tetap dipakai</a:t>
            </a:r>
            <a:endParaRPr lang="id-ID" sz="2000" dirty="0"/>
          </a:p>
        </p:txBody>
      </p:sp>
      <p:cxnSp>
        <p:nvCxnSpPr>
          <p:cNvPr id="200" name="Line 201"/>
          <p:cNvCxnSpPr/>
          <p:nvPr/>
        </p:nvCxnSpPr>
        <p:spPr>
          <a:xfrm>
            <a:off x="558800" y="124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1" name="Text 202"/>
          <p:cNvSpPr txBox="1"/>
          <p:nvPr/>
        </p:nvSpPr>
        <p:spPr>
          <a:xfrm>
            <a:off x="558800" y="13462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02" name="Text 203"/>
          <p:cNvSpPr txBox="1"/>
          <p:nvPr/>
        </p:nvSpPr>
        <p:spPr>
          <a:xfrm>
            <a:off x="1371600" y="1371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Tidak signifikan ≠ tidak berpengaruh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Artinya data tidak cukup untuk mengukur besarnya dengan presisi; arah koefisien GDP tetap sesuai teori (GDP turun → NPL naik).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3" name="Line 204"/>
          <p:cNvCxnSpPr/>
          <p:nvPr/>
        </p:nvCxnSpPr>
        <p:spPr>
          <a:xfrm>
            <a:off x="558800" y="223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4" name="Text 205"/>
          <p:cNvSpPr txBox="1"/>
          <p:nvPr/>
        </p:nvSpPr>
        <p:spPr>
          <a:xfrm>
            <a:off x="558800" y="23368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5" name="Text 206"/>
          <p:cNvSpPr txBox="1"/>
          <p:nvPr/>
        </p:nvSpPr>
        <p:spPr>
          <a:xfrm>
            <a:off x="1371600" y="23622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Data historis hampir tanpa krisis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GDP stabil ±5%, restrukturisasi COVID menahan NPL, dan harga properti tidak pernah turun; data tidak informatif untuk skenario berat.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6" name="Line 207"/>
          <p:cNvCxnSpPr/>
          <p:nvPr/>
        </p:nvCxnSpPr>
        <p:spPr>
          <a:xfrm>
            <a:off x="558800" y="3225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7" name="Text 208"/>
          <p:cNvSpPr txBox="1"/>
          <p:nvPr/>
        </p:nvSpPr>
        <p:spPr>
          <a:xfrm>
            <a:off x="558800" y="33274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08" name="Text 209"/>
          <p:cNvSpPr txBox="1"/>
          <p:nvPr/>
        </p:nvSpPr>
        <p:spPr>
          <a:xfrm>
            <a:off x="1371600" y="33528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Membuang variabel justru lebih buruk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NPL akan kebal terhadap skenario seberat apa pun dan risiko diremehkan; regulator lazim memakai judgment bila data tidak cukup.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09" name="Line 210"/>
          <p:cNvCxnSpPr/>
          <p:nvPr/>
        </p:nvCxnSpPr>
        <p:spPr>
          <a:xfrm>
            <a:off x="558800" y="421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0" name="Text 211"/>
          <p:cNvSpPr txBox="1"/>
          <p:nvPr/>
        </p:nvSpPr>
        <p:spPr>
          <a:xfrm>
            <a:off x="558800" y="4318000"/>
            <a:ext cx="711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A5644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11" name="Text 212"/>
          <p:cNvSpPr txBox="1"/>
          <p:nvPr/>
        </p:nvSpPr>
        <p:spPr>
          <a:xfrm>
            <a:off x="1371600" y="4343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>
                <a:solidFill>
                  <a:srgbClr val="000000"/>
                </a:solidFill>
                <a:latin typeface="Arial"/>
                <a:cs typeface="Arial"/>
              </a:rPr>
              <a:t>Kesimpulan utama tidak bergantung padanya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>
                <a:solidFill>
                  <a:srgbClr val="262626"/>
                </a:solidFill>
                <a:latin typeface="Arial"/>
                <a:cs typeface="Arial"/>
              </a:rPr>
              <a:t>Tanpa overlay dan komponen properti, CAR industri tetap sekitar 22%; dua bank gagal karena kerugian surat berharga, bukan karena model NPL.</a:t>
            </a:r>
            <a:endParaRPr lang="id-ID" sz="1300" dirty="0">
              <a:solidFill>
                <a:srgbClr val="262626"/>
              </a:solidFill>
              <a:latin typeface="Arial"/>
              <a:cs typeface="Arial"/>
            </a:endParaRPr>
          </a:p>
        </p:txBody>
      </p:sp>
      <p:cxnSp>
        <p:nvCxnSpPr>
          <p:cNvPr id="212" name="Line 213"/>
          <p:cNvCxnSpPr/>
          <p:nvPr/>
        </p:nvCxnSpPr>
        <p:spPr>
          <a:xfrm>
            <a:off x="558800" y="5207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3" name="Text 214"/>
          <p:cNvSpPr/>
          <p:nvPr/>
        </p:nvSpPr>
        <p:spPr>
          <a:xfrm>
            <a:off x="558800" y="5384800"/>
            <a:ext cx="11074400" cy="508000"/>
          </a:xfrm>
          <a:prstGeom prst="rect">
            <a:avLst/>
          </a:prstGeom>
          <a:solidFill>
            <a:srgbClr val="F3E9E3"/>
          </a:solidFill>
          <a:ln>
            <a:noFill/>
          </a:ln>
        </p:spPr>
        <p:txBody>
          <a:bodyPr wrap="square" lIns="152400" tIns="45720" rIns="15240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>
                <a:solidFill>
                  <a:srgbClr val="000000"/>
                </a:solidFill>
                <a:latin typeface="Arial"/>
                <a:cs typeface="Arial"/>
              </a:rPr>
              <a:t>R² model provisi yang rendah (0,01) wajar:</a:t>
            </a:r>
            <a:r>
              <a:rPr lang="id-ID" sz="1300">
                <a:solidFill>
                  <a:srgbClr val="000000"/>
                </a:solidFill>
                <a:latin typeface="Arial"/>
                <a:cs typeface="Arial"/>
              </a:rPr>
              <a:t> provisi bank sangat fluktuatif antarkuartal. Model ini hanya dipakai untuk respons terhadap kenaikan NPL; level provisi memakai rata-rata 8 kuartal terakhir tiap bank.</a:t>
            </a:r>
            <a:endParaRPr lang="id-ID" sz="13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0515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Perbandingan dengan model Prospera: keterbatasan data yang sama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2802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Aspek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Model kita (v3)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Model Prospera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Spesifikasi NPL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Dinamis: NPL t−1, GDP dan BI rate lag 1–4, fixed effect bank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Statis: GDP, BI rate, harga properti lag 1–4, fixed effect bank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 within model NPL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0,48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Uji F seluruh model NPL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&lt; 0,001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0,09 (tidak signifikan)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Koefisien NPL yang signifikan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Persistensi NPL (1 dari 9)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Hanya harga properti lag 3 (1 dari 12)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GDP, uji gabungan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0,60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0,61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 rate, uji gabungan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0,87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 = 0,75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properti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t-IT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Judgment: −0,429 (diambil dari Prospera)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Jumlah koefisien −0,429, p = 0,21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30297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Model provisi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pt-B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Respons total 0,31 (p = 0,04); R² 0,01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sv-SE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t−2 signifikan tetapi tandanya salah; R² 0,02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601238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44450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Kedua model sama-sama tidak menemukan efek makro langsung yang signifikan: ini keterbatasan data historis, bukan pilihan spesifikasi. Model kita menjelaskan pergerakan NPL jauh lebih baik karena memasukkan persistensi NPL.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208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72C5-C8E4-379A-1B5C-708A479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000"/>
              <a:t>Ringkasan satellite model dan komponen judgment</a:t>
            </a:r>
            <a:endParaRPr lang="id-ID" sz="2000" dirty="0"/>
          </a:p>
        </p:txBody>
      </p:sp>
      <p:graphicFrame>
        <p:nvGraphicFramePr>
          <p:cNvPr id="200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803272"/>
              </p:ext>
            </p:extLst>
          </p:nvPr>
        </p:nvGraphicFramePr>
        <p:xfrm>
          <a:off x="558800" y="1270000"/>
          <a:ext cx="11074400" cy="37338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17444913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5661222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Dependen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Prediktor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Metode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R²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Peran di hasil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Model NPL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(%)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t−1; GDP dan BI rate lag 1–4; fixed effect bank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Panel FE, SE clustered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0,48 (within)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Jalur NPL; input provisi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Komponen properti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NPL (%)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l-GR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Δ </a:t>
                      </a: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harga properti lag 1–4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 (Prospera)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nb-NO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+0,25 / +0,51 pp NPL (Adv 1 / Adv 2)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Respons provisi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Provisi/kredit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nl-NL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Kenaikan NPL t dan t−1; fixed effect bank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Panel FE, SE clustered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0,01 (within)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i-FI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Tambahan provisi saat NPL naik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Overlay stres</a:t>
                      </a:r>
                      <a:endParaRPr lang="id-ID" sz="1200" b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Provisi/kredit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Gap GDP × NPL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Judgment (kalibrasi)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id-ID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46% credit loss Adverse 2</a:t>
                      </a:r>
                      <a:endParaRPr lang="id-ID" sz="1200" b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1" name="Text 202"/>
          <p:cNvSpPr txBox="1"/>
          <p:nvPr/>
        </p:nvSpPr>
        <p:spPr>
          <a:xfrm>
            <a:off x="558800" y="337058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150">
                <a:solidFill>
                  <a:srgbClr val="000000"/>
                </a:solidFill>
                <a:latin typeface="Arial"/>
                <a:cs typeface="Arial"/>
              </a:rPr>
              <a:t>Dua persamaan diestimasi dari data 46 bank; dua komponen judgment ditambahkan karena data historis tidak cukup memberi sensitivitas terhadap skenario berat. Keduanya bisa diubah di do-file atau di sheet Parameters.</a:t>
            </a:r>
            <a:endParaRPr lang="id-ID" sz="115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5466696"/>
      </p:ext>
    </p:extLst>
  </p:cSld>
  <p:clrMapOvr>
    <a:masterClrMapping/>
  </p:clrMapOvr>
</p:sld>
</file>

<file path=ppt/theme/theme1.xml><?xml version="1.0" encoding="utf-8"?>
<a:theme xmlns:a="http://schemas.openxmlformats.org/drawingml/2006/main" name="4_D2 Marves_Neww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2 Marves_Neww" id="{CF5C51F7-01E3-1843-B95E-A88F43F3C614}" vid="{1FC0152F-43D8-474F-AC19-D2321C15A7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822936-2FBA-4AED-B054-163529BB535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62713f8-fbef-4e9c-97c0-f4706022a32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6726</Words>
  <Application>Microsoft Office PowerPoint</Application>
  <PresentationFormat>Widescreen</PresentationFormat>
  <Paragraphs>1065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Arial Nova</vt:lpstr>
      <vt:lpstr>Calibri</vt:lpstr>
      <vt:lpstr>Calibri Light</vt:lpstr>
      <vt:lpstr>4_D2 Marves_Neww</vt:lpstr>
      <vt:lpstr>Stress Test Solvabilitas Perbankan Kerangka, Asumsi, Model, dan Hasil</vt:lpstr>
      <vt:lpstr>Ringkasan eksekutif</vt:lpstr>
      <vt:lpstr>Agenda</vt:lpstr>
      <vt:lpstr>PowerPoint Presentation</vt:lpstr>
      <vt:lpstr>Tiga kanal risiko bertemu di laba, lalu CAR bergerak dari sisi modal dan RWA</vt:lpstr>
      <vt:lpstr>Alur perhitungan: 10 langkah yang diulang setiap kuartal, per bank dan per skenario</vt:lpstr>
      <vt:lpstr>Langkah 0 · Posisi awal: rasio tiap bank diambil dari data 2026Q2</vt:lpstr>
      <vt:lpstr>Langkah 1–2 · Skenario diterjemahkan ke pertumbuhan neraca dan RWA</vt:lpstr>
      <vt:lpstr>Langkah 3–4 · NPL dan provisi (kanal kredit)</vt:lpstr>
      <vt:lpstr>Langkah 5–7 · Surat berharga, bunga, dan nonbunga</vt:lpstr>
      <vt:lpstr>Langkah 8–10 · Laba, modal, dan CAR</vt:lpstr>
      <vt:lpstr>Dari bank ke industri: cara angka hasil dihitung</vt:lpstr>
      <vt:lpstr>PowerPoint Presentation</vt:lpstr>
      <vt:lpstr>Skenario makro: baseline ditambah shock berbasis standar deviasi historis</vt:lpstr>
      <vt:lpstr>Adverse 2 adalah guncangan suku bunga global; Adverse 1 versi ringannya</vt:lpstr>
      <vt:lpstr>Parameter lain: sebagian besar dari data, sisanya judgment yang terdokumentasi</vt:lpstr>
      <vt:lpstr>PowerPoint Presentation</vt:lpstr>
      <vt:lpstr>Peta transmisi: bagaimana tiap variabel makro sampai ke laba dan CAR</vt:lpstr>
      <vt:lpstr>Kanal kredit (1): bagaimana NPL bergerak di proyeksi</vt:lpstr>
      <vt:lpstr>Kenaikan NPL di skenario adverse terutama berasal dari komponen harga properti</vt:lpstr>
      <vt:lpstr>Kanal kredit (2): biaya kredit naik 3,4 kali lewat respons NPL dan overlay stres</vt:lpstr>
      <vt:lpstr>Kanal pasar: kenaikan yield SBN menurunkan nilai surat berharga</vt:lpstr>
      <vt:lpstr>PowerPoint Presentation</vt:lpstr>
      <vt:lpstr>Komponen lain dihitung dengan rule dan identitas akuntansi, bukan regresi</vt:lpstr>
      <vt:lpstr>Transmisi BI rate: biaya dana naik jauh lebih cepat dari bunga kredit</vt:lpstr>
      <vt:lpstr>Jembatan CAR: provisi, margin bunga, dan surat berharga yang membedakan hasil</vt:lpstr>
      <vt:lpstr>PowerPoint Presentation</vt:lpstr>
      <vt:lpstr>CAR industri tetap jauh di atas 8% di semua skenario</vt:lpstr>
      <vt:lpstr>CAR turun bertahap; NPL naik paling tajam di Adverse 2 saat koreksi properti berjalan</vt:lpstr>
      <vt:lpstr>Kerugian didominasi risiko kredit; laba industri tetap positif di semua skenario</vt:lpstr>
      <vt:lpstr>KBMI 2 paling tertekan: merugi dan CAR turun ke 16,6% di Adverse 2</vt:lpstr>
      <vt:lpstr>Himbara lebih tahan: laba besar menyerap credit loss yang lebih tinggi</vt:lpstr>
      <vt:lpstr>Dua bank gagal di Adverse 2, keduanya karena kerugian surat berharga</vt:lpstr>
      <vt:lpstr>Kesimpulan dan tindak lanjut</vt:lpstr>
      <vt:lpstr>PowerPoint Presentation</vt:lpstr>
      <vt:lpstr>PowerPoint Presentation</vt:lpstr>
      <vt:lpstr>Satellite model menerjemahkan skenario makro menjadi risiko kredit bank</vt:lpstr>
      <vt:lpstr>Model NPL: spesifikasi dan definisi variabel</vt:lpstr>
      <vt:lpstr>Model NPL: hasil regresi lengkap</vt:lpstr>
      <vt:lpstr>Cara membaca hasil model NPL</vt:lpstr>
      <vt:lpstr>Komponen harga properti diambil dari Prospera karena tidak bisa diestimasi</vt:lpstr>
      <vt:lpstr>Model NPL mengikuti pola historis, tetapi cenderung terlalu tinggi</vt:lpstr>
      <vt:lpstr>Model provisi: provisi naik ±0,31% kredit untuk setiap kenaikan NPL 1 pp</vt:lpstr>
      <vt:lpstr>Overlay stres: dasar kalibrasi dan seberapa besar pengaruhnya ke hasil</vt:lpstr>
      <vt:lpstr>Mengapa koefisien yang tidak signifikan tetap dipakai</vt:lpstr>
      <vt:lpstr>Perbandingan dengan model Prospera: keterbatasan data yang sama</vt:lpstr>
      <vt:lpstr>Ringkasan satellite model dan komponen judgment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Kurniawati Yuli Ashari</dc:creator>
  <cp:lastModifiedBy>Muhamad Haikal</cp:lastModifiedBy>
  <cp:revision>12</cp:revision>
  <dcterms:created xsi:type="dcterms:W3CDTF">2026-10-01T00:21:08Z</dcterms:created>
  <dcterms:modified xsi:type="dcterms:W3CDTF">2026-10-14T04:29:40Z</dcterms:modified>
</cp:coreProperties>
</file>