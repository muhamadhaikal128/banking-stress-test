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147482715" r:id="rId2"/>
    <p:sldId id="2147482717" r:id="rId3"/>
    <p:sldId id="2147482718" r:id="rId4"/>
    <p:sldId id="2147482719" r:id="rId5"/>
    <p:sldId id="2147482720" r:id="rId6"/>
    <p:sldId id="2147482721" r:id="rId7"/>
    <p:sldId id="2147482767" r:id="rId8"/>
    <p:sldId id="2147482769" r:id="rId9"/>
    <p:sldId id="2147482724" r:id="rId10"/>
    <p:sldId id="2147482725" r:id="rId11"/>
    <p:sldId id="2147482726" r:id="rId12"/>
    <p:sldId id="2147482765" r:id="rId13"/>
    <p:sldId id="2147482728" r:id="rId14"/>
    <p:sldId id="2147482729" r:id="rId15"/>
    <p:sldId id="2147482730" r:id="rId16"/>
    <p:sldId id="2147482731" r:id="rId17"/>
    <p:sldId id="2147482761" r:id="rId18"/>
    <p:sldId id="2147482733" r:id="rId19"/>
    <p:sldId id="2147482762" r:id="rId20"/>
    <p:sldId id="2147482787" r:id="rId21"/>
    <p:sldId id="2147482790" r:id="rId22"/>
    <p:sldId id="2147482792" r:id="rId23"/>
    <p:sldId id="2147482795" r:id="rId24"/>
    <p:sldId id="2147482797" r:id="rId25"/>
    <p:sldId id="2147482780" r:id="rId26"/>
    <p:sldId id="2147482798" r:id="rId27"/>
    <p:sldId id="2147482741" r:id="rId28"/>
    <p:sldId id="2147482742" r:id="rId29"/>
    <p:sldId id="2147482743" r:id="rId30"/>
    <p:sldId id="2147482744" r:id="rId31"/>
    <p:sldId id="2147482745" r:id="rId32"/>
    <p:sldId id="2147482746" r:id="rId33"/>
    <p:sldId id="2147482774" r:id="rId34"/>
    <p:sldId id="2147482789" r:id="rId35"/>
    <p:sldId id="2147482749" r:id="rId36"/>
    <p:sldId id="2147482750" r:id="rId37"/>
    <p:sldId id="2147482773" r:id="rId38"/>
    <p:sldId id="2147482752" r:id="rId39"/>
    <p:sldId id="2147482753" r:id="rId40"/>
    <p:sldId id="214748278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387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GDP</c:v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0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Adverse 1</c:v>
              </c:pt>
              <c:pt idx="1">
                <c:v>Adverse 2</c:v>
              </c:pt>
            </c:strLit>
          </c:cat>
          <c:val>
            <c:numLit>
              <c:formatCode>General</c:formatCode>
              <c:ptCount val="2"/>
              <c:pt idx="0">
                <c:v>0.08</c:v>
              </c:pt>
              <c:pt idx="1">
                <c:v>0.17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F8-4980-8A52-D47009E64DE7}"/>
            </c:ext>
          </c:extLst>
        </c:ser>
        <c:ser>
          <c:idx val="1"/>
          <c:order val="1"/>
          <c:tx>
            <c:v>BI rate</c:v>
          </c:tx>
          <c:spPr>
            <a:solidFill>
              <a:srgbClr val="BFBFBF"/>
            </a:solidFill>
            <a:ln>
              <a:noFill/>
            </a:ln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0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Adverse 1</c:v>
              </c:pt>
              <c:pt idx="1">
                <c:v>Adverse 2</c:v>
              </c:pt>
            </c:strLit>
          </c:cat>
          <c:val>
            <c:numLit>
              <c:formatCode>General</c:formatCode>
              <c:ptCount val="2"/>
              <c:pt idx="0">
                <c:v>0.08</c:v>
              </c:pt>
              <c:pt idx="1">
                <c:v>0.14000000000000001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F8-4980-8A52-D47009E64DE7}"/>
            </c:ext>
          </c:extLst>
        </c:ser>
        <c:ser>
          <c:idx val="2"/>
          <c:order val="2"/>
          <c:tx>
            <c:v>Harga properti</c:v>
          </c:tx>
          <c:spPr>
            <a:solidFill>
              <a:srgbClr val="A5644E"/>
            </a:solidFill>
            <a:ln>
              <a:noFill/>
            </a:ln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0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Adverse 1</c:v>
              </c:pt>
              <c:pt idx="1">
                <c:v>Adverse 2</c:v>
              </c:pt>
            </c:strLit>
          </c:cat>
          <c:val>
            <c:numLit>
              <c:formatCode>General</c:formatCode>
              <c:ptCount val="2"/>
              <c:pt idx="0">
                <c:v>0.25</c:v>
              </c:pt>
              <c:pt idx="1">
                <c:v>0.51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F8-4980-8A52-D47009E64DE7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0.00&quot; pp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Adverse 1</c:v>
              </c:pt>
              <c:pt idx="1">
                <c:v>Adverse 2</c:v>
              </c:pt>
            </c:strLit>
          </c:cat>
          <c:val>
            <c:numLit>
              <c:formatCode>General</c:formatCode>
              <c:ptCount val="2"/>
              <c:pt idx="0">
                <c:v>0.41000000000000003</c:v>
              </c:pt>
              <c:pt idx="1">
                <c:v>0.82000000000000006</c:v>
              </c:pt>
            </c:numLit>
          </c:val>
          <c:extLst>
            <c:ext xmlns:c16="http://schemas.microsoft.com/office/drawing/2014/chart" uri="{C3380CC4-5D6E-409C-BE32-E72D297353CC}">
              <c16:uniqueId val="{00000003-F4F8-4980-8A52-D47009E64D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9C9C9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.03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CAR awal</c:v>
              </c:pt>
              <c:pt idx="1">
                <c:v>Laba op.</c:v>
              </c:pt>
              <c:pt idx="2">
                <c:v>Provisi</c:v>
              </c:pt>
              <c:pt idx="3">
                <c:v>FVTPL</c:v>
              </c:pt>
              <c:pt idx="4">
                <c:v>Pajak</c:v>
              </c:pt>
              <c:pt idx="5">
                <c:v>Dividen</c:v>
              </c:pt>
              <c:pt idx="6">
                <c:v>FVOCI</c:v>
              </c:pt>
              <c:pt idx="7">
                <c:v>RWA</c:v>
              </c:pt>
              <c:pt idx="8">
                <c:v>CAR akhir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22.51</c:v>
              </c:pt>
              <c:pt idx="2">
                <c:v>24.94</c:v>
              </c:pt>
              <c:pt idx="3">
                <c:v>24.57</c:v>
              </c:pt>
              <c:pt idx="4">
                <c:v>24.03</c:v>
              </c:pt>
              <c:pt idx="5">
                <c:v>23.07</c:v>
              </c:pt>
              <c:pt idx="6">
                <c:v>22.68</c:v>
              </c:pt>
              <c:pt idx="7">
                <c:v>21.03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F6D7-4E22-940D-AF4F3E9A82EC}"/>
            </c:ext>
          </c:extLst>
        </c:ser>
        <c:ser>
          <c:idx val="1"/>
          <c:order val="1"/>
          <c:tx>
            <c:v>Increase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CAR awal</c:v>
              </c:pt>
              <c:pt idx="1">
                <c:v>Laba operasional</c:v>
              </c:pt>
              <c:pt idx="2">
                <c:v>Provisi</c:v>
              </c:pt>
              <c:pt idx="3">
                <c:v>FVTPL</c:v>
              </c:pt>
              <c:pt idx="4">
                <c:v>Pajak</c:v>
              </c:pt>
              <c:pt idx="5">
                <c:v>Dividen</c:v>
              </c:pt>
              <c:pt idx="6">
                <c:v>FVOCI</c:v>
              </c:pt>
              <c:pt idx="7">
                <c:v>Efek RWA</c:v>
              </c:pt>
              <c:pt idx="8">
                <c:v>CAR akhir</c:v>
              </c:pt>
            </c:strLit>
          </c:cat>
          <c:val>
            <c:numLit>
              <c:formatCode>General</c:formatCode>
              <c:ptCount val="9"/>
              <c:pt idx="1">
                <c:v>5.48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6D7-4E22-940D-AF4F3E9A82EC}"/>
            </c:ext>
          </c:extLst>
        </c:ser>
        <c:ser>
          <c:idx val="2"/>
          <c:order val="2"/>
          <c:tx>
            <c:v>Decrease</c:v>
          </c:tx>
          <c:spPr>
            <a:solidFill>
              <a:srgbClr val="A5644E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CAR awal</c:v>
              </c:pt>
              <c:pt idx="1">
                <c:v>Laba operasional</c:v>
              </c:pt>
              <c:pt idx="2">
                <c:v>Provisi</c:v>
              </c:pt>
              <c:pt idx="3">
                <c:v>FVTPL</c:v>
              </c:pt>
              <c:pt idx="4">
                <c:v>Pajak</c:v>
              </c:pt>
              <c:pt idx="5">
                <c:v>Dividen</c:v>
              </c:pt>
              <c:pt idx="6">
                <c:v>FVOCI</c:v>
              </c:pt>
              <c:pt idx="7">
                <c:v>Efek RWA</c:v>
              </c:pt>
              <c:pt idx="8">
                <c:v>CAR akhir</c:v>
              </c:pt>
            </c:strLit>
          </c:cat>
          <c:val>
            <c:numLit>
              <c:formatCode>General</c:formatCode>
              <c:ptCount val="9"/>
              <c:pt idx="2">
                <c:v>3.05</c:v>
              </c:pt>
              <c:pt idx="3">
                <c:v>0.37</c:v>
              </c:pt>
              <c:pt idx="4">
                <c:v>0.54</c:v>
              </c:pt>
              <c:pt idx="5">
                <c:v>0.96</c:v>
              </c:pt>
              <c:pt idx="6">
                <c:v>0.39</c:v>
              </c:pt>
              <c:pt idx="7">
                <c:v>1.64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6D7-4E22-940D-AF4F3E9A82EC}"/>
            </c:ext>
          </c:extLst>
        </c:ser>
        <c:ser>
          <c:idx val="3"/>
          <c:order val="3"/>
          <c:tx>
            <c:v>Total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CAR awal</c:v>
              </c:pt>
              <c:pt idx="1">
                <c:v>Laba operasional</c:v>
              </c:pt>
              <c:pt idx="2">
                <c:v>Provisi</c:v>
              </c:pt>
              <c:pt idx="3">
                <c:v>FVTPL</c:v>
              </c:pt>
              <c:pt idx="4">
                <c:v>Pajak</c:v>
              </c:pt>
              <c:pt idx="5">
                <c:v>Dividen</c:v>
              </c:pt>
              <c:pt idx="6">
                <c:v>FVOCI</c:v>
              </c:pt>
              <c:pt idx="7">
                <c:v>Efek RWA</c:v>
              </c:pt>
              <c:pt idx="8">
                <c:v>CAR akhir</c:v>
              </c:pt>
            </c:strLit>
          </c:cat>
          <c:val>
            <c:numLit>
              <c:formatCode>General</c:formatCode>
              <c:ptCount val="9"/>
              <c:pt idx="0">
                <c:v>22.51</c:v>
              </c:pt>
              <c:pt idx="8">
                <c:v>21.03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F6D7-4E22-940D-AF4F3E9A82EC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595959"/>
                        </a:solidFill>
                        <a:latin typeface="Arial"/>
                      </a:rPr>
                      <a:t>22,51%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6D7-4E22-940D-AF4F3E9A82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+5,48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6D7-4E22-940D-AF4F3E9A82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−3,05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6D7-4E22-940D-AF4F3E9A82E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−0,37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6D7-4E22-940D-AF4F3E9A82EC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−0,54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6D7-4E22-940D-AF4F3E9A82EC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−0,96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F6D7-4E22-940D-AF4F3E9A82EC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−0,39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F6D7-4E22-940D-AF4F3E9A82EC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A5644E"/>
                        </a:solidFill>
                        <a:latin typeface="Arial"/>
                      </a:rPr>
                      <a:t>−1,64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F6D7-4E22-940D-AF4F3E9A82EC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595959"/>
                        </a:solidFill>
                        <a:latin typeface="Arial"/>
                      </a:rPr>
                      <a:t>21,03%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F6D7-4E22-940D-AF4F3E9A82EC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CAR awal</c:v>
              </c:pt>
              <c:pt idx="1">
                <c:v>Laba operasional</c:v>
              </c:pt>
              <c:pt idx="2">
                <c:v>Provisi</c:v>
              </c:pt>
              <c:pt idx="3">
                <c:v>FVTPL</c:v>
              </c:pt>
              <c:pt idx="4">
                <c:v>Pajak</c:v>
              </c:pt>
              <c:pt idx="5">
                <c:v>Dividen</c:v>
              </c:pt>
              <c:pt idx="6">
                <c:v>FVOCI</c:v>
              </c:pt>
              <c:pt idx="7">
                <c:v>Efek RWA</c:v>
              </c:pt>
              <c:pt idx="8">
                <c:v>CAR akhir</c:v>
              </c:pt>
            </c:strLit>
          </c:cat>
          <c:val>
            <c:numLit>
              <c:formatCode>General</c:formatCode>
              <c:ptCount val="9"/>
              <c:pt idx="0">
                <c:v>0.27990000000000004</c:v>
              </c:pt>
              <c:pt idx="1">
                <c:v>0.27990000000000004</c:v>
              </c:pt>
              <c:pt idx="2">
                <c:v>0.27990000000000004</c:v>
              </c:pt>
              <c:pt idx="3">
                <c:v>0.27990000000000004</c:v>
              </c:pt>
              <c:pt idx="4">
                <c:v>0.27990000000000004</c:v>
              </c:pt>
              <c:pt idx="5">
                <c:v>0.27990000000000004</c:v>
              </c:pt>
              <c:pt idx="6">
                <c:v>0.27990000000000004</c:v>
              </c:pt>
              <c:pt idx="7">
                <c:v>0.27990000000000004</c:v>
              </c:pt>
              <c:pt idx="8">
                <c:v>0.27990000000000004</c:v>
              </c:pt>
            </c:numLit>
          </c:val>
          <c:extLst>
            <c:ext xmlns:c16="http://schemas.microsoft.com/office/drawing/2014/chart" uri="{C3380CC4-5D6E-409C-BE32-E72D297353CC}">
              <c16:uniqueId val="{0000000D-F6D7-4E22-940D-AF4F3E9A82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9C9C9"/>
            </a:solidFill>
          </a:ln>
        </c:spPr>
        <c:txPr>
          <a:bodyPr rot="0" vert="horz"/>
          <a:lstStyle/>
          <a:p>
            <a:pPr>
              <a:defRPr sz="1150" b="0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35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A5644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51E-4F5C-AAC8-F2FD1F3993D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22,5%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10B7-44C2-9625-4BD02BCCE4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22,5%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10B7-44C2-9625-4BD02BCCE4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21,8%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10B7-44C2-9625-4BD02BCCE4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21,0%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51E-4F5C-AAC8-F2FD1F3993D5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4"/>
              <c:pt idx="0">
                <c:v>Awal 2026Q2</c:v>
              </c:pt>
              <c:pt idx="1">
                <c:v>Baseline</c:v>
              </c:pt>
              <c:pt idx="2">
                <c:v>Adverse 1</c:v>
              </c:pt>
              <c:pt idx="3">
                <c:v>Adverse 2</c:v>
              </c:pt>
            </c:strLit>
          </c:cat>
          <c:val>
            <c:numLit>
              <c:formatCode>General</c:formatCode>
              <c:ptCount val="4"/>
              <c:pt idx="0">
                <c:v>22.51</c:v>
              </c:pt>
              <c:pt idx="1">
                <c:v>22.47</c:v>
              </c:pt>
              <c:pt idx="2">
                <c:v>21.8</c:v>
              </c:pt>
              <c:pt idx="3">
                <c:v>21.03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51E-4F5C-AAC8-F2FD1F3993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9C9C9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A5644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701-4ECA-A362-CBEA33BD297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262626"/>
                        </a:solidFill>
                        <a:latin typeface="Arial"/>
                      </a:rPr>
                      <a:t>22,41%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E450-47B8-8D31-B15508DD68B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262626"/>
                        </a:solidFill>
                        <a:latin typeface="Arial"/>
                      </a:rPr>
                      <a:t>21,25%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450-47B8-8D31-B15508DD68B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262626"/>
                        </a:solidFill>
                        <a:latin typeface="Arial"/>
                      </a:rPr>
                      <a:t>21,29%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E450-47B8-8D31-B15508DD68B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A5644E"/>
                        </a:solidFill>
                        <a:latin typeface="Arial"/>
                      </a:rPr>
                      <a:t>21,03%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5701-4ECA-A362-CBEA33BD297B}"/>
                </c:ext>
              </c:extLst>
            </c:dLbl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4"/>
              <c:pt idx="0">
                <c:v>Model logit alternatif</c:v>
              </c:pt>
              <c:pt idx="1">
                <c:v>v2 (arsip)¹</c:v>
              </c:pt>
              <c:pt idx="2">
                <c:v>v3 tanpa properti¹</c:v>
              </c:pt>
              <c:pt idx="3">
                <c:v>v3 resmi</c:v>
              </c:pt>
            </c:strLit>
          </c:cat>
          <c:val>
            <c:numLit>
              <c:formatCode>General</c:formatCode>
              <c:ptCount val="4"/>
              <c:pt idx="0">
                <c:v>22.41</c:v>
              </c:pt>
              <c:pt idx="1">
                <c:v>21.25</c:v>
              </c:pt>
              <c:pt idx="2">
                <c:v>21.29</c:v>
              </c:pt>
              <c:pt idx="3">
                <c:v>21.03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701-4ECA-A362-CBEA33BD2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C9C9C9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5F0A9-A2F0-4B43-9722-2042F9DD599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5EE8F-5140-E743-B68C-BA749EB3B7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6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64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36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FD2AA19C-6509-DF83-FCAB-F7F3EDE28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90543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55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CDC8AB0D-B544-EBB6-24C9-C63FFCAC8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6976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998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A9CBE551-98BB-BF1B-5947-B898FDA8C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066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B47411E4-DE06-5A3B-3C0D-1AEEBCB53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93" y="18990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30E29769-C478-F59E-8968-9D5400DFF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723" y="908287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303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5" name="Picture 4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2D7CE29-7999-CB50-102B-995008068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523" y="775777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80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General (Ret.)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Chairman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4E31C-57C8-D551-A268-F7DA56978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340" y="919925"/>
            <a:ext cx="827327" cy="827327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82348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pic>
        <p:nvPicPr>
          <p:cNvPr id="8" name="Picture 7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C1BE271-79CB-66D1-5841-930ADB4B1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4" y="480468"/>
            <a:ext cx="932765" cy="932765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8610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4AC5AEFB-B85E-E2E4-A0E4-13A4A8237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7847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7" name="Picture 6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50DCDCFF-84DC-BC15-F045-FEB42C345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3999" y="83125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965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 (Blan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rgbClr val="004D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6" y="339868"/>
            <a:ext cx="10440000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rgbClr val="004D25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rgbClr val="004D25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13" name="Picture 2" descr="green-green Color Palette">
            <a:extLst>
              <a:ext uri="{FF2B5EF4-FFF2-40B4-BE49-F238E27FC236}">
                <a16:creationId xmlns:a16="http://schemas.microsoft.com/office/drawing/2014/main" id="{3C463DAF-48BF-4A94-B2C8-C67E288A8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5240" y="4145"/>
            <a:ext cx="1451531" cy="2397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alitra on Twitter | Green color pallete, Green palette, Green colour  palette">
            <a:extLst>
              <a:ext uri="{FF2B5EF4-FFF2-40B4-BE49-F238E27FC236}">
                <a16:creationId xmlns:a16="http://schemas.microsoft.com/office/drawing/2014/main" id="{F7DFD0EB-FDFA-4553-9D6C-A573C5CF3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5240" y="2405182"/>
            <a:ext cx="1451531" cy="2400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D8293D4-9FFF-44B4-A118-CA52867107CE}"/>
              </a:ext>
            </a:extLst>
          </p:cNvPr>
          <p:cNvGrpSpPr/>
          <p:nvPr/>
        </p:nvGrpSpPr>
        <p:grpSpPr>
          <a:xfrm rot="5400000">
            <a:off x="10427562" y="1910941"/>
            <a:ext cx="4330700" cy="508817"/>
            <a:chOff x="-1047750" y="1733550"/>
            <a:chExt cx="4330700" cy="16954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5202A99-D516-47F9-B6F8-8904D0CDC552}"/>
                </a:ext>
              </a:extLst>
            </p:cNvPr>
            <p:cNvSpPr/>
            <p:nvPr/>
          </p:nvSpPr>
          <p:spPr>
            <a:xfrm>
              <a:off x="-1047750" y="1733550"/>
              <a:ext cx="514350" cy="1695450"/>
            </a:xfrm>
            <a:prstGeom prst="rect">
              <a:avLst/>
            </a:prstGeom>
            <a:solidFill>
              <a:srgbClr val="5367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C96E9C4-D1E5-410D-9B86-CF8CF88091C2}"/>
                </a:ext>
              </a:extLst>
            </p:cNvPr>
            <p:cNvSpPr/>
            <p:nvPr/>
          </p:nvSpPr>
          <p:spPr>
            <a:xfrm>
              <a:off x="383382" y="1733550"/>
              <a:ext cx="514350" cy="1695450"/>
            </a:xfrm>
            <a:prstGeom prst="rect">
              <a:avLst/>
            </a:prstGeom>
            <a:solidFill>
              <a:srgbClr val="A28F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288B7E2-3352-4790-A608-69C7707BCF1A}"/>
                </a:ext>
              </a:extLst>
            </p:cNvPr>
            <p:cNvSpPr/>
            <p:nvPr/>
          </p:nvSpPr>
          <p:spPr>
            <a:xfrm>
              <a:off x="1814514" y="1733550"/>
              <a:ext cx="514350" cy="1695450"/>
            </a:xfrm>
            <a:prstGeom prst="rect">
              <a:avLst/>
            </a:prstGeom>
            <a:solidFill>
              <a:srgbClr val="8786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DD1628A-37C7-453B-BDB8-4A7C1AC4CD4C}"/>
                </a:ext>
              </a:extLst>
            </p:cNvPr>
            <p:cNvSpPr/>
            <p:nvPr/>
          </p:nvSpPr>
          <p:spPr>
            <a:xfrm>
              <a:off x="-570706" y="1733550"/>
              <a:ext cx="514350" cy="1695450"/>
            </a:xfrm>
            <a:prstGeom prst="rect">
              <a:avLst/>
            </a:prstGeom>
            <a:solidFill>
              <a:srgbClr val="069B8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F6EB5B-76B1-495A-AB22-2BEBAE926796}"/>
                </a:ext>
              </a:extLst>
            </p:cNvPr>
            <p:cNvSpPr/>
            <p:nvPr/>
          </p:nvSpPr>
          <p:spPr>
            <a:xfrm>
              <a:off x="860426" y="1733550"/>
              <a:ext cx="514350" cy="1695450"/>
            </a:xfrm>
            <a:prstGeom prst="rect">
              <a:avLst/>
            </a:prstGeom>
            <a:solidFill>
              <a:srgbClr val="ADA75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054F186-6BF3-4FC9-964A-EF8C1D91C862}"/>
                </a:ext>
              </a:extLst>
            </p:cNvPr>
            <p:cNvSpPr/>
            <p:nvPr/>
          </p:nvSpPr>
          <p:spPr>
            <a:xfrm>
              <a:off x="2291558" y="1733550"/>
              <a:ext cx="514350" cy="1695450"/>
            </a:xfrm>
            <a:prstGeom prst="rect">
              <a:avLst/>
            </a:prstGeom>
            <a:solidFill>
              <a:srgbClr val="6D5A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8E412FC-6188-4284-A98D-2D59FC5AFA7D}"/>
                </a:ext>
              </a:extLst>
            </p:cNvPr>
            <p:cNvSpPr/>
            <p:nvPr/>
          </p:nvSpPr>
          <p:spPr>
            <a:xfrm>
              <a:off x="-93662" y="1733550"/>
              <a:ext cx="514350" cy="1695450"/>
            </a:xfrm>
            <a:prstGeom prst="rect">
              <a:avLst/>
            </a:prstGeom>
            <a:solidFill>
              <a:srgbClr val="004D2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664F913-3169-4F15-B447-A0CFCB57A6CD}"/>
                </a:ext>
              </a:extLst>
            </p:cNvPr>
            <p:cNvSpPr/>
            <p:nvPr/>
          </p:nvSpPr>
          <p:spPr>
            <a:xfrm>
              <a:off x="1337470" y="1733550"/>
              <a:ext cx="514350" cy="1695450"/>
            </a:xfrm>
            <a:prstGeom prst="rect">
              <a:avLst/>
            </a:prstGeom>
            <a:solidFill>
              <a:srgbClr val="E8CF8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AAEC2D0-6995-47E6-AC0F-0BAC543CAAB3}"/>
                </a:ext>
              </a:extLst>
            </p:cNvPr>
            <p:cNvSpPr/>
            <p:nvPr/>
          </p:nvSpPr>
          <p:spPr>
            <a:xfrm>
              <a:off x="2768600" y="1733550"/>
              <a:ext cx="514350" cy="1695450"/>
            </a:xfrm>
            <a:prstGeom prst="rect">
              <a:avLst/>
            </a:prstGeom>
            <a:solidFill>
              <a:srgbClr val="E24B6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rgbClr val="53676A"/>
                </a:solidFill>
              </a:endParaRPr>
            </a:p>
          </p:txBody>
        </p:sp>
      </p:grpSp>
      <p:pic>
        <p:nvPicPr>
          <p:cNvPr id="2" name="Google Shape;3109;p3">
            <a:extLst>
              <a:ext uri="{FF2B5EF4-FFF2-40B4-BE49-F238E27FC236}">
                <a16:creationId xmlns:a16="http://schemas.microsoft.com/office/drawing/2014/main" id="{9C4F64E8-2544-80FF-F309-F9B43DA7E8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75010" y="263704"/>
            <a:ext cx="744467" cy="7444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823884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pic>
        <p:nvPicPr>
          <p:cNvPr id="8" name="Picture 7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C1BE271-79CB-66D1-5841-930ADB4B1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617" y="861857"/>
            <a:ext cx="932765" cy="9327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Ketua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917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Ketua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_DEN_Tim EKonomi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Tim Ekonomi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5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2868567" y="4256313"/>
            <a:ext cx="64548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Sekretaris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Eksekutif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/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Anggota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3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Jend. TNI (Purn)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Luhut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B.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Pandjaitan</a:t>
            </a:r>
            <a:endParaRPr lang="en-US" sz="1600" b="1">
              <a:solidFill>
                <a:schemeClr val="bg1"/>
              </a:solidFill>
              <a:latin typeface="Arial Nova" panose="020B0504020202020204" pitchFamily="34" charset="0"/>
            </a:endParaRPr>
          </a:p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Chair of the 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3142218" y="4257680"/>
            <a:ext cx="59075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Economic Assessment Team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National Economic Council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9DB9D557-3373-B3AB-54A9-3224F95295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29799" y="828623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3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Title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FD2AA19C-6509-DF83-FCAB-F7F3EDE28B3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490543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84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Title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02" y="164879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CDC8AB0D-B544-EBB6-24C9-C63FFCAC8DC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46976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29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A9CBE551-98BB-BF1B-5947-B898FDA8C0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9335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B47411E4-DE06-5A3B-3C0D-1AEEBCB53B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7593" y="189900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202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sing_DEN_b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30E29769-C478-F59E-8968-9D5400DFFF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22723" y="908287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80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losing_DEN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NATIONAL ECONOMIC COUNCIL</a:t>
            </a:r>
          </a:p>
          <a:p>
            <a:pPr algn="ctr"/>
            <a:r>
              <a:rPr lang="en-US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REPUBLIC OF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75000"/>
                  </a:schemeClr>
                </a:solidFill>
                <a:latin typeface="Arial Nova" panose="020B0504020202020204" pitchFamily="34" charset="0"/>
              </a:rPr>
              <a:t>THANK YOU</a:t>
            </a:r>
          </a:p>
        </p:txBody>
      </p:sp>
      <p:pic>
        <p:nvPicPr>
          <p:cNvPr id="5" name="Picture 4" descr="A white circle with a gold eagle and a star&#10;&#10;Description automatically generated">
            <a:extLst>
              <a:ext uri="{FF2B5EF4-FFF2-40B4-BE49-F238E27FC236}">
                <a16:creationId xmlns:a16="http://schemas.microsoft.com/office/drawing/2014/main" id="{02D7CE29-7999-CB50-102B-9950080680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88523" y="775777"/>
            <a:ext cx="932400" cy="9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91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9D7D42D8-047F-A9F8-8F06-04BEA6C2FA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582389" y="83613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78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07707" y="624850"/>
            <a:ext cx="8814405" cy="6441610"/>
          </a:xfrm>
          <a:prstGeom prst="rect">
            <a:avLst/>
          </a:prstGeom>
        </p:spPr>
      </p:pic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84" y="3385684"/>
            <a:ext cx="4280502" cy="663988"/>
          </a:xfrm>
        </p:spPr>
        <p:txBody>
          <a:bodyPr>
            <a:norm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3" name="Picture 2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DAF5E05D-2BA8-05CF-7B78-67751F7A4F6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71584" y="684071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296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_Mar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6E334B8-DAB2-7D47-B987-5E224A19FEDE}"/>
              </a:ext>
            </a:extLst>
          </p:cNvPr>
          <p:cNvSpPr/>
          <p:nvPr/>
        </p:nvSpPr>
        <p:spPr>
          <a:xfrm rot="5400000">
            <a:off x="11831999" y="6498000"/>
            <a:ext cx="360000" cy="36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029AD-ED50-D64D-AB11-000C5AE57D64}"/>
              </a:ext>
            </a:extLst>
          </p:cNvPr>
          <p:cNvSpPr/>
          <p:nvPr/>
        </p:nvSpPr>
        <p:spPr>
          <a:xfrm rot="5400000">
            <a:off x="140615" y="619335"/>
            <a:ext cx="632465" cy="7353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3114A-4B8C-4476-9BD8-6FE14A305178}"/>
              </a:ext>
            </a:extLst>
          </p:cNvPr>
          <p:cNvSpPr/>
          <p:nvPr/>
        </p:nvSpPr>
        <p:spPr>
          <a:xfrm>
            <a:off x="-1" y="6472057"/>
            <a:ext cx="5975927" cy="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AB41AF6-B055-4A80-BF10-0CB584AAC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07" y="339868"/>
            <a:ext cx="10618345" cy="63246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EFAD7F3E-7C28-4AAD-AFD8-67BBF4508B9A}"/>
              </a:ext>
            </a:extLst>
          </p:cNvPr>
          <p:cNvSpPr txBox="1">
            <a:spLocks/>
          </p:cNvSpPr>
          <p:nvPr/>
        </p:nvSpPr>
        <p:spPr>
          <a:xfrm>
            <a:off x="11831999" y="6498000"/>
            <a:ext cx="36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088F5FB7-4D5A-44F2-88B4-9D61645A7BFE}" type="slidenum">
              <a:rPr lang="en-ID" sz="1000" smtClean="0"/>
              <a:pPr algn="ctr"/>
              <a:t>‹#›</a:t>
            </a:fld>
            <a:endParaRPr lang="en-ID" sz="1000"/>
          </a:p>
        </p:txBody>
      </p:sp>
      <p:pic>
        <p:nvPicPr>
          <p:cNvPr id="2" name="Picture 1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D18EAC92-4BBB-90DF-C2B3-2CA051E528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01793" y="2241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0037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Garu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4518-EB04-F120-F2CB-EA369F1A4096}"/>
              </a:ext>
            </a:extLst>
          </p:cNvPr>
          <p:cNvSpPr/>
          <p:nvPr userDrawn="1"/>
        </p:nvSpPr>
        <p:spPr>
          <a:xfrm>
            <a:off x="58723" y="-258737"/>
            <a:ext cx="12192000" cy="6929336"/>
          </a:xfrm>
          <a:prstGeom prst="rect">
            <a:avLst/>
          </a:prstGeom>
          <a:gradFill flip="none" rotWithShape="1">
            <a:gsLst>
              <a:gs pos="55000">
                <a:schemeClr val="bg1">
                  <a:alpha val="76608"/>
                </a:schemeClr>
              </a:gs>
              <a:gs pos="100000">
                <a:schemeClr val="bg1"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20A5B-48EA-D5CF-5DCC-F19CFA3CB8C3}"/>
              </a:ext>
            </a:extLst>
          </p:cNvPr>
          <p:cNvSpPr txBox="1"/>
          <p:nvPr userDrawn="1"/>
        </p:nvSpPr>
        <p:spPr>
          <a:xfrm>
            <a:off x="3200942" y="3266009"/>
            <a:ext cx="59075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4000" b="1">
                <a:solidFill>
                  <a:schemeClr val="accent6">
                    <a:lumMod val="50000"/>
                  </a:schemeClr>
                </a:solidFill>
                <a:latin typeface="Arial Nova" panose="020B0504020202020204" pitchFamily="34" charset="0"/>
              </a:rPr>
              <a:t>TERIMA KASIH</a:t>
            </a:r>
          </a:p>
        </p:txBody>
      </p:sp>
      <p:pic>
        <p:nvPicPr>
          <p:cNvPr id="5" name="Picture 4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828A12D5-3800-1FCD-DDD3-9C6A6B8707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63999" y="831254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9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_DEN_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D5A149-7E68-9F1A-41FE-950430F29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0" b="28180"/>
          <a:stretch/>
        </p:blipFill>
        <p:spPr>
          <a:xfrm>
            <a:off x="222503" y="187401"/>
            <a:ext cx="11746992" cy="6419088"/>
          </a:xfrm>
          <a:prstGeom prst="rect">
            <a:avLst/>
          </a:prstGeom>
          <a:effectLst/>
        </p:spPr>
      </p:pic>
      <p:pic>
        <p:nvPicPr>
          <p:cNvPr id="25" name="Picture 2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FA95C3A-439A-1DA0-6542-801CF6067C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507256" y="-844487"/>
            <a:ext cx="3177488" cy="11746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5DFB2-E030-3B1A-6144-3BF9EA90E2DC}"/>
              </a:ext>
            </a:extLst>
          </p:cNvPr>
          <p:cNvSpPr txBox="1"/>
          <p:nvPr userDrawn="1"/>
        </p:nvSpPr>
        <p:spPr>
          <a:xfrm>
            <a:off x="3001861" y="1772287"/>
            <a:ext cx="6188278" cy="47565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DEWAN EKONOMI NASIONAL</a:t>
            </a:r>
          </a:p>
          <a:p>
            <a:pPr algn="ctr"/>
            <a:r>
              <a:rPr lang="nn-NO"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REPUBLIK INDONESIA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EE1A4B-408C-60B4-1C21-43D3AD2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4691" y="3163236"/>
            <a:ext cx="7064963" cy="92781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24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6B07C4-F4F2-F786-5386-371F1DB8D5F8}"/>
              </a:ext>
            </a:extLst>
          </p:cNvPr>
          <p:cNvCxnSpPr/>
          <p:nvPr userDrawn="1"/>
        </p:nvCxnSpPr>
        <p:spPr>
          <a:xfrm>
            <a:off x="2234985" y="4091054"/>
            <a:ext cx="794437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11D71CB-D15A-455E-70CD-9D7DA1FFA81E}"/>
              </a:ext>
            </a:extLst>
          </p:cNvPr>
          <p:cNvSpPr txBox="1"/>
          <p:nvPr userDrawn="1"/>
        </p:nvSpPr>
        <p:spPr>
          <a:xfrm>
            <a:off x="2868567" y="4256313"/>
            <a:ext cx="64548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Direktorat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Eksekutif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Bidang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Strategi dan </a:t>
            </a:r>
            <a:r>
              <a:rPr lang="en-US" sz="1600" b="1" err="1">
                <a:solidFill>
                  <a:schemeClr val="bg1"/>
                </a:solidFill>
                <a:latin typeface="Arial Nova" panose="020B0504020202020204" pitchFamily="34" charset="0"/>
              </a:rPr>
              <a:t>Kebijakan</a:t>
            </a: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 Ekonomi  </a:t>
            </a:r>
            <a:b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</a:br>
            <a:r>
              <a:rPr lang="en-US" sz="1600" b="1">
                <a:solidFill>
                  <a:schemeClr val="bg1"/>
                </a:solidFill>
                <a:latin typeface="Arial Nova" panose="020B0504020202020204" pitchFamily="34" charset="0"/>
              </a:rPr>
              <a:t>Dewan Ekonomi Nasional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C3C31975-EAF8-5F8A-C1D3-B60BFB7689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4691" y="5006348"/>
            <a:ext cx="7064964" cy="663988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4" name="Picture 3" descr="A white circle with a gold eagle and black text&#10;&#10;Description automatically generated">
            <a:extLst>
              <a:ext uri="{FF2B5EF4-FFF2-40B4-BE49-F238E27FC236}">
                <a16:creationId xmlns:a16="http://schemas.microsoft.com/office/drawing/2014/main" id="{0281931D-3DE5-CEE5-19CF-D3EBE0C99E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3999" y="908286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77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4D562-F104-47E4-9811-644E23B2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6BFE-8D25-0AAE-1D35-79914737B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F5AD6-F3EF-7F41-FF35-C5B5E0DCD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20 Oktober 2022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9A3C6-23C9-93EE-A339-9E8646133A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4A5AB-40AF-8CF3-582C-EC9451C88C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A242A-DC7A-4F17-BDA9-7A721769C48A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18053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D2DCC-E1A6-8F28-EE4F-94315200B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2600">
                <a:solidFill>
                  <a:srgbClr val="FFFFFF"/>
                </a:solidFill>
              </a:rPr>
              <a:t>Stress Test Solvabilitas Perbankan</a:t>
            </a:r>
            <a:br>
              <a:rPr lang="id-ID" sz="2600">
                <a:solidFill>
                  <a:srgbClr val="FFFFFF"/>
                </a:solidFill>
              </a:rPr>
            </a:br>
            <a:r>
              <a:rPr lang="id-ID" sz="2600">
                <a:solidFill>
                  <a:srgbClr val="FFFFFF"/>
                </a:solidFill>
              </a:rPr>
              <a:t>Kerangka, Asumsi, Model, dan Hasil</a:t>
            </a:r>
            <a:endParaRPr lang="id-ID" sz="26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B5D71-861B-89D2-BFAC-5CCE6765DA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/>
              <a:t>45 bank listed  |  Data s.d. 2026Q2  |  Oktober 2026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3883224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8776-FE72-99F1-E859-6338F7E0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Agenda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01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02" name="Text 203"/>
          <p:cNvSpPr txBox="1"/>
          <p:nvPr/>
        </p:nvSpPr>
        <p:spPr>
          <a:xfrm>
            <a:off x="55880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Kerangka stress test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03" name="Text 204"/>
          <p:cNvSpPr txBox="1"/>
          <p:nvPr/>
        </p:nvSpPr>
        <p:spPr>
          <a:xfrm>
            <a:off x="55880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1400" b="0">
                <a:solidFill>
                  <a:srgbClr val="262626"/>
                </a:solidFill>
                <a:latin typeface="Arial"/>
                <a:cs typeface="Arial"/>
              </a:rPr>
              <a:t>Alur dari skenario makro ke laba, modal, dan CAR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4" name="Line 205"/>
          <p:cNvCxnSpPr/>
          <p:nvPr/>
        </p:nvCxnSpPr>
        <p:spPr>
          <a:xfrm>
            <a:off x="281432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5" name="Text 206"/>
          <p:cNvSpPr txBox="1"/>
          <p:nvPr/>
        </p:nvSpPr>
        <p:spPr>
          <a:xfrm>
            <a:off x="281432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02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06" name="Text 207"/>
          <p:cNvSpPr txBox="1"/>
          <p:nvPr/>
        </p:nvSpPr>
        <p:spPr>
          <a:xfrm>
            <a:off x="281432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Asumsi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07" name="Text 208"/>
          <p:cNvSpPr txBox="1"/>
          <p:nvPr/>
        </p:nvSpPr>
        <p:spPr>
          <a:xfrm>
            <a:off x="281432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id-ID" sz="1400" b="0">
                <a:solidFill>
                  <a:srgbClr val="262626"/>
                </a:solidFill>
                <a:latin typeface="Arial"/>
                <a:cs typeface="Arial"/>
              </a:rPr>
              <a:t>Skenario makro, sumber data, dan parameter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8" name="Line 209"/>
          <p:cNvCxnSpPr/>
          <p:nvPr/>
        </p:nvCxnSpPr>
        <p:spPr>
          <a:xfrm>
            <a:off x="506984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09" name="Text 210"/>
          <p:cNvSpPr txBox="1"/>
          <p:nvPr/>
        </p:nvSpPr>
        <p:spPr>
          <a:xfrm>
            <a:off x="506984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03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10" name="Text 211"/>
          <p:cNvSpPr txBox="1"/>
          <p:nvPr/>
        </p:nvSpPr>
        <p:spPr>
          <a:xfrm>
            <a:off x="506984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Satellite model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11" name="Text 212"/>
          <p:cNvSpPr txBox="1"/>
          <p:nvPr/>
        </p:nvSpPr>
        <p:spPr>
          <a:xfrm>
            <a:off x="506984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it-IT" sz="1400" b="0">
                <a:solidFill>
                  <a:srgbClr val="262626"/>
                </a:solidFill>
                <a:latin typeface="Arial"/>
                <a:cs typeface="Arial"/>
              </a:rPr>
              <a:t>Model NPL dan provisi beserta prediktornya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732536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213" name="Text 214"/>
          <p:cNvSpPr txBox="1"/>
          <p:nvPr/>
        </p:nvSpPr>
        <p:spPr>
          <a:xfrm>
            <a:off x="732536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04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214" name="Text 215"/>
          <p:cNvSpPr txBox="1"/>
          <p:nvPr/>
        </p:nvSpPr>
        <p:spPr>
          <a:xfrm>
            <a:off x="732536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Estimasi akuntansi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15" name="Text 216"/>
          <p:cNvSpPr txBox="1"/>
          <p:nvPr/>
        </p:nvSpPr>
        <p:spPr>
          <a:xfrm>
            <a:off x="732536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es-ES" sz="1400" b="0">
                <a:solidFill>
                  <a:srgbClr val="262626"/>
                </a:solidFill>
                <a:latin typeface="Arial"/>
                <a:cs typeface="Arial"/>
              </a:rPr>
              <a:t>Neraca, bunga, surat berharga, pajak, dan modal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3" name="Line 213">
            <a:extLst>
              <a:ext uri="{FF2B5EF4-FFF2-40B4-BE49-F238E27FC236}">
                <a16:creationId xmlns:a16="http://schemas.microsoft.com/office/drawing/2014/main" id="{A4D46085-6CAC-113B-42A1-518E7FEC9C3D}"/>
              </a:ext>
            </a:extLst>
          </p:cNvPr>
          <p:cNvCxnSpPr/>
          <p:nvPr/>
        </p:nvCxnSpPr>
        <p:spPr>
          <a:xfrm>
            <a:off x="9580880" y="2159000"/>
            <a:ext cx="2052320" cy="0"/>
          </a:xfrm>
          <a:prstGeom prst="line">
            <a:avLst/>
          </a:prstGeom>
          <a:ln w="31750">
            <a:solidFill>
              <a:srgbClr val="A5644E"/>
            </a:solidFill>
          </a:ln>
        </p:spPr>
      </p:cxnSp>
      <p:sp>
        <p:nvSpPr>
          <p:cNvPr id="4" name="Text 214">
            <a:extLst>
              <a:ext uri="{FF2B5EF4-FFF2-40B4-BE49-F238E27FC236}">
                <a16:creationId xmlns:a16="http://schemas.microsoft.com/office/drawing/2014/main" id="{3ABC64B1-9DA8-7520-7983-56DC411C1ACD}"/>
              </a:ext>
            </a:extLst>
          </p:cNvPr>
          <p:cNvSpPr txBox="1"/>
          <p:nvPr/>
        </p:nvSpPr>
        <p:spPr>
          <a:xfrm>
            <a:off x="9580880" y="2311400"/>
            <a:ext cx="205232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3600" b="1">
                <a:latin typeface="Arial"/>
                <a:cs typeface="Arial"/>
              </a:rPr>
              <a:t>05</a:t>
            </a:r>
            <a:endParaRPr lang="id-ID" sz="3600" b="1" dirty="0">
              <a:latin typeface="Arial"/>
              <a:cs typeface="Arial"/>
            </a:endParaRPr>
          </a:p>
        </p:txBody>
      </p:sp>
      <p:sp>
        <p:nvSpPr>
          <p:cNvPr id="5" name="Text 215">
            <a:extLst>
              <a:ext uri="{FF2B5EF4-FFF2-40B4-BE49-F238E27FC236}">
                <a16:creationId xmlns:a16="http://schemas.microsoft.com/office/drawing/2014/main" id="{27C6ACA6-960F-5253-E630-FC0AF630DDD4}"/>
              </a:ext>
            </a:extLst>
          </p:cNvPr>
          <p:cNvSpPr txBox="1"/>
          <p:nvPr/>
        </p:nvSpPr>
        <p:spPr>
          <a:xfrm>
            <a:off x="9580880" y="3175000"/>
            <a:ext cx="205232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600" b="1">
                <a:solidFill>
                  <a:srgbClr val="000000"/>
                </a:solidFill>
                <a:latin typeface="Arial"/>
                <a:cs typeface="Arial"/>
              </a:rPr>
              <a:t>Hasil stress test</a:t>
            </a:r>
            <a:endParaRPr lang="id-ID" sz="16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6" name="Text 216">
            <a:extLst>
              <a:ext uri="{FF2B5EF4-FFF2-40B4-BE49-F238E27FC236}">
                <a16:creationId xmlns:a16="http://schemas.microsoft.com/office/drawing/2014/main" id="{17C5B1BE-07E7-95FA-9D51-77C5D3640604}"/>
              </a:ext>
            </a:extLst>
          </p:cNvPr>
          <p:cNvSpPr txBox="1"/>
          <p:nvPr/>
        </p:nvSpPr>
        <p:spPr>
          <a:xfrm>
            <a:off x="9580880" y="3962400"/>
            <a:ext cx="205232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1400" b="0">
                <a:solidFill>
                  <a:srgbClr val="262626"/>
                </a:solidFill>
                <a:latin typeface="Arial"/>
                <a:cs typeface="Arial"/>
              </a:rPr>
              <a:t>Industri, KBMI, Himbara, dan bank individual</a:t>
            </a:r>
            <a:endParaRPr lang="id-ID" sz="1400" b="0" dirty="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88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Kerangka stress test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01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782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0FC35-DD55-254D-ED11-37C5E6970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Tiga kanal risiko bertemu di laba, lalu CAR bergerak dari sisi modal dan RWA</a:t>
            </a:r>
            <a:endParaRPr lang="id-ID" sz="2000" dirty="0"/>
          </a:p>
        </p:txBody>
      </p:sp>
      <p:sp>
        <p:nvSpPr>
          <p:cNvPr id="200" name="Text 201"/>
          <p:cNvSpPr txBox="1"/>
          <p:nvPr/>
        </p:nvSpPr>
        <p:spPr>
          <a:xfrm>
            <a:off x="558800" y="1270000"/>
            <a:ext cx="1905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INPUT</a:t>
            </a:r>
          </a:p>
        </p:txBody>
      </p:sp>
      <p:sp>
        <p:nvSpPr>
          <p:cNvPr id="201" name="Text 202"/>
          <p:cNvSpPr txBox="1"/>
          <p:nvPr/>
        </p:nvSpPr>
        <p:spPr>
          <a:xfrm>
            <a:off x="2895600" y="1270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SATELLITE MODEL &amp; RULE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5613400" y="12700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LABA</a:t>
            </a:r>
          </a:p>
        </p:txBody>
      </p:sp>
      <p:sp>
        <p:nvSpPr>
          <p:cNvPr id="203" name="Text 204"/>
          <p:cNvSpPr txBox="1"/>
          <p:nvPr/>
        </p:nvSpPr>
        <p:spPr>
          <a:xfrm>
            <a:off x="7823200" y="12700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MODAL &amp; ATMR</a:t>
            </a:r>
          </a:p>
        </p:txBody>
      </p:sp>
      <p:sp>
        <p:nvSpPr>
          <p:cNvPr id="204" name="Text 205"/>
          <p:cNvSpPr txBox="1"/>
          <p:nvPr/>
        </p:nvSpPr>
        <p:spPr>
          <a:xfrm>
            <a:off x="10033000" y="12700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 b="1" dirty="0">
                <a:solidFill>
                  <a:srgbClr val="A5644E"/>
                </a:solidFill>
                <a:latin typeface="Arial"/>
                <a:cs typeface="Arial"/>
              </a:rPr>
              <a:t>RASIO</a:t>
            </a:r>
          </a:p>
        </p:txBody>
      </p:sp>
      <p:cxnSp>
        <p:nvCxnSpPr>
          <p:cNvPr id="205" name="Line 206"/>
          <p:cNvCxnSpPr/>
          <p:nvPr/>
        </p:nvCxnSpPr>
        <p:spPr>
          <a:xfrm>
            <a:off x="558800" y="1524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6" name="Text 207"/>
          <p:cNvSpPr/>
          <p:nvPr/>
        </p:nvSpPr>
        <p:spPr>
          <a:xfrm>
            <a:off x="558800" y="1905000"/>
            <a:ext cx="1905000" cy="1397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Skenario makro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GDP, BI rate, CPI, kurs, properti, yield SBN; 3 skenario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Solvency ST.xlsx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7" name="Text 208"/>
          <p:cNvSpPr/>
          <p:nvPr/>
        </p:nvSpPr>
        <p:spPr>
          <a:xfrm>
            <a:off x="558800" y="3683000"/>
            <a:ext cx="1905000" cy="1397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300" b="1">
                <a:solidFill>
                  <a:srgbClr val="000000"/>
                </a:solidFill>
                <a:latin typeface="Arial"/>
                <a:cs typeface="Arial"/>
              </a:rPr>
              <a:t>Posisi awal bank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50">
                <a:solidFill>
                  <a:srgbClr val="262626"/>
                </a:solidFill>
                <a:latin typeface="Arial"/>
                <a:cs typeface="Arial"/>
              </a:rPr>
              <a:t>Kredit, aset, deposito, modal, RWA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cs typeface="Arial"/>
              </a:rPr>
              <a:t>45 bank, 2026Q2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8" name="Text 209"/>
          <p:cNvSpPr/>
          <p:nvPr/>
        </p:nvSpPr>
        <p:spPr>
          <a:xfrm>
            <a:off x="2895600" y="16256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Kanal kredit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NPL → provisi + overlay stres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Satellite model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09" name="Text 210"/>
          <p:cNvSpPr/>
          <p:nvPr/>
        </p:nvSpPr>
        <p:spPr>
          <a:xfrm>
            <a:off x="2895600" y="28702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Neraca &amp; bunga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Tumbuh dengan GDP nominal; bunga ikut BI rate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0" name="Text 211"/>
          <p:cNvSpPr/>
          <p:nvPr/>
        </p:nvSpPr>
        <p:spPr>
          <a:xfrm>
            <a:off x="2895600" y="4114800"/>
            <a:ext cx="2286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Surat berharga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SBN × (−durasi × </a:t>
            </a:r>
            <a:r>
              <a:rPr lang="el-GR" sz="1150">
                <a:solidFill>
                  <a:srgbClr val="262626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yield)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1" name="Text 212"/>
          <p:cNvSpPr/>
          <p:nvPr/>
        </p:nvSpPr>
        <p:spPr>
          <a:xfrm>
            <a:off x="5613400" y="28702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Laba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EBT → pajak 22% → EAT; dividen 50%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Identitas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2" name="Text 213"/>
          <p:cNvSpPr/>
          <p:nvPr/>
        </p:nvSpPr>
        <p:spPr>
          <a:xfrm>
            <a:off x="7823200" y="22352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Modal &amp; Tier 1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Modal lalu + laba ditahan − rugi OCI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Identitas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3" name="Text 214"/>
          <p:cNvSpPr/>
          <p:nvPr/>
        </p:nvSpPr>
        <p:spPr>
          <a:xfrm>
            <a:off x="7823200" y="3822700"/>
            <a:ext cx="1778000" cy="10414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RWA / ATMR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Tumbuh dengan GDP nominal skenario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000">
                <a:solidFill>
                  <a:srgbClr val="595959"/>
                </a:solidFill>
                <a:latin typeface="Arial"/>
                <a:cs typeface="Arial"/>
              </a:rPr>
              <a:t>Rule</a:t>
            </a:r>
            <a:endParaRPr lang="id-ID" sz="1000" dirty="0">
              <a:solidFill>
                <a:srgbClr val="595959"/>
              </a:solidFill>
              <a:latin typeface="Arial"/>
              <a:cs typeface="Arial"/>
            </a:endParaRPr>
          </a:p>
        </p:txBody>
      </p:sp>
      <p:sp>
        <p:nvSpPr>
          <p:cNvPr id="214" name="Text 215"/>
          <p:cNvSpPr/>
          <p:nvPr/>
        </p:nvSpPr>
        <p:spPr>
          <a:xfrm>
            <a:off x="10033000" y="2870200"/>
            <a:ext cx="1600200" cy="1041400"/>
          </a:xfrm>
          <a:prstGeom prst="rect">
            <a:avLst/>
          </a:prstGeom>
          <a:solidFill>
            <a:srgbClr val="A5644E"/>
          </a:solidFill>
          <a:ln>
            <a:noFill/>
          </a:ln>
        </p:spPr>
        <p:txBody>
          <a:bodyPr wrap="square" lIns="114300" tIns="88900" rIns="88900" bIns="7620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300" b="1">
                <a:solidFill>
                  <a:srgbClr val="FFFFFF"/>
                </a:solidFill>
                <a:latin typeface="Arial"/>
                <a:cs typeface="Arial"/>
              </a:rPr>
              <a:t>CAR &amp; Tier 1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150">
                <a:solidFill>
                  <a:srgbClr val="FFFFFF"/>
                </a:solidFill>
                <a:latin typeface="Arial"/>
                <a:cs typeface="Arial"/>
              </a:rPr>
              <a:t>Modal ÷ RWA × 100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fr-FR" sz="1000">
                <a:solidFill>
                  <a:srgbClr val="F3E9E3"/>
                </a:solidFill>
                <a:latin typeface="Arial"/>
                <a:cs typeface="Arial"/>
              </a:rPr>
              <a:t>Gagal jika &lt; 8%</a:t>
            </a:r>
            <a:endParaRPr lang="id-ID" sz="1000" dirty="0">
              <a:solidFill>
                <a:srgbClr val="F3E9E3"/>
              </a:solidFill>
              <a:latin typeface="Arial"/>
              <a:cs typeface="Arial"/>
            </a:endParaRPr>
          </a:p>
        </p:txBody>
      </p:sp>
      <p:cxnSp>
        <p:nvCxnSpPr>
          <p:cNvPr id="215" name="Line 216"/>
          <p:cNvCxnSpPr/>
          <p:nvPr/>
        </p:nvCxnSpPr>
        <p:spPr>
          <a:xfrm>
            <a:off x="2463800" y="2603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6" name="Line 217"/>
          <p:cNvCxnSpPr/>
          <p:nvPr/>
        </p:nvCxnSpPr>
        <p:spPr>
          <a:xfrm>
            <a:off x="2463800" y="4381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7" name="Line 218"/>
          <p:cNvCxnSpPr/>
          <p:nvPr/>
        </p:nvCxnSpPr>
        <p:spPr>
          <a:xfrm>
            <a:off x="2679700" y="2146300"/>
            <a:ext cx="0" cy="24892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18" name="Line 219"/>
          <p:cNvCxnSpPr/>
          <p:nvPr/>
        </p:nvCxnSpPr>
        <p:spPr>
          <a:xfrm>
            <a:off x="2679700" y="21463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19" name="Line 220"/>
          <p:cNvCxnSpPr/>
          <p:nvPr/>
        </p:nvCxnSpPr>
        <p:spPr>
          <a:xfrm>
            <a:off x="26797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0" name="Line 221"/>
          <p:cNvCxnSpPr/>
          <p:nvPr/>
        </p:nvCxnSpPr>
        <p:spPr>
          <a:xfrm>
            <a:off x="2679700" y="46355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1" name="Line 222"/>
          <p:cNvCxnSpPr/>
          <p:nvPr/>
        </p:nvCxnSpPr>
        <p:spPr>
          <a:xfrm>
            <a:off x="5181600" y="21463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2" name="Line 223"/>
          <p:cNvCxnSpPr/>
          <p:nvPr/>
        </p:nvCxnSpPr>
        <p:spPr>
          <a:xfrm>
            <a:off x="51816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3" name="Line 224"/>
          <p:cNvCxnSpPr/>
          <p:nvPr/>
        </p:nvCxnSpPr>
        <p:spPr>
          <a:xfrm>
            <a:off x="5181600" y="46355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4" name="Line 225"/>
          <p:cNvCxnSpPr/>
          <p:nvPr/>
        </p:nvCxnSpPr>
        <p:spPr>
          <a:xfrm>
            <a:off x="5397500" y="2146300"/>
            <a:ext cx="0" cy="24892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5" name="Line 226"/>
          <p:cNvCxnSpPr/>
          <p:nvPr/>
        </p:nvCxnSpPr>
        <p:spPr>
          <a:xfrm>
            <a:off x="53975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6" name="Line 227"/>
          <p:cNvCxnSpPr/>
          <p:nvPr/>
        </p:nvCxnSpPr>
        <p:spPr>
          <a:xfrm>
            <a:off x="73914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7" name="Line 228"/>
          <p:cNvCxnSpPr/>
          <p:nvPr/>
        </p:nvCxnSpPr>
        <p:spPr>
          <a:xfrm>
            <a:off x="7607300" y="2755900"/>
            <a:ext cx="0" cy="6350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28" name="Line 229"/>
          <p:cNvCxnSpPr/>
          <p:nvPr/>
        </p:nvCxnSpPr>
        <p:spPr>
          <a:xfrm>
            <a:off x="7607300" y="2755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29" name="Line 230"/>
          <p:cNvCxnSpPr/>
          <p:nvPr/>
        </p:nvCxnSpPr>
        <p:spPr>
          <a:xfrm>
            <a:off x="9601200" y="27559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0" name="Line 231"/>
          <p:cNvCxnSpPr/>
          <p:nvPr/>
        </p:nvCxnSpPr>
        <p:spPr>
          <a:xfrm>
            <a:off x="9601200" y="4343400"/>
            <a:ext cx="215900" cy="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1" name="Line 232"/>
          <p:cNvCxnSpPr/>
          <p:nvPr/>
        </p:nvCxnSpPr>
        <p:spPr>
          <a:xfrm>
            <a:off x="9817100" y="2755900"/>
            <a:ext cx="0" cy="1587500"/>
          </a:xfrm>
          <a:prstGeom prst="line">
            <a:avLst/>
          </a:prstGeom>
          <a:ln w="9525">
            <a:solidFill>
              <a:srgbClr val="8C8C8C"/>
            </a:solidFill>
          </a:ln>
        </p:spPr>
      </p:cxnSp>
      <p:cxnSp>
        <p:nvCxnSpPr>
          <p:cNvPr id="232" name="Line 233"/>
          <p:cNvCxnSpPr/>
          <p:nvPr/>
        </p:nvCxnSpPr>
        <p:spPr>
          <a:xfrm>
            <a:off x="9817100" y="3390900"/>
            <a:ext cx="215900" cy="0"/>
          </a:xfrm>
          <a:prstGeom prst="line">
            <a:avLst/>
          </a:prstGeom>
          <a:ln w="9525">
            <a:solidFill>
              <a:srgbClr val="8C8C8C"/>
            </a:solidFill>
            <a:tailEnd type="triangle" w="med" len="med"/>
          </a:ln>
        </p:spPr>
      </p:cxnSp>
      <p:cxnSp>
        <p:nvCxnSpPr>
          <p:cNvPr id="233" name="Line 234"/>
          <p:cNvCxnSpPr/>
          <p:nvPr/>
        </p:nvCxnSpPr>
        <p:spPr>
          <a:xfrm>
            <a:off x="558800" y="5435600"/>
            <a:ext cx="11074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34" name="Text 235"/>
          <p:cNvSpPr txBox="1"/>
          <p:nvPr/>
        </p:nvSpPr>
        <p:spPr>
          <a:xfrm>
            <a:off x="558800" y="5511800"/>
            <a:ext cx="11074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262626"/>
                </a:solidFill>
                <a:latin typeface="Arial"/>
                <a:cs typeface="Arial"/>
              </a:rPr>
              <a:t>Horizon 4 kuartal (2026Q3–2027Q2); bank dinyatakan gagal bila CAR &lt; 8% di kuartal mana pun. Belum dimodelkan: risiko likuiditas, PD-LGD-EAD, contagion antarbank, dan respons manajemen.</a:t>
            </a:r>
            <a:endParaRPr lang="id-ID" sz="1150" dirty="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5345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Asumsi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02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84314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000"/>
              <a:t>Skenario makro: baseline ditambah shock berbasis standar deviasi historis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664747"/>
              </p:ext>
            </p:extLst>
          </p:nvPr>
        </p:nvGraphicFramePr>
        <p:xfrm>
          <a:off x="558800" y="1270000"/>
          <a:ext cx="11074400" cy="4328160"/>
        </p:xfrm>
        <a:graphic>
          <a:graphicData uri="http://schemas.openxmlformats.org/drawingml/2006/table">
            <a:tbl>
              <a:tblPr firstRow="1"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97711348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 (posisi 2027Q2)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disusun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riil (% yoy)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 proyeksi; shock −0,25</a:t>
                      </a: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σ / −0,5σ 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Judgment: +50 bp / +150 bp (pola 2013, 2018, 2022)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CPI (% yoy)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+0,25σ / +0,5σ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Kurs (Rp/USD)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17.500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19.199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20.521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depresiasi 0,25σ / 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(% qoq)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−1,12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−2,50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Adverse 1 = 50% shock Adverse 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UST 10Y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4,96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6,11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7,26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Shock +0,25σ / +0,5σ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SBN 10Y (%)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6,85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9,45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0,43×ΔUST + 0,13×ΔBI rate + 0,08×Δln kurs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4831582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72516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 dirty="0">
                <a:solidFill>
                  <a:srgbClr val="000000"/>
                </a:solidFill>
                <a:latin typeface="Arial"/>
                <a:cs typeface="Arial"/>
              </a:rPr>
              <a:t>Sumber: data historis BI, BPS, dan Bloomberg (Asset Market Updater, 1 Oktober 2026). Shock bersifat kumulatif per kuartal; </a:t>
            </a:r>
            <a:r>
              <a:rPr lang="el-GR" sz="1150" dirty="0">
                <a:solidFill>
                  <a:srgbClr val="000000"/>
                </a:solidFill>
                <a:latin typeface="Arial"/>
                <a:cs typeface="Arial"/>
              </a:rPr>
              <a:t>σ = </a:t>
            </a:r>
            <a:r>
              <a:rPr lang="id-ID" sz="1150" dirty="0">
                <a:solidFill>
                  <a:srgbClr val="000000"/>
                </a:solidFill>
                <a:latin typeface="Arial"/>
                <a:cs typeface="Arial"/>
              </a:rPr>
              <a:t>standar deviasi historis. Adverse 1 dan Adverse 2 adalah satu jenis guncangan (global) dengan tingkat keparahan berbeda.</a:t>
            </a:r>
          </a:p>
        </p:txBody>
      </p:sp>
    </p:spTree>
    <p:extLst>
      <p:ext uri="{BB962C8B-B14F-4D97-AF65-F5344CB8AC3E}">
        <p14:creationId xmlns:p14="http://schemas.microsoft.com/office/powerpoint/2010/main" val="1487600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d-ID" sz="2000"/>
              <a:t>Adverse 2 menekan PDB ke 0,7% dan mendorong yield SBN ke 9,45%; Adverse 1 separuhnya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9F427E-054F-1F4B-5D55-D4A8C9C4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168400"/>
            <a:ext cx="7283450" cy="50990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C8C8D0-A561-3FAE-3DC5-7A4E589C1F78}"/>
              </a:ext>
            </a:extLst>
          </p:cNvPr>
          <p:cNvSpPr txBox="1"/>
          <p:nvPr/>
        </p:nvSpPr>
        <p:spPr>
          <a:xfrm>
            <a:off x="8255000" y="1219200"/>
            <a:ext cx="3378200" cy="310341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lang="id-ID" sz="1300" b="1" dirty="0">
                <a:solidFill>
                  <a:srgbClr val="A5644E"/>
                </a:solidFill>
                <a:latin typeface="Arial" panose="020B0604020202020204" pitchFamily="34" charset="0"/>
              </a:rPr>
              <a:t>Adverse 2 pada 2027Q2 (vs baseline)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id-ID" sz="1300" b="1" dirty="0">
                <a:solidFill>
                  <a:srgbClr val="262626"/>
                </a:solidFill>
                <a:latin typeface="Arial" panose="020B0604020202020204" pitchFamily="34" charset="0"/>
              </a:rPr>
              <a:t>Global: </a:t>
            </a:r>
            <a:r>
              <a:rPr lang="id-ID" sz="1300" dirty="0">
                <a:solidFill>
                  <a:srgbClr val="262626"/>
                </a:solidFill>
                <a:latin typeface="Arial" panose="020B0604020202020204" pitchFamily="34" charset="0"/>
              </a:rPr>
              <a:t>yield UST 7,26% (+2,3 pp), rupiah Rp20.521/USD (baseline Rp17.500)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id-ID" sz="1300" b="1" dirty="0">
                <a:solidFill>
                  <a:srgbClr val="262626"/>
                </a:solidFill>
                <a:latin typeface="Arial" panose="020B0604020202020204" pitchFamily="34" charset="0"/>
              </a:rPr>
              <a:t>Domestik: </a:t>
            </a:r>
            <a:r>
              <a:rPr lang="id-ID" sz="1300" dirty="0">
                <a:solidFill>
                  <a:srgbClr val="262626"/>
                </a:solidFill>
                <a:latin typeface="Arial" panose="020B0604020202020204" pitchFamily="34" charset="0"/>
              </a:rPr>
              <a:t>inflasi 6,7%; BI rate naik 150 bp ke 7,25%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id-ID" sz="1300" b="1" dirty="0">
                <a:solidFill>
                  <a:srgbClr val="262626"/>
                </a:solidFill>
                <a:latin typeface="Arial" panose="020B0604020202020204" pitchFamily="34" charset="0"/>
              </a:rPr>
              <a:t>Riil: </a:t>
            </a:r>
            <a:r>
              <a:rPr lang="id-ID" sz="1300" dirty="0">
                <a:solidFill>
                  <a:srgbClr val="262626"/>
                </a:solidFill>
                <a:latin typeface="Arial" panose="020B0604020202020204" pitchFamily="34" charset="0"/>
              </a:rPr>
              <a:t>PDB tumbuh 0,7% (baseline 5,2%); harga properti −2,5% qoq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id-ID" sz="1300" b="1" dirty="0">
                <a:solidFill>
                  <a:srgbClr val="262626"/>
                </a:solidFill>
                <a:latin typeface="Arial" panose="020B0604020202020204" pitchFamily="34" charset="0"/>
              </a:rPr>
              <a:t>Pasar: </a:t>
            </a:r>
            <a:r>
              <a:rPr lang="id-ID" sz="1300" dirty="0">
                <a:solidFill>
                  <a:srgbClr val="262626"/>
                </a:solidFill>
                <a:latin typeface="Arial" panose="020B0604020202020204" pitchFamily="34" charset="0"/>
              </a:rPr>
              <a:t>yield SBN 9,45% (+2,6 pp), menekan nilai surat berharga</a:t>
            </a:r>
          </a:p>
          <a:p>
            <a:pPr marL="342900" indent="-342900">
              <a:spcAft>
                <a:spcPts val="600"/>
              </a:spcAft>
              <a:buFont typeface="+mj-lt"/>
              <a:buChar char="•"/>
            </a:pPr>
            <a:r>
              <a:rPr lang="id-ID" sz="1300" b="1" dirty="0">
                <a:solidFill>
                  <a:srgbClr val="262626"/>
                </a:solidFill>
                <a:latin typeface="Arial" panose="020B0604020202020204" pitchFamily="34" charset="0"/>
              </a:rPr>
              <a:t>Adverse 1: </a:t>
            </a:r>
            <a:r>
              <a:rPr lang="id-ID" sz="1300" dirty="0">
                <a:solidFill>
                  <a:srgbClr val="262626"/>
                </a:solidFill>
                <a:latin typeface="Arial" panose="020B0604020202020204" pitchFamily="34" charset="0"/>
              </a:rPr>
              <a:t>guncangan global yang sama, lebih ringan: 0,25σ vs 0,5σ; BI rate +50 bp (vs +150 bp)</a:t>
            </a:r>
          </a:p>
        </p:txBody>
      </p:sp>
      <p:sp>
        <p:nvSpPr>
          <p:cNvPr id="320" name="Note"/>
          <p:cNvSpPr txBox="1"/>
          <p:nvPr/>
        </p:nvSpPr>
        <p:spPr>
          <a:xfrm>
            <a:off x="8255000" y="4470400"/>
            <a:ext cx="3378200" cy="1193800"/>
          </a:xfrm>
          <a:prstGeom prst="rect">
            <a:avLst/>
          </a:prstGeom>
          <a:solidFill>
            <a:srgbClr val="F3E9E3"/>
          </a:solidFill>
        </p:spPr>
        <p:txBody>
          <a:bodyPr wrap="square" lIns="114300" tIns="91440" rIns="114300" bIns="91440" anchor="ctr">
            <a:noAutofit/>
          </a:bodyPr>
          <a:lstStyle/>
          <a:p>
            <a:pPr marL="0" indent="0">
              <a:buNone/>
            </a:pPr>
            <a:r>
              <a:rPr lang="id-ID" sz="1150" b="1" dirty="0">
                <a:solidFill>
                  <a:srgbClr val="262626"/>
                </a:solidFill>
                <a:latin typeface="Arial" panose="020B0604020202020204" pitchFamily="34" charset="0"/>
              </a:rPr>
              <a:t>Catatan: </a:t>
            </a:r>
            <a:r>
              <a:rPr lang="id-ID" sz="1150" dirty="0">
                <a:solidFill>
                  <a:srgbClr val="262626"/>
                </a:solidFill>
                <a:latin typeface="Arial" panose="020B0604020202020204" pitchFamily="34" charset="0"/>
              </a:rPr>
              <a:t>tiap variabel dikalibrasi terpisah dari σ historis; BI rate dan harga properti memakai judgment (shock properti ±8σ, variabel lain ±2σ). Path UST Adverse 2 (7,3%) tergolong tail scenario. Skenario ini bukan keluaran model makro terintegrasi.</a:t>
            </a:r>
          </a:p>
        </p:txBody>
      </p:sp>
    </p:spTree>
    <p:extLst>
      <p:ext uri="{BB962C8B-B14F-4D97-AF65-F5344CB8AC3E}">
        <p14:creationId xmlns:p14="http://schemas.microsoft.com/office/powerpoint/2010/main" val="3878340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Parameter lain: sebagian dari data, dua di antaranya judgment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08816"/>
              </p:ext>
            </p:extLst>
          </p:nvPr>
        </p:nvGraphicFramePr>
        <p:xfrm>
          <a:off x="558800" y="1270000"/>
          <a:ext cx="11074400" cy="4952998"/>
        </p:xfrm>
        <a:graphic>
          <a:graphicData uri="http://schemas.openxmlformats.org/drawingml/2006/table">
            <a:tbl>
              <a:tblPr firstRow="1"/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Parameter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Sumber / dasar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Data bank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 bank listed, 2014–2026Q2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 BQL (snapshot); BANK dan MCOR dikeluarkan; surat berharga &gt; total aset diganti median KBMI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Horizon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 kuartal (2026Q3–2027Q2)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Kerangka stress test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Batas gagal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&lt; 8% di kuartal mana pun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Ketentuan minimum CAR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Pajak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22% dari laba positif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Tarif PPh badan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Dividen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50% dari laba positif; rugi penuh ke modal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Asumsi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Porsi SRBI (tidak di-mark-to-market)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36,2% dari surat berharga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dan DJPPR, data kepemilikan Sep–Okt 2026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Durasi portofolio SBN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 tahun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Asumsi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14335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Overlay provisi (k_stress)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estimasi dari data ≈ 0,02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047613"/>
                  </a:ext>
                </a:extLst>
              </a:tr>
              <a:tr h="5008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Elastisitas harga properti (e_prop)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−0,429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dari model NPL Prospera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7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4992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Satellite model dan transmisi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03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304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Peta transmisi: bagaimana tiap variabel makro sampai ke laba dan CAR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888245"/>
              </p:ext>
            </p:extLst>
          </p:nvPr>
        </p:nvGraphicFramePr>
        <p:xfrm>
          <a:off x="558800" y="1270000"/>
          <a:ext cx="11074400" cy="3675229"/>
        </p:xfrm>
        <a:graphic>
          <a:graphicData uri="http://schemas.openxmlformats.org/drawingml/2006/table">
            <a:tbl>
              <a:tblPr first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636087728"/>
                    </a:ext>
                  </a:extLst>
                </a:gridCol>
              </a:tblGrid>
              <a:tr h="4742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 makro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Jalur ke bank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 bank yang terkena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Masuk ke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Saat Adverse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riil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Pendapatan debitur turun, kemampuan bayar melemah (jeda 1–4 kuartal)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(model NPL), lalu provisi (respons + overlay)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→ modal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dan provisi naik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n-NO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 agunan turun; debitur KPR dan konstruksi tertekan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(komponen properti), lalu provisi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→ modal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Penyumbang terbesar kenaikan NPL (±60%)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Bunga kredit dan dana ikut naik; beban bunga debitur naik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Bunga kredit dan dana (÷4 per kuartal); NPL (efek kecil)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(bunga bersih)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Efek bersih ke laba kecil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UST 10Y, kurs, BI rate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Premi risiko naik, modal asing keluar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 SBN 10Y = 0,43×</a:t>
                      </a:r>
                      <a:r>
                        <a:rPr lang="el-GR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UST + 0,13×</a:t>
                      </a:r>
                      <a:r>
                        <a:rPr lang="el-GR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+ 0,08×</a:t>
                      </a:r>
                      <a:r>
                        <a:rPr lang="el-GR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ln kurs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—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l-NL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 SBN naik 2,3 pp (Adverse 2)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 SBN 10Y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obligasi turun: −5 × </a:t>
                      </a:r>
                      <a:r>
                        <a:rPr lang="el-GR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Surat berharga FVTPL dan FVOCI (porsi SBN)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FVTPL → laba; FVOCI → modal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Rugi MTM 3,4% modal (Adverse 2)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50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nominal (GDP + CPI)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Volume usaha bank tumbuh mengikuti ekonomi nominal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Aset, kredit, deposito, RWA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Penyebut CAR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RWA tetap tumbuh ±8% karena inflasi naik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072228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CPI tidak langsung memengaruhi NPL di model; pengaruhnya lewat pertumbuhan neraca dan RWA (GDP nominal). Tiga kanal risiko (kredit, bunga, pasar) bertemu di laba, lalu laba yang ditahan dan rugi OCI mengubah modal.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9088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sz="2000"/>
              <a:t>Kanal kredit (1): bagaimana NPL bergerak di proyeksi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NPL bergerak bertahap mengikuti posisinya kuartal lalu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Sekitar dua pertiga NPL kuartal lalu terbawa ke kuartal ini, sehingga NPL tidak melompat; tiap bank perlahan kembali ke tingkat NPL normalnya.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GDP melambat → NPL naik, dengan jeda 1–4 kuartal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Debitur butuh waktu sebelum gagal bayar. Efek jangka panjang: GDP turun 1 pp → NPL naik ±0,12 pp.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BI rate naik → beban bunga debitur naik, efek ke NPL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Di data Indonesia pengaruh BI rate ke NPL hampir tidak terlihat; dampak suku bunga lebih besar lewat pendapatan bunga dan harga obligasi.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Harga properti turun → nilai agunan dan kemampuan bayar turun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Harga properti turun 1% per kuartal selama setahun menaikkan NPL ±0,43 pp. Elastisitas ini judgment yang diambil dari model Prospera.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t-IT" sz="1300" b="1">
                <a:solidFill>
                  <a:srgbClr val="000000"/>
                </a:solidFill>
                <a:latin typeface="Arial"/>
                <a:cs typeface="Arial"/>
              </a:rPr>
              <a:t>Rincian spesifikasi, tabel regresi, dan uji statistik ada di Lampiran A.</a:t>
            </a:r>
            <a:endParaRPr lang="id-ID" sz="13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7167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Kenaikan NPL di skenario adverse terutama berasal dari komponen harga properti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/>
        </p:nvGraphicFramePr>
        <p:xfrm>
          <a:off x="6350000" y="1397000"/>
          <a:ext cx="5283200" cy="4114800"/>
        </p:xfrm>
        <a:graphic>
          <a:graphicData uri="http://schemas.openxmlformats.org/drawingml/2006/table">
            <a:tbl>
              <a:tblPr firstRow="1"/>
              <a:tblGrid>
                <a:gridCol w="227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Selisih NPL vs Baseline (pp)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2026Q4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2027Q1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GDP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BI rate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harga properti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1: total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GDP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BI rate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harga properti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0,51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26018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2: total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0367370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7785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Efek makro baru terasa satu kuartal kemudian karena model memakai lag (2026Q3 = 0). Total = selisih NPL industri terhadap baseline di akhir horizon: Adverse 1 2,67% vs 2,26%, Adverse 2 3,08% vs 2,26%. Sekitar 60% kenaikan berasal dari komponen harga properti.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310" name="Chart Label"/>
          <p:cNvSpPr txBox="1"/>
          <p:nvPr/>
        </p:nvSpPr>
        <p:spPr>
          <a:xfrm>
            <a:off x="558800" y="13462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Selisih NPL industri vs baseline per komponen, pp, 2027Q2</a:t>
            </a:r>
          </a:p>
        </p:txBody>
      </p:sp>
      <p:graphicFrame>
        <p:nvGraphicFramePr>
          <p:cNvPr id="311" name="Chart"/>
          <p:cNvGraphicFramePr/>
          <p:nvPr/>
        </p:nvGraphicFramePr>
        <p:xfrm>
          <a:off x="558800" y="1651000"/>
          <a:ext cx="5461000" cy="401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20" name="Series Label 320"/>
          <p:cNvSpPr txBox="1"/>
          <p:nvPr/>
        </p:nvSpPr>
        <p:spPr>
          <a:xfrm>
            <a:off x="5537200" y="3149600"/>
            <a:ext cx="7620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d-ID" sz="1100" b="1" dirty="0">
                <a:solidFill>
                  <a:srgbClr val="A5644E"/>
                </a:solidFill>
                <a:latin typeface="Arial"/>
                <a:cs typeface="Arial"/>
              </a:rPr>
              <a:t>Harga properti</a:t>
            </a:r>
          </a:p>
        </p:txBody>
      </p:sp>
      <p:sp>
        <p:nvSpPr>
          <p:cNvPr id="321" name="Series Label 321"/>
          <p:cNvSpPr txBox="1"/>
          <p:nvPr/>
        </p:nvSpPr>
        <p:spPr>
          <a:xfrm>
            <a:off x="5537200" y="4368800"/>
            <a:ext cx="762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d-ID" sz="1100" b="1" dirty="0">
                <a:solidFill>
                  <a:srgbClr val="595959"/>
                </a:solidFill>
                <a:latin typeface="Arial"/>
                <a:cs typeface="Arial"/>
              </a:rPr>
              <a:t>BI rate</a:t>
            </a:r>
          </a:p>
        </p:txBody>
      </p:sp>
      <p:sp>
        <p:nvSpPr>
          <p:cNvPr id="322" name="Series Label 322"/>
          <p:cNvSpPr txBox="1"/>
          <p:nvPr/>
        </p:nvSpPr>
        <p:spPr>
          <a:xfrm>
            <a:off x="5537200" y="4876800"/>
            <a:ext cx="762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d-ID" sz="1100" b="1" dirty="0">
                <a:solidFill>
                  <a:srgbClr val="595959"/>
                </a:solidFill>
                <a:latin typeface="Arial"/>
                <a:cs typeface="Arial"/>
              </a:rPr>
              <a:t>GDP</a:t>
            </a:r>
          </a:p>
        </p:txBody>
      </p:sp>
    </p:spTree>
    <p:extLst>
      <p:ext uri="{BB962C8B-B14F-4D97-AF65-F5344CB8AC3E}">
        <p14:creationId xmlns:p14="http://schemas.microsoft.com/office/powerpoint/2010/main" val="3725314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Kanal kredit (2): provisi = biaya kredit normal + respons NPL + overlay stres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657258"/>
              </p:ext>
            </p:extLst>
          </p:nvPr>
        </p:nvGraphicFramePr>
        <p:xfrm>
          <a:off x="558800" y="1270000"/>
          <a:ext cx="11074400" cy="268224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(% kredit per kuartal, industri)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Rumus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 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 2027Q2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 Biaya kredit normal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Rata-rata provisi/kredit 8 kuartal terakhir tiap bank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2. Respons kenaikan NPL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 × Δ</a:t>
                      </a: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NPL⁺(t) + 0,12 × </a:t>
                      </a:r>
                      <a:r>
                        <a:rPr lang="el-GR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NPL⁺(t−1)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3. Overlay stres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0,05 × (GDP baseline − GDP skenario) × NPL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Total provisi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 + 2 + 3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0,21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07924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Respons NPL: setiap kenaikan NPL 1 pp menambah provisi ±0,31% kredit (dalam dua kuartal). Overlay: tambahan provisi saat GDP di bawah baseline, sebanding dengan NPL; contoh Adverse 2 2027Q2: 0,05 × gap GDP 4,54 pp × NPL 3,08% ≈ 0,70% kredit. Overlay menyumbang 59% credit loss Adverse 2. Rincian di Lampiran A.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2031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Kanal pasar: kenaikan yield SBN menurunkan nilai surat berharga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549759"/>
              </p:ext>
            </p:extLst>
          </p:nvPr>
        </p:nvGraphicFramePr>
        <p:xfrm>
          <a:off x="558800" y="1270000"/>
          <a:ext cx="11074400" cy="3230880"/>
        </p:xfrm>
        <a:graphic>
          <a:graphicData uri="http://schemas.openxmlformats.org/drawingml/2006/table">
            <a:tbl>
              <a:tblPr firstRow="1"/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Langkah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Keterangan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 (kumulatif)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ES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 Yield SBN 10Y naik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Digerakkan yield AS (UST), BI rate, dan pelemahan rupiah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7,16% → 9,45% (+2,3 pp)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2. Harga obligasi turun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Perubahan harga = −durasi (5 tahun) × kenaikan yield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Turun ±11,5%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3. Eksposur yang direvaluasi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Surat berharga FVTPL dan FVOCI, hanya porsi SBN; SRBI (36%) dimiliki hingga jatuh tempo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±64% portofolio nilai wajar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4. Pencatatan akuntansi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FVTPL: rugi masuk laba (mengurangi pajak); FVOCI: rugi langsung mengurangi modal lewat OCI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FVTPL 1,6% + FVOCI 1,7% modal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5. Total rugi MTM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Terkonsentrasi di bank dengan porsi surat berharga besar (BINA, BCIC)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3,4% modal industri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62788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Di baseline yield SBN turun (7,16% → 6,85%), sehingga bank justru mencatat keuntungan revaluasi ±0,5% modal. Risiko kurs langsung (posisi devisa neto) belum dimodelkan.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8916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Estimasi akuntansi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04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412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sz="2000"/>
              <a:t>Komponen lain dihitung dengan rule dan identitas akuntansi, bukan regresi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19837"/>
              </p:ext>
            </p:extLst>
          </p:nvPr>
        </p:nvGraphicFramePr>
        <p:xfrm>
          <a:off x="558800" y="1270000"/>
          <a:ext cx="11074400" cy="4328160"/>
        </p:xfrm>
        <a:graphic>
          <a:graphicData uri="http://schemas.openxmlformats.org/drawingml/2006/table">
            <a:tbl>
              <a:tblPr firstRow="1"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1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dihitung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Jenis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Aset, kredit, deposito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Tumbuh dengan GDP nominal skenario; rasio kredit dan deposito terhadap aset tetap (posisi 2026Q2)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RWA / ATMR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Tumbuh dengan GDP nominal skenario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Bunga kredit dan dana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Rate 4 kuartal terakhir + perubahan BI rate ÷ 4 per kuartal (transmisi penuh)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Pendapatan dan biaya nonbunga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Rasio 4 kuartal terakhir × aset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Kerugian surat berharga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(FVTPL + FVOCI) × porsi SBN × (−5 × </a:t>
                      </a: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yield SBN); FVTPL ke laba, FVOCI ke modal (OCI)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Rule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EBT = bunga bersih + nonbunga − biaya − provisi − rugi FVTPL; pajak 22%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Identitas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Modal dan CAR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Modal = modal lalu + 50% laba (rugi penuh) − rugi OCI; CAR = modal ÷ RWA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Identitas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177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3813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Jembatan CAR: provisi dan surat berharga yang membedakan hasil antarskenario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/>
        </p:nvGraphicFramePr>
        <p:xfrm>
          <a:off x="6350000" y="1397000"/>
          <a:ext cx="5283200" cy="4135120"/>
        </p:xfrm>
        <a:graphic>
          <a:graphicData uri="http://schemas.openxmlformats.org/drawingml/2006/table">
            <a:tbl>
              <a:tblPr firstRow="1"/>
              <a:tblGrid>
                <a:gridCol w="227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(pp CAR)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 2026Q2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22,51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22,51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22,51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operasional sebelum provisi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+5,57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+5,54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+5,48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 (credit loss)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−1,07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−1,92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−3,05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Rugi/untung surat berharga FVTPL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+0,05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−0,18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−0,37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Pajak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−1,01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−0,78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−0,54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Dividen (50% laba)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−1,79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−1,38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−0,96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Rugi/untung FVOCI (OCI)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+0,05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−0,19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−0,39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164416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Efek pertumbuhan RWA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−1,85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−1,79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−1,64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52869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akhir 2027Q2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22,47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21,80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21,03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820337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7785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Komponen modal dinyatakan dalam pp CAR terhadap RWA awal; efek RWA = penurunan CAR karena RWA tumbuh ±8% (GDP nominal). Laba operasional hampir sama di semua skenario; perbedaan CAR berasal dari provisi dan surat berharga. Pajak dan dividen ikut turun ketika laba turun, sehingga meredam sebagian kerugian.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310" name="Chart Label"/>
          <p:cNvSpPr txBox="1"/>
          <p:nvPr/>
        </p:nvSpPr>
        <p:spPr>
          <a:xfrm>
            <a:off x="558800" y="13462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Jembatan CAR industri Adverse 2, pp CAR, 2026Q2–2027Q2</a:t>
            </a:r>
          </a:p>
        </p:txBody>
      </p:sp>
      <p:graphicFrame>
        <p:nvGraphicFramePr>
          <p:cNvPr id="311" name="Chart"/>
          <p:cNvGraphicFramePr/>
          <p:nvPr/>
        </p:nvGraphicFramePr>
        <p:xfrm>
          <a:off x="558800" y="1651000"/>
          <a:ext cx="5600700" cy="401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74756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Hasil stress test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05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889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CAR industri tetap jauh di atas 8% di semua skenario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/>
        </p:nvGraphicFramePr>
        <p:xfrm>
          <a:off x="6350000" y="1397000"/>
          <a:ext cx="5283200" cy="3860800"/>
        </p:xfrm>
        <a:graphic>
          <a:graphicData uri="http://schemas.openxmlformats.org/drawingml/2006/table">
            <a:tbl>
              <a:tblPr firstRow="1"/>
              <a:tblGrid>
                <a:gridCol w="227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Indikator (akhir 2027Q2)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Baseline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1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(%; awal 22,51)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22,47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21,80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21,03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Tier 1 (%)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21,36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20,70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19,92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(%; awal 2,10)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2,26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2,67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Credit loss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13,6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Market loss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−0,5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1,6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3,4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bersih 4 kuartal (% modal)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15,7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11,8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6,7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dengan CAR &lt; 8%</a:t>
                      </a:r>
                      <a:endParaRPr lang="id-ID" sz="12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lang="id-ID" sz="12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611139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867400"/>
            <a:ext cx="11074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Kerugian dan laba kumulatif 4 kuartal, dalam % modal awal; 45 bank. Market loss negatif di baseline = keuntungan revaluasi karena yield SBN turun.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202" name="Chart"/>
          <p:cNvGraphicFramePr/>
          <p:nvPr/>
        </p:nvGraphicFramePr>
        <p:xfrm>
          <a:off x="558800" y="1651000"/>
          <a:ext cx="5334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0" name="Chart Label"/>
          <p:cNvSpPr txBox="1"/>
          <p:nvPr/>
        </p:nvSpPr>
        <p:spPr>
          <a:xfrm>
            <a:off x="558800" y="13462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CAR industri per skenario, akhir horizon 2027Q2</a:t>
            </a:r>
          </a:p>
        </p:txBody>
      </p:sp>
      <p:cxnSp>
        <p:nvCxnSpPr>
          <p:cNvPr id="311" name="Threshold Line"/>
          <p:cNvCxnSpPr/>
          <p:nvPr/>
        </p:nvCxnSpPr>
        <p:spPr>
          <a:xfrm>
            <a:off x="736600" y="4191000"/>
            <a:ext cx="5105400" cy="0"/>
          </a:xfrm>
          <a:prstGeom prst="line">
            <a:avLst/>
          </a:prstGeom>
          <a:ln w="15875">
            <a:solidFill>
              <a:srgbClr val="262626"/>
            </a:solidFill>
            <a:prstDash val="dash"/>
          </a:ln>
        </p:spPr>
      </p:cxnSp>
      <p:sp>
        <p:nvSpPr>
          <p:cNvPr id="312" name="Threshold Label"/>
          <p:cNvSpPr txBox="1"/>
          <p:nvPr/>
        </p:nvSpPr>
        <p:spPr>
          <a:xfrm>
            <a:off x="939800" y="3962400"/>
            <a:ext cx="15240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marL="0" indent="0">
              <a:buNone/>
            </a:pPr>
            <a:r>
              <a:rPr lang="id-ID" sz="1100" b="1" dirty="0">
                <a:solidFill>
                  <a:srgbClr val="262626"/>
                </a:solidFill>
                <a:latin typeface="Arial"/>
                <a:cs typeface="Arial"/>
              </a:rPr>
              <a:t>Batas minimum 8%</a:t>
            </a:r>
          </a:p>
        </p:txBody>
      </p:sp>
    </p:spTree>
    <p:extLst>
      <p:ext uri="{BB962C8B-B14F-4D97-AF65-F5344CB8AC3E}">
        <p14:creationId xmlns:p14="http://schemas.microsoft.com/office/powerpoint/2010/main" val="1191821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CAR turun bertahap; NPL naik paling tajam di Adverse 2 saat koreksi properti berjalan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8DB3AE-DACB-DD13-D3E1-7387D14B5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4478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0A41D0-C999-5F62-DA67-96B742C87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478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E2DD45-9DD7-9847-25AC-ECE799A251BF}"/>
              </a:ext>
            </a:extLst>
          </p:cNvPr>
          <p:cNvSpPr txBox="1"/>
          <p:nvPr/>
        </p:nvSpPr>
        <p:spPr>
          <a:xfrm>
            <a:off x="558800" y="4775200"/>
            <a:ext cx="110744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CAR industri (kiri) dan NPL industri (kanan), tertimbang; garis putus-putus = data aktual terakhir (2026Q2).</a:t>
            </a:r>
          </a:p>
        </p:txBody>
      </p:sp>
      <p:cxnSp>
        <p:nvCxnSpPr>
          <p:cNvPr id="400" name="Tile Rule 1"/>
          <p:cNvCxnSpPr/>
          <p:nvPr/>
        </p:nvCxnSpPr>
        <p:spPr>
          <a:xfrm>
            <a:off x="5588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1" name="Tile 1"/>
          <p:cNvSpPr txBox="1"/>
          <p:nvPr/>
        </p:nvSpPr>
        <p:spPr>
          <a:xfrm>
            <a:off x="5588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21,0%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CAR industri Adverse 2, 2027Q2 (awal 22,5%)</a:t>
            </a:r>
          </a:p>
        </p:txBody>
      </p:sp>
      <p:cxnSp>
        <p:nvCxnSpPr>
          <p:cNvPr id="402" name="Tile Rule 2"/>
          <p:cNvCxnSpPr/>
          <p:nvPr/>
        </p:nvCxnSpPr>
        <p:spPr>
          <a:xfrm>
            <a:off x="33782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3" name="Tile 2"/>
          <p:cNvSpPr txBox="1"/>
          <p:nvPr/>
        </p:nvSpPr>
        <p:spPr>
          <a:xfrm>
            <a:off x="33782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−1,5 pp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Penurunan CAR Adverse 2 dalam 4 kuartal; baseline hampir datar</a:t>
            </a:r>
          </a:p>
        </p:txBody>
      </p:sp>
      <p:cxnSp>
        <p:nvCxnSpPr>
          <p:cNvPr id="404" name="Tile Rule 3"/>
          <p:cNvCxnSpPr/>
          <p:nvPr/>
        </p:nvCxnSpPr>
        <p:spPr>
          <a:xfrm>
            <a:off x="61976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5" name="Tile 3"/>
          <p:cNvSpPr txBox="1"/>
          <p:nvPr/>
        </p:nvSpPr>
        <p:spPr>
          <a:xfrm>
            <a:off x="61976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3,1%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NPL industri Adverse 2, 2027Q2 (awal 2,1%)</a:t>
            </a:r>
          </a:p>
        </p:txBody>
      </p:sp>
      <p:cxnSp>
        <p:nvCxnSpPr>
          <p:cNvPr id="406" name="Tile Rule 4"/>
          <p:cNvCxnSpPr/>
          <p:nvPr/>
        </p:nvCxnSpPr>
        <p:spPr>
          <a:xfrm>
            <a:off x="90170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7" name="Tile 4"/>
          <p:cNvSpPr txBox="1"/>
          <p:nvPr/>
        </p:nvSpPr>
        <p:spPr>
          <a:xfrm>
            <a:off x="90170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+0,8 pp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NPL Adverse 2 di atas baseline (2,26%), terutama dari koreksi properti</a:t>
            </a:r>
          </a:p>
        </p:txBody>
      </p:sp>
      <p:sp>
        <p:nvSpPr>
          <p:cNvPr id="420" name="Chart Label 1"/>
          <p:cNvSpPr txBox="1"/>
          <p:nvPr/>
        </p:nvSpPr>
        <p:spPr>
          <a:xfrm>
            <a:off x="558800" y="1219200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CAR industri, %</a:t>
            </a:r>
          </a:p>
        </p:txBody>
      </p:sp>
      <p:sp>
        <p:nvSpPr>
          <p:cNvPr id="421" name="Chart Label 2"/>
          <p:cNvSpPr txBox="1"/>
          <p:nvPr/>
        </p:nvSpPr>
        <p:spPr>
          <a:xfrm>
            <a:off x="6172200" y="1219200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NPL industri, %</a:t>
            </a:r>
          </a:p>
        </p:txBody>
      </p:sp>
    </p:spTree>
    <p:extLst>
      <p:ext uri="{BB962C8B-B14F-4D97-AF65-F5344CB8AC3E}">
        <p14:creationId xmlns:p14="http://schemas.microsoft.com/office/powerpoint/2010/main" val="693163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Kerugian didominasi risiko kredit; laba industri tetap positif di semua skenario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42968B-94C2-D71F-1CB9-014605C98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4478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90F8FF-6ACE-D3D0-29F6-FA62751E4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478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9080D2-4A22-E2D8-854C-2870B1ECA869}"/>
              </a:ext>
            </a:extLst>
          </p:cNvPr>
          <p:cNvSpPr txBox="1"/>
          <p:nvPr/>
        </p:nvSpPr>
        <p:spPr>
          <a:xfrm>
            <a:off x="558800" y="4775200"/>
            <a:ext cx="110744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Kiri: komposisi kerugian per kuartal (% kredit). Kanan: laba bersih terhadap aset, disetahunkan. ROA turun dari ±2,6% ke ±1,1% di Adverse 2.</a:t>
            </a:r>
          </a:p>
        </p:txBody>
      </p:sp>
      <p:sp>
        <p:nvSpPr>
          <p:cNvPr id="420" name="Chart Label"/>
          <p:cNvSpPr txBox="1"/>
          <p:nvPr/>
        </p:nvSpPr>
        <p:spPr>
          <a:xfrm>
            <a:off x="558800" y="1219200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Komposisi kerugian per kuartal, % kredit</a:t>
            </a:r>
          </a:p>
        </p:txBody>
      </p:sp>
      <p:sp>
        <p:nvSpPr>
          <p:cNvPr id="421" name="Chart Label"/>
          <p:cNvSpPr txBox="1"/>
          <p:nvPr/>
        </p:nvSpPr>
        <p:spPr>
          <a:xfrm>
            <a:off x="6172200" y="1219200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Laba bersih terhadap aset, % disetahunkan</a:t>
            </a:r>
          </a:p>
        </p:txBody>
      </p:sp>
      <p:cxnSp>
        <p:nvCxnSpPr>
          <p:cNvPr id="400" name="Tile Rule"/>
          <p:cNvCxnSpPr/>
          <p:nvPr/>
        </p:nvCxnSpPr>
        <p:spPr>
          <a:xfrm>
            <a:off x="5588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1" name="Tile"/>
          <p:cNvSpPr txBox="1"/>
          <p:nvPr/>
        </p:nvSpPr>
        <p:spPr>
          <a:xfrm>
            <a:off x="5588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13,6%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Credit loss Adverse 2, % modal (baseline 4,7%)</a:t>
            </a:r>
          </a:p>
        </p:txBody>
      </p:sp>
      <p:cxnSp>
        <p:nvCxnSpPr>
          <p:cNvPr id="402" name="Tile Rule"/>
          <p:cNvCxnSpPr/>
          <p:nvPr/>
        </p:nvCxnSpPr>
        <p:spPr>
          <a:xfrm>
            <a:off x="33782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3" name="Tile"/>
          <p:cNvSpPr txBox="1"/>
          <p:nvPr/>
        </p:nvSpPr>
        <p:spPr>
          <a:xfrm>
            <a:off x="33782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3,4%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Market loss Adverse 2, % modal (baseline −0,5%)</a:t>
            </a:r>
          </a:p>
        </p:txBody>
      </p:sp>
      <p:cxnSp>
        <p:nvCxnSpPr>
          <p:cNvPr id="404" name="Tile Rule"/>
          <p:cNvCxnSpPr/>
          <p:nvPr/>
        </p:nvCxnSpPr>
        <p:spPr>
          <a:xfrm>
            <a:off x="61976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5" name="Tile"/>
          <p:cNvSpPr txBox="1"/>
          <p:nvPr/>
        </p:nvSpPr>
        <p:spPr>
          <a:xfrm>
            <a:off x="61976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80%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Porsi risiko kredit dalam total kerugian Adverse 2</a:t>
            </a:r>
          </a:p>
        </p:txBody>
      </p:sp>
      <p:cxnSp>
        <p:nvCxnSpPr>
          <p:cNvPr id="406" name="Tile Rule"/>
          <p:cNvCxnSpPr/>
          <p:nvPr/>
        </p:nvCxnSpPr>
        <p:spPr>
          <a:xfrm>
            <a:off x="9017000" y="52324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7" name="Tile"/>
          <p:cNvSpPr txBox="1"/>
          <p:nvPr/>
        </p:nvSpPr>
        <p:spPr>
          <a:xfrm>
            <a:off x="9017000" y="53086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6,7%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Laba bersih 4 kuartal Adverse 2, % modal (baseline 15,7%)</a:t>
            </a:r>
          </a:p>
        </p:txBody>
      </p:sp>
    </p:spTree>
    <p:extLst>
      <p:ext uri="{BB962C8B-B14F-4D97-AF65-F5344CB8AC3E}">
        <p14:creationId xmlns:p14="http://schemas.microsoft.com/office/powerpoint/2010/main" val="1583599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KBMI 2 paling tertekan: merugi dan CAR turun ke 16,2% di Adverse 2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/>
        </p:nvGraphicFramePr>
        <p:xfrm>
          <a:off x="7620000" y="1270000"/>
          <a:ext cx="4013200" cy="1798320"/>
        </p:xfrm>
        <a:graphic>
          <a:graphicData uri="http://schemas.openxmlformats.org/drawingml/2006/table">
            <a:tbl>
              <a:tblPr firstRow="1"/>
              <a:tblGrid>
                <a:gridCol w="1039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81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96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Kelompok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Adv 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(% modal)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1 (23)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27,2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−4,0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2 (8)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−9,4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3 (10)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25,2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KBMI 4 (4)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20,6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11,9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390A262-CAF6-2866-693B-DD1ADA9AE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5969000" cy="3581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305B8F-B19B-C5AE-E2EA-AE4A5C37D937}"/>
              </a:ext>
            </a:extLst>
          </p:cNvPr>
          <p:cNvSpPr txBox="1"/>
          <p:nvPr/>
        </p:nvSpPr>
        <p:spPr>
          <a:xfrm>
            <a:off x="558800" y="5588000"/>
            <a:ext cx="110744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Laba = laba bersih kumulatif 4 kuartal di Adverse 2, dalam % modal awal kelompok. Angka dalam kurung = jumlah bank.</a:t>
            </a:r>
          </a:p>
        </p:txBody>
      </p:sp>
      <p:sp>
        <p:nvSpPr>
          <p:cNvPr id="430" name="Insight Box"/>
          <p:cNvSpPr/>
          <p:nvPr/>
        </p:nvSpPr>
        <p:spPr>
          <a:xfrm>
            <a:off x="7620000" y="3175000"/>
            <a:ext cx="4013200" cy="22098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37160" tIns="109728" rIns="137160" bIns="91440" anchor="t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id-ID" sz="1250" b="1" dirty="0">
                <a:solidFill>
                  <a:srgbClr val="A5644E"/>
                </a:solidFill>
                <a:latin typeface="Arial"/>
                <a:cs typeface="Arial"/>
              </a:rPr>
              <a:t>Implikasi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KBMI 2: </a:t>
            </a:r>
            <a:r>
              <a:rPr lang="id-ID" sz="1250" b="0" dirty="0">
                <a:solidFill>
                  <a:srgbClr val="262626"/>
                </a:solidFill>
                <a:latin typeface="Arial"/>
                <a:cs typeface="Arial"/>
              </a:rPr>
              <a:t>rugi 9,4% modal, CAR turun 4,8 pp ke 16,2%; penurunan terdalam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KBMI 1: </a:t>
            </a:r>
            <a:r>
              <a:rPr lang="id-ID" sz="1250" b="0" dirty="0">
                <a:solidFill>
                  <a:srgbClr val="262626"/>
                </a:solidFill>
                <a:latin typeface="Arial"/>
                <a:cs typeface="Arial"/>
              </a:rPr>
              <a:t>juga merugi, tetapi modal awal 34% masih tebal; BINA dan BCIC ada di kelompok ini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KBMI 4: </a:t>
            </a:r>
            <a:r>
              <a:rPr lang="id-ID" sz="1250" b="0" dirty="0">
                <a:solidFill>
                  <a:srgbClr val="262626"/>
                </a:solidFill>
                <a:latin typeface="Arial"/>
                <a:cs typeface="Arial"/>
              </a:rPr>
              <a:t>laba 11,9% modal menyerap kerugian; CAR hanya turun 0,4 pp</a:t>
            </a:r>
          </a:p>
        </p:txBody>
      </p:sp>
    </p:spTree>
    <p:extLst>
      <p:ext uri="{BB962C8B-B14F-4D97-AF65-F5344CB8AC3E}">
        <p14:creationId xmlns:p14="http://schemas.microsoft.com/office/powerpoint/2010/main" val="3822119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Himbara lebih tahan: laba besar menyerap credit loss yang lebih tinggi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331400"/>
              </p:ext>
            </p:extLst>
          </p:nvPr>
        </p:nvGraphicFramePr>
        <p:xfrm>
          <a:off x="7620000" y="1270000"/>
          <a:ext cx="4013200" cy="2641600"/>
        </p:xfrm>
        <a:graphic>
          <a:graphicData uri="http://schemas.openxmlformats.org/drawingml/2006/table">
            <a:tbl>
              <a:tblPr first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Adverse 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Himbara (5)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Non-Himbara (40)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19,4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26,8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akhir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18,7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akhir (%)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Credit loss¹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10,9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Market loss¹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2,6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bersih¹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CAR &lt; 8%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83486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3D59349-6769-CA56-C34E-E0D9BEA9E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6858000" cy="411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B88C4F-70AA-4ABA-8962-8CAA46561CA8}"/>
              </a:ext>
            </a:extLst>
          </p:cNvPr>
          <p:cNvSpPr txBox="1"/>
          <p:nvPr/>
        </p:nvSpPr>
        <p:spPr>
          <a:xfrm>
            <a:off x="558800" y="5588000"/>
            <a:ext cx="110744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Himbara: BRI, Mandiri, BNI, BTN, dan BSI (BSI dimasukkan sebagai bank milik negara melalui induknya, meski bukan anggota resmi Himbara). ¹ Kumulatif 4 kuartal, % modal awal kelompok.</a:t>
            </a:r>
          </a:p>
        </p:txBody>
      </p:sp>
      <p:sp>
        <p:nvSpPr>
          <p:cNvPr id="430" name="Insight Box"/>
          <p:cNvSpPr/>
          <p:nvPr/>
        </p:nvSpPr>
        <p:spPr>
          <a:xfrm>
            <a:off x="7620000" y="4114800"/>
            <a:ext cx="4013200" cy="1270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37160" tIns="91440" rIns="137160" bIns="73152" anchor="t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id-ID" sz="1250" b="1" dirty="0">
                <a:solidFill>
                  <a:srgbClr val="A5644E"/>
                </a:solidFill>
                <a:latin typeface="Arial"/>
                <a:cs typeface="Arial"/>
              </a:rPr>
              <a:t>Implikasi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Credit loss 1,5× lebih besar </a:t>
            </a:r>
            <a:r>
              <a:rPr lang="id-ID" sz="1250" b="0" dirty="0">
                <a:solidFill>
                  <a:srgbClr val="262626"/>
                </a:solidFill>
                <a:latin typeface="Arial"/>
                <a:cs typeface="Arial"/>
              </a:rPr>
              <a:t>(16,3% vs 10,9% modal), tetapi laba 9,3% modal menyerapnya</a:t>
            </a:r>
          </a:p>
          <a:p>
            <a:pPr marL="171450" indent="-171450">
              <a:spcBef>
                <a:spcPts val="300"/>
              </a:spcBef>
              <a:buFont typeface="Arial"/>
              <a:buChar char="•"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Non-Himbara lebih terpapar pasar: </a:t>
            </a:r>
            <a:r>
              <a:rPr lang="id-ID" sz="1250" b="0" dirty="0">
                <a:solidFill>
                  <a:srgbClr val="262626"/>
                </a:solidFill>
                <a:latin typeface="Arial"/>
                <a:cs typeface="Arial"/>
              </a:rPr>
              <a:t>market loss 4,1% modal; dua bank gagal ada di kelompok ini</a:t>
            </a:r>
          </a:p>
        </p:txBody>
      </p:sp>
    </p:spTree>
    <p:extLst>
      <p:ext uri="{BB962C8B-B14F-4D97-AF65-F5344CB8AC3E}">
        <p14:creationId xmlns:p14="http://schemas.microsoft.com/office/powerpoint/2010/main" val="10399081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Dua bank gagal di Adverse 2, keduanya karena kerugian surat berharga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30448"/>
              </p:ext>
            </p:extLst>
          </p:nvPr>
        </p:nvGraphicFramePr>
        <p:xfrm>
          <a:off x="7162800" y="1270000"/>
          <a:ext cx="4470400" cy="1798320"/>
        </p:xfrm>
        <a:graphic>
          <a:graphicData uri="http://schemas.openxmlformats.org/drawingml/2006/table">
            <a:tbl>
              <a:tblPr firstRow="1"/>
              <a:tblGrid>
                <a:gridCol w="648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01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1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0787">
                  <a:extLst>
                    <a:ext uri="{9D8B030D-6E8A-4147-A177-3AD203B41FA5}">
                      <a16:colId xmlns:a16="http://schemas.microsoft.com/office/drawing/2014/main" val="335079997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Min. A1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Min. A2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Penyebab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BINA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15,3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8,7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3,8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MTM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BCIC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MTM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BBKP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17,0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8,3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Kredit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MAYA</a:t>
                      </a:r>
                      <a:endParaRPr lang="id-ID" sz="115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11,1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9,5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8,4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awal tipis</a:t>
                      </a:r>
                      <a:endParaRPr lang="id-ID" sz="115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E58ECE1-962E-BECB-C91B-F2DBDE702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70000"/>
            <a:ext cx="6350000" cy="4356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66A0C-2544-8D77-5F1C-840553421B29}"/>
              </a:ext>
            </a:extLst>
          </p:cNvPr>
          <p:cNvSpPr txBox="1"/>
          <p:nvPr/>
        </p:nvSpPr>
        <p:spPr>
          <a:xfrm>
            <a:off x="558800" y="5740400"/>
            <a:ext cx="110744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BINA dan BCIC melaporkan surat berharga FV 66–70% aset (industri ±9%); angka ini perlu diverifikasi ke laporan keuangan sebelum disimpulkan. Min. A1/A2 = CAR terendah selama horizon di Adverse 1/Adverse 2 (%).</a:t>
            </a:r>
          </a:p>
        </p:txBody>
      </p:sp>
      <p:sp>
        <p:nvSpPr>
          <p:cNvPr id="430" name="Insight Box"/>
          <p:cNvSpPr/>
          <p:nvPr/>
        </p:nvSpPr>
        <p:spPr>
          <a:xfrm>
            <a:off x="7162800" y="3327400"/>
            <a:ext cx="4470400" cy="22987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37160" tIns="109728" rIns="137160" bIns="91440" anchor="t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id-ID" sz="1350" b="1" dirty="0">
                <a:solidFill>
                  <a:srgbClr val="A5644E"/>
                </a:solidFill>
                <a:latin typeface="Arial"/>
                <a:cs typeface="Arial"/>
              </a:rPr>
              <a:t>Implikasi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id-ID" sz="1350" b="1" dirty="0">
                <a:solidFill>
                  <a:srgbClr val="262626"/>
                </a:solidFill>
                <a:latin typeface="Arial"/>
                <a:cs typeface="Arial"/>
              </a:rPr>
              <a:t>Hanya BINA dan BCIC </a:t>
            </a:r>
            <a:r>
              <a:rPr lang="id-ID" sz="1350" b="0" dirty="0">
                <a:solidFill>
                  <a:srgbClr val="262626"/>
                </a:solidFill>
                <a:latin typeface="Arial"/>
                <a:cs typeface="Arial"/>
              </a:rPr>
              <a:t>di bawah 8% (min. 3,8% dan 4,3%); di Adverse 1 keduanya masih di atas 8%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id-ID" sz="1350" b="1" dirty="0">
                <a:solidFill>
                  <a:srgbClr val="262626"/>
                </a:solidFill>
                <a:latin typeface="Arial"/>
                <a:cs typeface="Arial"/>
              </a:rPr>
              <a:t>BBKP dan MAYA paling dekat </a:t>
            </a:r>
            <a:r>
              <a:rPr lang="id-ID" sz="1350" b="0" dirty="0">
                <a:solidFill>
                  <a:srgbClr val="262626"/>
                </a:solidFill>
                <a:latin typeface="Arial"/>
                <a:cs typeface="Arial"/>
              </a:rPr>
              <a:t>ke batas (8,3% dan 8,4%): BBKP karena kredit, MAYA karena CAR awal tipis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id-ID" sz="1350" b="1" dirty="0">
                <a:solidFill>
                  <a:srgbClr val="262626"/>
                </a:solidFill>
                <a:latin typeface="Arial"/>
                <a:cs typeface="Arial"/>
              </a:rPr>
              <a:t>Bank lain </a:t>
            </a:r>
            <a:r>
              <a:rPr lang="id-ID" sz="1350" b="0" dirty="0">
                <a:solidFill>
                  <a:srgbClr val="262626"/>
                </a:solidFill>
                <a:latin typeface="Arial"/>
                <a:cs typeface="Arial"/>
              </a:rPr>
              <a:t>bertahan di atas 8% dengan margin lebar</a:t>
            </a:r>
          </a:p>
        </p:txBody>
      </p:sp>
    </p:spTree>
    <p:extLst>
      <p:ext uri="{BB962C8B-B14F-4D97-AF65-F5344CB8AC3E}">
        <p14:creationId xmlns:p14="http://schemas.microsoft.com/office/powerpoint/2010/main" val="12648173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sz="2000"/>
              <a:t>Kesimpulan bertahan di empat varian model: CAR Adverse 2 tetap 21–22%, 1–3 bank gagal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125582"/>
              </p:ext>
            </p:extLst>
          </p:nvPr>
        </p:nvGraphicFramePr>
        <p:xfrm>
          <a:off x="6350000" y="1397000"/>
          <a:ext cx="5283200" cy="3860800"/>
        </p:xfrm>
        <a:graphic>
          <a:graphicData uri="http://schemas.openxmlformats.org/drawingml/2006/table">
            <a:tbl>
              <a:tblPr first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Varian 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Credit loss²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gagal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v3 resmi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21,03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3,08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13,6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v3 tanpa properti¹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21,29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2,48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v2 (arsip)¹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21,25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2,49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11,5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logit (alt.)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22,41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10,5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867400"/>
            <a:ext cx="11074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¹ Memakai skenario lama (sebelum paket skenario 13 Okt 2026). Model logit tidak punya komponen properti dan berjangkar pada NPL terkini, sehingga NPL-nya hampir tidak bereaksi. ² Kumulatif 4 kuartal, % modal awal. Sumber: CHANGELOG.md, repo banking-stress-test.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202" name="Chart"/>
          <p:cNvGraphicFramePr/>
          <p:nvPr/>
        </p:nvGraphicFramePr>
        <p:xfrm>
          <a:off x="558800" y="1651000"/>
          <a:ext cx="5334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0" name="Chart Label"/>
          <p:cNvSpPr txBox="1"/>
          <p:nvPr/>
        </p:nvSpPr>
        <p:spPr>
          <a:xfrm>
            <a:off x="558800" y="13462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1250" b="1" dirty="0">
                <a:solidFill>
                  <a:srgbClr val="262626"/>
                </a:solidFill>
                <a:latin typeface="Arial"/>
                <a:cs typeface="Arial"/>
              </a:rPr>
              <a:t>CAR industri Adverse 2 per varian model, akhir 2027Q2</a:t>
            </a:r>
          </a:p>
        </p:txBody>
      </p:sp>
    </p:spTree>
    <p:extLst>
      <p:ext uri="{BB962C8B-B14F-4D97-AF65-F5344CB8AC3E}">
        <p14:creationId xmlns:p14="http://schemas.microsoft.com/office/powerpoint/2010/main" val="4376280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Kesimpulan dan tindak lanjut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Sistem perbankan tahan terhadap skenario berat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CAR industri turun dari 22,5% ke 21,0% di Adverse 2, jauh di atas batas 8%; laba 4 kuartal masih menyerap seluruh kerugian. Himbara hanya turun 0,8 pp, KBMI 2 paling tertekan (CAR 16,2%).</a:t>
            </a:r>
            <a:endParaRPr lang="id-ID" sz="1300" dirty="0"/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Risiko kredit adalah kanal utama; risiko pasar menjatuhkan dua bank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Credit loss Adverse 2 setara 13,6% modal (80% kerugian) dan NPL naik dari 2,1% ke 3,1%. BINA dan BCIC (KBMI 1) turun di bawah 8% karena surat berharga FV 66–70% aset (industri ±9%).</a:t>
            </a:r>
            <a:endParaRPr lang="id-ID" sz="1300" dirty="0"/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Hasil sensitif terhadap dua asumsi judgment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Overlay provisi (0,05 vs estimasi data 0,02) dan elastisitas harga properti; dampaknya terutama pada NPL dan credit loss; CAR Adverse 2 tetap 21–22% di empat varian model.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Tindak lanjut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Verifikasi surat berharga BINA dan BCIC ke laporan keuangan, kalibrasi ulang k_stress (puncak data 10,5% modal, 2021Q1), perbaiki bias NPL, dan perpanjang horizon ke 6–8 kuartal.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Pesan utama: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tidak ada risiko solvabilitas sistemik; perhatian difokuskan pada bank kecil dengan eksposur surat berharga besar dan pada kelompok KBMI 2.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7518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159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C95C560-CBEC-71B2-446B-8ABC40A2A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3327400"/>
            <a:ext cx="5080000" cy="1143000"/>
          </a:xfrm>
        </p:spPr>
        <p:txBody>
          <a:bodyPr/>
          <a:lstStyle/>
          <a:p>
            <a:r>
              <a:rPr lang="id-ID" sz="2600" b="1"/>
              <a:t>Lampiran: detail statistik satellite model</a:t>
            </a:r>
            <a:endParaRPr lang="id-ID" sz="2600" b="1" dirty="0"/>
          </a:p>
        </p:txBody>
      </p:sp>
      <p:sp>
        <p:nvSpPr>
          <p:cNvPr id="300" name="Section number"/>
          <p:cNvSpPr txBox="1"/>
          <p:nvPr/>
        </p:nvSpPr>
        <p:spPr>
          <a:xfrm>
            <a:off x="571500" y="2286000"/>
            <a:ext cx="2540000" cy="965200"/>
          </a:xfrm>
          <a:prstGeom prst="rect">
            <a:avLst/>
          </a:prstGeom>
          <a:noFill/>
        </p:spPr>
        <p:txBody>
          <a:bodyPr wrap="square" lIns="91440" tIns="0" rIns="0" bIns="0" anchor="b">
            <a:noAutofit/>
          </a:bodyPr>
          <a:lstStyle/>
          <a:p>
            <a:r>
              <a:rPr lang="id-ID" sz="6000" b="1">
                <a:solidFill>
                  <a:srgbClr val="C3986D"/>
                </a:solidFill>
                <a:latin typeface="Arial"/>
                <a:cs typeface="Arial"/>
              </a:rPr>
              <a:t>A</a:t>
            </a:r>
            <a:endParaRPr lang="id-ID" sz="6000" b="1" dirty="0">
              <a:solidFill>
                <a:srgbClr val="C3986D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1065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Satellite model menerjemahkan skenario makro menjadi risiko kredit bank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Apa itu satellite model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Persamaan yang menghubungkan variabel makro (GDP, BI rate, harga properti) dengan variabel risiko bank (NPL dan provisi), yang kemudian masuk ke laba dan modal.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Model 1: NPL (regresi panel, 45 bank)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NPL tiap bank dijelaskan oleh NPL kuartal lalu, pertumbuhan GDP, dan BI rate; ditambah komponen harga properti dari model Prospera.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Model 2: respons provisi (regresi panel, 45 bank)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Mengukur seberapa besar provisi naik ketika NPL naik; ditambah overlay stres yang dikaitkan dengan penurunan GDP.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Komponen lain tidak memakai regresi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Neraca, bunga, surat berharga, pajak, dan modal dihitung dengan rule dan identitas akuntansi (dibahas di bagian 04).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Cara membaca regresi: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koefisien = perubahan variabel dependen (pp) bila prediktor naik 1 unit; p-value &lt; 0,05 = signifikan; R² within = porsi naik-turun NPL tiap bank dari waktu ke waktu yang dijelaskan model.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473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NPL: spesifikasi dan definisi variabel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718410"/>
              </p:ext>
            </p:extLst>
          </p:nvPr>
        </p:nvGraphicFramePr>
        <p:xfrm>
          <a:off x="558800" y="1270000"/>
          <a:ext cx="11074400" cy="3779520"/>
        </p:xfrm>
        <a:graphic>
          <a:graphicData uri="http://schemas.openxmlformats.org/drawingml/2006/table">
            <a:tbl>
              <a:tblPr firstRow="1"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93734089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Definisi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Satuan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Waktu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Sumber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(dependen)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Kredit bermasalah ÷ total kredit, per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 (laporan keuangan bank)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kuartal lalu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bank yang sama satu kuartal sebelumnya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Bloomberg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Pertumbuhan GDP riil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Pertumbuhan PDB riil, year-on-year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BPS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Suku bunga kebijakan Bank Indonesia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Indonesia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Indeks harga properti residensial, perubahan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t−1 s.d. t−4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BI; elastisitas dari model Prospera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Fixed effect bank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 khusus tiap bank = tingkat NPL normalnya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Diestimasi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17652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Persamaan: NPL(i,t) =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α(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i)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ρ·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NPL(i,t−1)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β(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k)·GDP(t−k) +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γ(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k)·BI rate(t−k) + komponen properti + error, dengan k = 1 s.d. 4. Komponen properti = −0,429 ÷ 4 ×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Σ 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Harga properti(t−k), dihitung di luar regresi: NPL dikurangi komponen ini sebelum diestimasi. i = bank, t = kuartal.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101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NPL: hasil regresi lengkap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251181"/>
              </p:ext>
            </p:extLst>
          </p:nvPr>
        </p:nvGraphicFramePr>
        <p:xfrm>
          <a:off x="558800" y="1270000"/>
          <a:ext cx="6197600" cy="3733800"/>
        </p:xfrm>
        <a:graphic>
          <a:graphicData uri="http://schemas.openxmlformats.org/drawingml/2006/table">
            <a:tbl>
              <a:tblPr firstRow="1"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56648653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67863178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Koef.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IK 95%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0,673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13,78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[0,575; 0,772]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0,896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[−0,033; 0,037]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t−2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−0,073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−1,59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[−0,166; 0,020]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t−3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0,292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[−0,017; 0,054]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t−4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0,020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0,67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0,507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[−0,027; 0,054]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t−1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0,322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[−0,123; 0,366]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t−2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−0,132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0,184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−0,72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0,476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[−0,503; 0,239]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56136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t−3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0,153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[−0,293; 0,325]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88892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 t−4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0,070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0,866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[−0,129; 0,153]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634465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1,120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0,203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5,53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[0,712; 1,529]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372710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1308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Metode: regresi panel fixed effects; standar error clustered per bank. Yang signifikan hanya persistensi NPL. Koefisien GDP dan BI rate tidak signifikan, baik satu per satu maupun bersama-sama: arah GDP (total −0,04) sesuai teori, tetapi besarnya tidak presisi. SE = standar error; IK = interval kepercayaan.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3" name="Table 201">
            <a:extLst>
              <a:ext uri="{FF2B5EF4-FFF2-40B4-BE49-F238E27FC236}">
                <a16:creationId xmlns:a16="http://schemas.microsoft.com/office/drawing/2014/main" id="{CEB2BE8F-C516-A7DA-B0C4-43260BD94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343494"/>
              </p:ext>
            </p:extLst>
          </p:nvPr>
        </p:nvGraphicFramePr>
        <p:xfrm>
          <a:off x="7010400" y="1270000"/>
          <a:ext cx="3759200" cy="373380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Statistik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Observasi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1.579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Jumlah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Periode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2016Q3–2026Q2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Obs. per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17–40 (rata-rata 35)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within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between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0,996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overall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0,71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43293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F (semua koef.)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55,1 (p &lt; 0,001)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37796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gabungan GDP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0,61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0343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gabungan BI rate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0,89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0077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2886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Cara membaca hasil model NPL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Persistensi 0,67: NPL berubah bertahap, tidak melompat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67% posisi NPL kuartal lalu terbawa ke kuartal ini; separuh guncangan hilang dalam ±1,75 kuartal, dan NPL tiap bank kembali ke tingkat normalnya (fixed effect).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GDP: arah sesuai teori, efeknya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Total koefisien −0,04 per kuartal; efek jangka panjang = −0,04 ÷ (1 − 0,67) ≈ −0,12. Artinya GDP turun 1 pp → NPL akhirnya naik ±0,12 pp.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BI rate: praktis tidak berpengaruh ke NPL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Total +0,02 (jangka panjang +0,05 per 1 pp), tidak signifikan. Dampak suku bunga ke bank lebih banyak lewat pendapatan bunga dan harga surat berharga.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Mengapa efek makro terlihat kecil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Periode estimasi didominasi pertumbuhan stabil ±5%, dan restrukturisasi kredit era COVID (POJK 11/2020) menahan NPL saat GDP jatuh, sehingga sensitivitasnya tampak rendah.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sv-SE" sz="1300" b="1">
                <a:solidFill>
                  <a:srgbClr val="000000"/>
                </a:solidFill>
                <a:latin typeface="Arial"/>
                <a:cs typeface="Arial"/>
              </a:rPr>
              <a:t>Implikasi:</a:t>
            </a:r>
            <a:r>
              <a:rPr lang="sv-SE" sz="1300">
                <a:solidFill>
                  <a:srgbClr val="000000"/>
                </a:solidFill>
                <a:latin typeface="Arial"/>
                <a:cs typeface="Arial"/>
              </a:rPr>
              <a:t> model NPL saja hampir tidak membedakan skenario. Karena itu ditambahkan komponen harga properti (judgment) di NPL dan overlay stres di provisi.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4763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Komponen harga properti diambil dari Prospera karena tidak bisa diestimasi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994633"/>
              </p:ext>
            </p:extLst>
          </p:nvPr>
        </p:nvGraphicFramePr>
        <p:xfrm>
          <a:off x="558800" y="1270000"/>
          <a:ext cx="11074400" cy="3779520"/>
        </p:xfrm>
        <a:graphic>
          <a:graphicData uri="http://schemas.openxmlformats.org/drawingml/2006/table">
            <a:tbl>
              <a:tblPr firstRow="1"/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6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Aspek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Keterangan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Masalah data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Indeks harga properti tidak pernah turun dalam sampel (pertumbuhan +0,04% s.d. +1,39% per kuartal), padahal skenario Adverse 2 turun hingga −2,5% per kuartal (total ±6,5% dalam 4 kuartal)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Hasil estimasi sendiri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Koefisien bertanda salah (total +0,18): harga properti turun justru membuat NPL turun. Tidak dipakai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Pendekatan yang dipakai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Elastisitas total −0,429 dari model NPL Prospera (data 2014–2024Q2), dibagi rata ke lag 1–4; di model Prospera sendiri jumlah ini tidak signifikan (p = 0,21)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Cara masuk ke model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statis di atas inti model NPL, sehingga tidak dilipatgandakan oleh persistensi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Contoh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turun 2,5% per kuartal selama 4 kuartal → NPL lebih tinggi ±1,1 pp dibanding harga tidak berubah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Status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Judgment; ditampilkan sebagai asumsi (e_prop = −0,429) dan bisa dimatikan untuk melihat hasil model murni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535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NPL mengikuti pola historis, tetapi cenderung terlalu tinggi</a:t>
            </a:r>
            <a:endParaRPr lang="id-ID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69A3EC-8EF2-CBF1-ED35-534D60B34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219200"/>
            <a:ext cx="5384800" cy="3230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2BA608-CE3C-B854-ED93-9487584D1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19200"/>
            <a:ext cx="5384800" cy="3230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2018D5-5A0A-47E6-2A99-EDDA2FF42BD1}"/>
              </a:ext>
            </a:extLst>
          </p:cNvPr>
          <p:cNvSpPr txBox="1"/>
          <p:nvPr/>
        </p:nvSpPr>
        <p:spPr>
          <a:xfrm>
            <a:off x="558800" y="4572000"/>
            <a:ext cx="53848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Kiri: fitted vs aktual (in-sample, tertimbang kredit)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85AEE-0296-6CCD-23A6-F1697D6B975A}"/>
              </a:ext>
            </a:extLst>
          </p:cNvPr>
          <p:cNvSpPr txBox="1"/>
          <p:nvPr/>
        </p:nvSpPr>
        <p:spPr>
          <a:xfrm>
            <a:off x="6172200" y="4572000"/>
            <a:ext cx="53848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D" sz="1100">
                <a:solidFill>
                  <a:srgbClr val="262626"/>
                </a:solidFill>
                <a:latin typeface="Arial" panose="020B0604020202020204" pitchFamily="34" charset="0"/>
              </a:rPr>
              <a:t>Kanan: estimasi s.d. 2024Q2, forecast 8 kuartal dengan makro aktual</a:t>
            </a:r>
          </a:p>
        </p:txBody>
      </p:sp>
      <p:cxnSp>
        <p:nvCxnSpPr>
          <p:cNvPr id="400" name="Tile Rule"/>
          <p:cNvCxnSpPr/>
          <p:nvPr/>
        </p:nvCxnSpPr>
        <p:spPr>
          <a:xfrm>
            <a:off x="558800" y="50292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1" name="Tile"/>
          <p:cNvSpPr txBox="1"/>
          <p:nvPr/>
        </p:nvSpPr>
        <p:spPr>
          <a:xfrm>
            <a:off x="558800" y="51054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0,30 pp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Rata-rata selisih back-test 8 kuartal (maks. 0,39 pp)</a:t>
            </a:r>
          </a:p>
        </p:txBody>
      </p:sp>
      <p:cxnSp>
        <p:nvCxnSpPr>
          <p:cNvPr id="402" name="Tile Rule"/>
          <p:cNvCxnSpPr/>
          <p:nvPr/>
        </p:nvCxnSpPr>
        <p:spPr>
          <a:xfrm>
            <a:off x="3378200" y="50292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3" name="Tile"/>
          <p:cNvSpPr txBox="1"/>
          <p:nvPr/>
        </p:nvSpPr>
        <p:spPr>
          <a:xfrm>
            <a:off x="3378200" y="51054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±2,45%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NPL prediksi 2026Q2 vs aktual ±2,1%: model bias ke atas</a:t>
            </a:r>
          </a:p>
        </p:txBody>
      </p:sp>
      <p:cxnSp>
        <p:nvCxnSpPr>
          <p:cNvPr id="404" name="Tile Rule"/>
          <p:cNvCxnSpPr/>
          <p:nvPr/>
        </p:nvCxnSpPr>
        <p:spPr>
          <a:xfrm>
            <a:off x="6197600" y="5029200"/>
            <a:ext cx="2616200" cy="0"/>
          </a:xfrm>
          <a:prstGeom prst="line">
            <a:avLst/>
          </a:prstGeom>
          <a:ln w="19050">
            <a:solidFill>
              <a:srgbClr val="A5644E"/>
            </a:solidFill>
          </a:ln>
        </p:spPr>
      </p:cxnSp>
      <p:sp>
        <p:nvSpPr>
          <p:cNvPr id="405" name="Tile"/>
          <p:cNvSpPr txBox="1"/>
          <p:nvPr/>
        </p:nvSpPr>
        <p:spPr>
          <a:xfrm>
            <a:off x="6197600" y="51054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A5644E"/>
                </a:solidFill>
                <a:latin typeface="Arial"/>
                <a:cs typeface="Arial"/>
              </a:rPr>
              <a:t>±0,15 pp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Kenaikan NPL baseline yang berasal dari reversi ke rata-rata jangka panjang</a:t>
            </a:r>
          </a:p>
        </p:txBody>
      </p:sp>
      <p:cxnSp>
        <p:nvCxnSpPr>
          <p:cNvPr id="406" name="Tile Rule"/>
          <p:cNvCxnSpPr/>
          <p:nvPr/>
        </p:nvCxnSpPr>
        <p:spPr>
          <a:xfrm>
            <a:off x="9017000" y="5029200"/>
            <a:ext cx="2616200" cy="0"/>
          </a:xfrm>
          <a:prstGeom prst="line">
            <a:avLst/>
          </a:prstGeom>
          <a:ln w="19050">
            <a:solidFill>
              <a:srgbClr val="BFBFBF"/>
            </a:solidFill>
          </a:ln>
        </p:spPr>
      </p:cxnSp>
      <p:sp>
        <p:nvSpPr>
          <p:cNvPr id="407" name="Tile"/>
          <p:cNvSpPr txBox="1"/>
          <p:nvPr/>
        </p:nvSpPr>
        <p:spPr>
          <a:xfrm>
            <a:off x="9017000" y="5105400"/>
            <a:ext cx="26162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 lang="id-ID" sz="2400" b="1" dirty="0">
                <a:solidFill>
                  <a:srgbClr val="7F7F7F"/>
                </a:solidFill>
                <a:latin typeface="Arial"/>
                <a:cs typeface="Arial"/>
              </a:rPr>
              <a:t>±0,08 pp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id-ID" sz="1150" dirty="0">
                <a:solidFill>
                  <a:srgbClr val="262626"/>
                </a:solidFill>
                <a:latin typeface="Arial"/>
                <a:cs typeface="Arial"/>
              </a:rPr>
              <a:t>Selisih model logit alternatif, tetapi kurang responsif terhadap stres</a:t>
            </a:r>
          </a:p>
        </p:txBody>
      </p:sp>
    </p:spTree>
    <p:extLst>
      <p:ext uri="{BB962C8B-B14F-4D97-AF65-F5344CB8AC3E}">
        <p14:creationId xmlns:p14="http://schemas.microsoft.com/office/powerpoint/2010/main" val="1800174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Model provisi: provisi naik ±0,31% kredit untuk setiap kenaikan NPL 1 pp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405371"/>
              </p:ext>
            </p:extLst>
          </p:nvPr>
        </p:nvGraphicFramePr>
        <p:xfrm>
          <a:off x="558800" y="1270000"/>
          <a:ext cx="6197600" cy="1676400"/>
        </p:xfrm>
        <a:graphic>
          <a:graphicData uri="http://schemas.openxmlformats.org/drawingml/2006/table">
            <a:tbl>
              <a:tblPr firstRow="1"/>
              <a:tblGrid>
                <a:gridCol w="17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4255351605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385085912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Variabel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Koef.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IK 95%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(t)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0,188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1,69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0,098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[−0,036; 0,412]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(t−1)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0,118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0,126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0,94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0,354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[−0,135; 0,371]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Total (t + t−1)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0,306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0,148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2,07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0,044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[0,008; 0,604]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Konstanta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0,195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0,034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5,73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[0,127; 0,264]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10210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Persamaan: Provisi(i,t) =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α(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i) + 0,19·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NPL⁺(i,t) + 0,12·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NPL⁺(i,t−1). </a:t>
            </a:r>
            <a:r>
              <a:rPr lang="el-GR" sz="1150">
                <a:solidFill>
                  <a:srgbClr val="000000"/>
                </a:solidFill>
                <a:latin typeface="Arial"/>
                <a:cs typeface="Arial"/>
              </a:rPr>
              <a:t>Δ</a:t>
            </a: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NPL⁺ = kenaikan NPL (penurunan dihitung nol); lonjakan ≥ 5 pp (kesalahan data) dikeluarkan. Respons total signifikan pada 5%. R² sangat rendah karena provisi bank naik-turun tajam antarkuartal, sehingga model ini hanya dipakai untuk respons; level provisi memakai rata-rata 8 kuartal terakhir tiap bank.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3" name="Table 201">
            <a:extLst>
              <a:ext uri="{FF2B5EF4-FFF2-40B4-BE49-F238E27FC236}">
                <a16:creationId xmlns:a16="http://schemas.microsoft.com/office/drawing/2014/main" id="{805AD403-1BC0-0626-B1ED-BC63C456F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487229"/>
              </p:ext>
            </p:extLst>
          </p:nvPr>
        </p:nvGraphicFramePr>
        <p:xfrm>
          <a:off x="7010400" y="1270000"/>
          <a:ext cx="3606800" cy="27051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Statistik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Dependen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 ÷ kredit (%/kuartal)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Observasi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1.381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Jumlah bank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45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Periode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2016Q4–2026Q2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within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0,009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overall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0,010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Standar error</a:t>
                      </a:r>
                      <a:endParaRPr lang="id-ID" sz="11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1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Clustered per bank</a:t>
                      </a:r>
                      <a:endParaRPr lang="id-ID" sz="11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1841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2515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Overlay stres: dasar kalibrasi dan seberapa besar pengaruhnya ke hasil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8100"/>
              </p:ext>
            </p:extLst>
          </p:nvPr>
        </p:nvGraphicFramePr>
        <p:xfrm>
          <a:off x="558800" y="1270000"/>
          <a:ext cx="11074400" cy="4328160"/>
        </p:xfrm>
        <a:graphic>
          <a:graphicData uri="http://schemas.openxmlformats.org/drawingml/2006/table">
            <a:tbl>
              <a:tblPr firstRow="1"/>
              <a:tblGrid>
                <a:gridCol w="292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5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Aspek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Keterangan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Mengapa perlu overlay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provisi hanya bereaksi terhadap kenaikan NPL yang kecil; tanpa overlay, credit loss Adverse 2 hampir sama dengan baseline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 = 0,05 per pp gap GDP per % NPL, per kuartal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Kalibrasi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Dipilih supaya credit loss Adverse 2 mendekati puncak provisi 4 kuartal era COVID (±10,5–11,5% modal)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Bukti dari data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Regresi provisi industri terhadap gap GDP × NPL memberi k ≈ 0,02 (episode COVID: 0,013–0,02)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Mengapa tetap 0,05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Restrukturisasi COVID menahan pencadangan saat itu, sehingga estimasi data kemungkinan terlalu rendah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Kontribusi ke hasil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59% credit loss Adverse 2 (7,9 dari 13,6% modal) dan 40% credit loss Adverse 1 (3,4 dari 8,5%)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Sensitivitas credit loss Adverse 2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 = 0 → ±5,6% modal; k = 0,02 → ±8,8% modal; k = 0,05 → 13,6% modal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452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96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C3AE-9C2B-F42A-3990-41BC02B5C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Mengapa koefisien yang tidak signifikan tetap dipakai</a:t>
            </a:r>
            <a:endParaRPr lang="id-ID" sz="2000" dirty="0"/>
          </a:p>
        </p:txBody>
      </p:sp>
      <p:cxnSp>
        <p:nvCxnSpPr>
          <p:cNvPr id="200" name="Line 201"/>
          <p:cNvCxnSpPr/>
          <p:nvPr/>
        </p:nvCxnSpPr>
        <p:spPr>
          <a:xfrm>
            <a:off x="558800" y="12446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1" name="Text 202"/>
          <p:cNvSpPr txBox="1"/>
          <p:nvPr/>
        </p:nvSpPr>
        <p:spPr>
          <a:xfrm>
            <a:off x="558800" y="13462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202" name="Text 203"/>
          <p:cNvSpPr txBox="1"/>
          <p:nvPr/>
        </p:nvSpPr>
        <p:spPr>
          <a:xfrm>
            <a:off x="1371600" y="13716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Tidak signifikan ≠ tidak berpengaruh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Artinya data tidak cukup untuk mengukur besarnya dengan presisi; arah koefisien GDP tetap sesuai teori (GDP turun → NPL naik).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3" name="Line 204"/>
          <p:cNvCxnSpPr/>
          <p:nvPr/>
        </p:nvCxnSpPr>
        <p:spPr>
          <a:xfrm>
            <a:off x="558800" y="22352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4" name="Text 205"/>
          <p:cNvSpPr txBox="1"/>
          <p:nvPr/>
        </p:nvSpPr>
        <p:spPr>
          <a:xfrm>
            <a:off x="558800" y="23368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05" name="Text 206"/>
          <p:cNvSpPr txBox="1"/>
          <p:nvPr/>
        </p:nvSpPr>
        <p:spPr>
          <a:xfrm>
            <a:off x="1371600" y="23622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Data historis hampir tanpa krisis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GDP stabil ±5%, restrukturisasi COVID menahan NPL, dan harga properti tidak pernah turun; data tidak informatif untuk skenario berat.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6" name="Line 207"/>
          <p:cNvCxnSpPr/>
          <p:nvPr/>
        </p:nvCxnSpPr>
        <p:spPr>
          <a:xfrm>
            <a:off x="558800" y="32258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07" name="Text 208"/>
          <p:cNvSpPr txBox="1"/>
          <p:nvPr/>
        </p:nvSpPr>
        <p:spPr>
          <a:xfrm>
            <a:off x="558800" y="33274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08" name="Text 209"/>
          <p:cNvSpPr txBox="1"/>
          <p:nvPr/>
        </p:nvSpPr>
        <p:spPr>
          <a:xfrm>
            <a:off x="1371600" y="33528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Membuang variabel justru lebih buruk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NPL akan kebal terhadap skenario seberat apa pun dan risiko diremehkan; regulator lazim memakai judgment bila data tidak cukup.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09" name="Line 210"/>
          <p:cNvCxnSpPr/>
          <p:nvPr/>
        </p:nvCxnSpPr>
        <p:spPr>
          <a:xfrm>
            <a:off x="558800" y="42164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0" name="Text 211"/>
          <p:cNvSpPr txBox="1"/>
          <p:nvPr/>
        </p:nvSpPr>
        <p:spPr>
          <a:xfrm>
            <a:off x="558800" y="4318000"/>
            <a:ext cx="711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A5644E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11" name="Text 212"/>
          <p:cNvSpPr txBox="1"/>
          <p:nvPr/>
        </p:nvSpPr>
        <p:spPr>
          <a:xfrm>
            <a:off x="1371600" y="4343400"/>
            <a:ext cx="10261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500" b="1">
                <a:solidFill>
                  <a:srgbClr val="000000"/>
                </a:solidFill>
                <a:latin typeface="Arial"/>
                <a:cs typeface="Arial"/>
              </a:rPr>
              <a:t>Kesimpulan utama tidak bergantung padanya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>
                <a:solidFill>
                  <a:srgbClr val="262626"/>
                </a:solidFill>
                <a:latin typeface="Arial"/>
                <a:cs typeface="Arial"/>
              </a:rPr>
              <a:t>Tanpa komponen properti, CAR industri Adverse 2 tetap 21,3%; dua bank gagal karena kerugian surat berharga, bukan karena model NPL.</a:t>
            </a:r>
            <a:endParaRPr lang="id-ID" sz="1300" dirty="0">
              <a:solidFill>
                <a:srgbClr val="262626"/>
              </a:solidFill>
              <a:latin typeface="Arial"/>
              <a:cs typeface="Arial"/>
            </a:endParaRPr>
          </a:p>
        </p:txBody>
      </p:sp>
      <p:cxnSp>
        <p:nvCxnSpPr>
          <p:cNvPr id="212" name="Line 213"/>
          <p:cNvCxnSpPr/>
          <p:nvPr/>
        </p:nvCxnSpPr>
        <p:spPr>
          <a:xfrm>
            <a:off x="558800" y="5207000"/>
            <a:ext cx="1107440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13" name="Text 214"/>
          <p:cNvSpPr/>
          <p:nvPr/>
        </p:nvSpPr>
        <p:spPr>
          <a:xfrm>
            <a:off x="558800" y="5384800"/>
            <a:ext cx="11074400" cy="508000"/>
          </a:xfrm>
          <a:prstGeom prst="rect">
            <a:avLst/>
          </a:prstGeom>
          <a:solidFill>
            <a:srgbClr val="F3E9E3"/>
          </a:solidFill>
          <a:ln>
            <a:noFill/>
          </a:ln>
        </p:spPr>
        <p:txBody>
          <a:bodyPr wrap="square" lIns="152400" tIns="45720" rIns="15240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300" b="1">
                <a:solidFill>
                  <a:srgbClr val="000000"/>
                </a:solidFill>
                <a:latin typeface="Arial"/>
                <a:cs typeface="Arial"/>
              </a:rPr>
              <a:t>R² model provisi yang rendah (0,01) wajar:</a:t>
            </a:r>
            <a:r>
              <a:rPr lang="id-ID" sz="1300">
                <a:solidFill>
                  <a:srgbClr val="000000"/>
                </a:solidFill>
                <a:latin typeface="Arial"/>
                <a:cs typeface="Arial"/>
              </a:rPr>
              <a:t> provisi bank sangat fluktuatif antarkuartal. Model ini hanya dipakai untuk respons terhadap kenaikan NPL; level provisi memakai rata-rata 8 kuartal terakhir tiap bank.</a:t>
            </a:r>
            <a:endParaRPr lang="id-ID" sz="13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1130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Perbandingan dengan model Prospera: keterbatasan data yang sama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21318"/>
              </p:ext>
            </p:extLst>
          </p:nvPr>
        </p:nvGraphicFramePr>
        <p:xfrm>
          <a:off x="558800" y="1270000"/>
          <a:ext cx="11074400" cy="4457697"/>
        </p:xfrm>
        <a:graphic>
          <a:graphicData uri="http://schemas.openxmlformats.org/drawingml/2006/table">
            <a:tbl>
              <a:tblPr firstRow="1"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6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Aspek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kita (v3)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Prospera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Spesifikasi NPL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Dinamis: NPL t−1, GDP dan BI rate lag 1–4,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Statis: GDP, BI rate, harga properti lag 1–4,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 within model NPL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0,48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Uji F seluruh model NPL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&lt; 0,001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0,09 (tidak signifikan)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Koefisien NPL yang signifikan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Persistensi NPL (1 dari 9)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Hanya harga properti lag 3 (1 dari 12)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GDP, uji gabungan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0,61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0,61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BI rate, uji gabungan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0,89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 = 0,75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t-IT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Judgment: −0,429 (diambil dari Prospera)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Jumlah koefisien −0,429, p = 0,21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7020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provisi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pt-B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Respons total 0,31 (p = 0,04); R² 0,01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sv-SE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t−2 signifikan tetapi tandanya salah; R² 0,02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186008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5854697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Kedua model sama-sama tidak menemukan efek makro langsung yang signifikan: ini keterbatasan data historis, bukan pilihan spesifikasi. Model kita menjelaskan pergerakan NPL jauh lebih baik karena memasukkan persistensi NPL.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6218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sz="2000"/>
              <a:t>Ringkasan satellite model dan komponen judgment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210865"/>
              </p:ext>
            </p:extLst>
          </p:nvPr>
        </p:nvGraphicFramePr>
        <p:xfrm>
          <a:off x="558800" y="1270000"/>
          <a:ext cx="11074400" cy="268224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04068026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45973681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Dependen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Prediktor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Metode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R²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Peran di hasil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Model NPL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t−1; GDP dan BI rate lag 1–4;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Panel FE, SE clustered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0,48 (within)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Jalur NPL; input provisi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Komponen properti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NPL (%)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l-GR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Δ </a:t>
                      </a: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harga properti lag 1–4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 (Prospera)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b-NO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+0,25 / +0,51 pp NPL (Adv 1 / Adv 2)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Respons provisi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Provisi/kredit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nl-NL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Kenaikan NPL t dan t−1; fixed effect bank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Panel FE, SE clustered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0,01 (within)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fi-FI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Tambahan provisi saat NPL naik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Overlay stres</a:t>
                      </a:r>
                      <a:endParaRPr lang="id-ID" sz="1200" b="1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Provisi/kredit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Gap GDP × NPL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Judgment (kalibrasi)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–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59% credit loss Adverse 2</a:t>
                      </a:r>
                      <a:endParaRPr lang="id-ID" sz="1200" b="0" dirty="0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1" name="Text 202"/>
          <p:cNvSpPr txBox="1"/>
          <p:nvPr/>
        </p:nvSpPr>
        <p:spPr>
          <a:xfrm>
            <a:off x="558800" y="4079240"/>
            <a:ext cx="11074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id-ID" sz="1150">
                <a:solidFill>
                  <a:srgbClr val="000000"/>
                </a:solidFill>
                <a:latin typeface="Arial"/>
                <a:cs typeface="Arial"/>
              </a:rPr>
              <a:t>Dua persamaan diestimasi dari data 45 bank; dua komponen judgment ditambahkan karena data historis tidak cukup memberi sensitivitas terhadap skenario berat. Keduanya bisa diubah di do-file atau di sheet Parameters.</a:t>
            </a:r>
            <a:endParaRPr lang="id-ID" sz="115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4926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72C5-C8E4-379A-1B5C-708A4797A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/>
              <a:t>Perbaikan v2 → v3: tiga dari 15 perbaikan mengubah hasil, terutama market loss</a:t>
            </a:r>
            <a:endParaRPr lang="id-ID" sz="2000" dirty="0"/>
          </a:p>
        </p:txBody>
      </p:sp>
      <p:graphicFrame>
        <p:nvGraphicFramePr>
          <p:cNvPr id="200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551820"/>
              </p:ext>
            </p:extLst>
          </p:nvPr>
        </p:nvGraphicFramePr>
        <p:xfrm>
          <a:off x="558800" y="1270000"/>
          <a:ext cx="11074400" cy="4368800"/>
        </p:xfrm>
        <a:graphic>
          <a:graphicData uri="http://schemas.openxmlformats.org/drawingml/2006/table">
            <a:tbl>
              <a:tblPr firstRow="1"/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0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v2 (arsip)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v3 (resmi)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Dampak ke hasil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Rasio awal bank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Rata-rata 2014–2026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Posisi kuartal terakhir (stok) atau 4 kuartal terakhir (arus)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Laba v2 terlalu tinggi; CAR baseline turun 0,3 pp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Data surat berharga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Dibatasi 100% kredit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Nilai &gt; total aset (salah skala Bloomberg) diganti median KBMI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Market loss Adverse 2 turun dari 6,4% ke 3,2% modal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Kriteria gagal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&lt; 8% hanya di kuartal terakhir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CAR &lt; 8% di kuartal mana pun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gagal Adverse 2: dari 1 menjadi 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3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Transmisi BI rate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Perubahan tahunan langsung ke bunga kuartalan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Perubahan ÷ 4 per kuartal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Repricing tidak lagi 4 kali terlalu besar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Pertumbuhan RWA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nominal baseline di semua skenario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GDP nominal tiap skenario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RWA adverse tidak lagi tumbuh seperti baseline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Perlakuan MTM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Semua rugi lewat laba (kena pajak)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FVTPL lewat laba; FVOCI lewat OCI langsung ke modal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Sesuai standar akuntansi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Angka industri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Rata-rata sederhana rasio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Rasio agregat (Σ jumlah ÷ Σ basis)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id-ID" sz="1250" b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Bank kecil tidak lagi berbobot sama dengan BRI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20" name="Footnote"/>
          <p:cNvSpPr txBox="1"/>
          <p:nvPr/>
        </p:nvSpPr>
        <p:spPr>
          <a:xfrm>
            <a:off x="558800" y="5969000"/>
            <a:ext cx="11074400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id-ID" sz="1150" dirty="0">
                <a:solidFill>
                  <a:srgbClr val="000000"/>
                </a:solidFill>
                <a:latin typeface="Arial"/>
                <a:cs typeface="Arial"/>
              </a:rPr>
              <a:t>Perbaikan lain: path folder, nama variabel, merge m:1, pertumbuhan kuartalan eksak, SE clustered dan batas bawah NPL 0, laba historis aktual di grafik, xtset setelah tsappend. Sumber: CHANGELOG.md (v2 → v3).</a:t>
            </a:r>
          </a:p>
        </p:txBody>
      </p:sp>
    </p:spTree>
    <p:extLst>
      <p:ext uri="{BB962C8B-B14F-4D97-AF65-F5344CB8AC3E}">
        <p14:creationId xmlns:p14="http://schemas.microsoft.com/office/powerpoint/2010/main" val="956929420"/>
      </p:ext>
    </p:extLst>
  </p:cSld>
  <p:clrMapOvr>
    <a:masterClrMapping/>
  </p:clrMapOvr>
</p:sld>
</file>

<file path=ppt/theme/theme1.xml><?xml version="1.0" encoding="utf-8"?>
<a:theme xmlns:a="http://schemas.openxmlformats.org/drawingml/2006/main" name="4_D2 Marves_Neww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2 Marves_Neww" id="{CF5C51F7-01E3-1843-B95E-A88F43F3C614}" vid="{1FC0152F-43D8-474F-AC19-D2321C15A74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822936-2FBA-4AED-B054-163529BB535A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b62713f8-fbef-4e9c-97c0-f4706022a32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1599</TotalTime>
  <Words>5408</Words>
  <Application>Microsoft Office PowerPoint</Application>
  <PresentationFormat>Widescreen</PresentationFormat>
  <Paragraphs>908</Paragraphs>
  <Slides>40</Slides>
  <Notes>0</Notes>
  <HiddenSlides>13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Arial Nova</vt:lpstr>
      <vt:lpstr>Calibri</vt:lpstr>
      <vt:lpstr>Calibri Light</vt:lpstr>
      <vt:lpstr>4_D2 Marves_Neww</vt:lpstr>
      <vt:lpstr>Stress Test Solvabilitas Perbankan Kerangka, Asumsi, Model, dan Hasil</vt:lpstr>
      <vt:lpstr>Agenda</vt:lpstr>
      <vt:lpstr>PowerPoint Presentation</vt:lpstr>
      <vt:lpstr>Tiga kanal risiko bertemu di laba, lalu CAR bergerak dari sisi modal dan RWA</vt:lpstr>
      <vt:lpstr>PowerPoint Presentation</vt:lpstr>
      <vt:lpstr>Skenario makro: baseline ditambah shock berbasis standar deviasi historis</vt:lpstr>
      <vt:lpstr>Adverse 2 menekan PDB ke 0,7% dan mendorong yield SBN ke 9,45%; Adverse 1 separuhnya</vt:lpstr>
      <vt:lpstr>Parameter lain: sebagian dari data, dua di antaranya judgment</vt:lpstr>
      <vt:lpstr>PowerPoint Presentation</vt:lpstr>
      <vt:lpstr>Peta transmisi: bagaimana tiap variabel makro sampai ke laba dan CAR</vt:lpstr>
      <vt:lpstr>Kanal kredit (1): bagaimana NPL bergerak di proyeksi</vt:lpstr>
      <vt:lpstr>Kenaikan NPL di skenario adverse terutama berasal dari komponen harga properti</vt:lpstr>
      <vt:lpstr>Kanal kredit (2): provisi = biaya kredit normal + respons NPL + overlay stres</vt:lpstr>
      <vt:lpstr>Kanal pasar: kenaikan yield SBN menurunkan nilai surat berharga</vt:lpstr>
      <vt:lpstr>PowerPoint Presentation</vt:lpstr>
      <vt:lpstr>Komponen lain dihitung dengan rule dan identitas akuntansi, bukan regresi</vt:lpstr>
      <vt:lpstr>Jembatan CAR: provisi dan surat berharga yang membedakan hasil antarskenario</vt:lpstr>
      <vt:lpstr>PowerPoint Presentation</vt:lpstr>
      <vt:lpstr>CAR industri tetap jauh di atas 8% di semua skenario</vt:lpstr>
      <vt:lpstr>CAR turun bertahap; NPL naik paling tajam di Adverse 2 saat koreksi properti berjalan</vt:lpstr>
      <vt:lpstr>Kerugian didominasi risiko kredit; laba industri tetap positif di semua skenario</vt:lpstr>
      <vt:lpstr>KBMI 2 paling tertekan: merugi dan CAR turun ke 16,2% di Adverse 2</vt:lpstr>
      <vt:lpstr>Himbara lebih tahan: laba besar menyerap credit loss yang lebih tinggi</vt:lpstr>
      <vt:lpstr>Dua bank gagal di Adverse 2, keduanya karena kerugian surat berharga</vt:lpstr>
      <vt:lpstr>Kesimpulan bertahan di empat varian model: CAR Adverse 2 tetap 21–22%, 1–3 bank gagal</vt:lpstr>
      <vt:lpstr>Kesimpulan dan tindak lanjut</vt:lpstr>
      <vt:lpstr>PowerPoint Presentation</vt:lpstr>
      <vt:lpstr>PowerPoint Presentation</vt:lpstr>
      <vt:lpstr>Satellite model menerjemahkan skenario makro menjadi risiko kredit bank</vt:lpstr>
      <vt:lpstr>Model NPL: spesifikasi dan definisi variabel</vt:lpstr>
      <vt:lpstr>Model NPL: hasil regresi lengkap</vt:lpstr>
      <vt:lpstr>Cara membaca hasil model NPL</vt:lpstr>
      <vt:lpstr>Komponen harga properti diambil dari Prospera karena tidak bisa diestimasi</vt:lpstr>
      <vt:lpstr>Model NPL mengikuti pola historis, tetapi cenderung terlalu tinggi</vt:lpstr>
      <vt:lpstr>Model provisi: provisi naik ±0,31% kredit untuk setiap kenaikan NPL 1 pp</vt:lpstr>
      <vt:lpstr>Overlay stres: dasar kalibrasi dan seberapa besar pengaruhnya ke hasil</vt:lpstr>
      <vt:lpstr>Mengapa koefisien yang tidak signifikan tetap dipakai</vt:lpstr>
      <vt:lpstr>Perbandingan dengan model Prospera: keterbatasan data yang sama</vt:lpstr>
      <vt:lpstr>Ringkasan satellite model dan komponen judgment</vt:lpstr>
      <vt:lpstr>Perbaikan v2 → v3: tiga dari 15 perbaikan mengubah hasil, terutama market loss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Kurniawati Yuli Ashari</dc:creator>
  <cp:lastModifiedBy>Muhamad Haikal</cp:lastModifiedBy>
  <cp:revision>13</cp:revision>
  <dcterms:created xsi:type="dcterms:W3CDTF">2026-10-01T00:21:08Z</dcterms:created>
  <dcterms:modified xsi:type="dcterms:W3CDTF">2026-10-13T14:25:29Z</dcterms:modified>
</cp:coreProperties>
</file>